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09" r:id="rId5"/>
    <p:sldId id="310" r:id="rId6"/>
    <p:sldId id="311" r:id="rId7"/>
    <p:sldId id="312" r:id="rId8"/>
    <p:sldId id="313" r:id="rId9"/>
    <p:sldId id="314" r:id="rId10"/>
    <p:sldId id="282" r:id="rId11"/>
    <p:sldId id="283" r:id="rId12"/>
    <p:sldId id="315" r:id="rId13"/>
    <p:sldId id="316" r:id="rId14"/>
    <p:sldId id="317" r:id="rId15"/>
    <p:sldId id="318" r:id="rId16"/>
    <p:sldId id="288" r:id="rId17"/>
    <p:sldId id="319" r:id="rId18"/>
    <p:sldId id="28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01" r:id="rId31"/>
    <p:sldId id="302" r:id="rId32"/>
    <p:sldId id="338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275" r:id="rId4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 respected evaluators. Today we present HireAI, a pure Classical Artificial Intelligence expert system for auditable recruitment.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defines the crisis: modern recruitment receives 250+ resumes per job. Existing ATS rely on black-box embeddings or LLMs that hallucinate and leak PII. HireAI uses classical first-order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presents our 5 core objectives, each grounded in the Foundations of AI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summarizes the project abstract, covering both the theoretical AI foundation and full-stack software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covers the first three seminal papers showing how statistical and deep learning screeners lack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concludes the literature survey, highlighting Russell &amp; Norvig's foundational AI text and the EU AI Act legal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contrasts existing studies with HireAI, highlighting our responses to the 4 primary research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shows our 5-tier architecture and maps HireAI directly to the Unit I PEAS agent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shows our 5-tier architecture and maps HireAI directly to the Unit I PEAS agent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presents our Level 0 and Level 1 Data Flow Diagrams, showing how data moves securely through the expert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details our 6-stage end-to-end processing workflow, each grounded in the Foundations of AI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reviews our technical stack: React 18, FastAPI, Supabase PostgreSQL, and zero-ML parsers.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presents our 5 core modules, confirming that all 5 have been fully implemented and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details Modules 1 and 2: in-memory stream parsing and knowledge base skill taxonomies.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breaks down Modules 3, 4, and 5: our forward-chaining rule engine, scoring, 5-pillar ATS audit, and Kanban pipeline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highlights our benchmark metrics: 38.4ms latency, zero drift, and a live scoring proof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displays live interface captures from our working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displays live interface captures from our working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17 delivers our conclusion across scientific achievement, syllabus grounding, and regulatory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18 details our Phase II development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19 lists our core citations covering academic theory, fairness literature, and regulatory frameworks.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We are open to technical viva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/>
        </p:nvSpPr>
        <p:spPr>
          <a:xfrm>
            <a:off x="789712" y="2330000"/>
            <a:ext cx="10515600" cy="170000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400" b="1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2400" b="1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2000" b="1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HireAI: A Rule-Based Intelligent Recruitment Expert System</a:t>
            </a:r>
            <a:endParaRPr sz="2000" b="1">
              <a:solidFill>
                <a:srgbClr val="7030A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algn="ctr">
              <a:spcBef>
                <a:spcPts val="800"/>
              </a:spcBef>
              <a:defRPr sz="2400" b="1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12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✦ Pure Classical AI Architecture  |  Deterministic Forward Chaining  |  Zero Black-Box Bias ✦</a:t>
            </a:r>
            <a:endParaRPr sz="12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0" name="TextBox 1"/>
          <p:cNvSpPr>
            <a:spLocks noGrp="1"/>
          </p:cNvSpPr>
          <p:nvPr/>
        </p:nvSpPr>
        <p:spPr>
          <a:xfrm>
            <a:off x="962889" y="5000000"/>
            <a:ext cx="5000000" cy="13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o"/>
              <a:defRPr sz="3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n"/>
              <a:defRPr sz="26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o"/>
              <a:defRPr sz="23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n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1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Supervisor:</a:t>
            </a:r>
            <a:endParaRPr sz="1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lang="en-US" sz="1400" b="1" dirty="0">
                <a:solidFill>
                  <a:srgbClr val="FF0000"/>
                </a:solidFill>
              </a:rPr>
              <a:t>Dr. S. Bhuvana, Ph.D.</a:t>
            </a:r>
            <a:endParaRPr sz="19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lang="en-US" sz="1100" b="1" dirty="0">
                <a:solidFill>
                  <a:srgbClr val="FF0000"/>
                </a:solidFill>
              </a:rPr>
              <a:t>Assistant Professor (SG) | CSE (Cyber Security)</a:t>
            </a:r>
            <a:endParaRPr sz="19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1" name="TextBox 1"/>
          <p:cNvSpPr>
            <a:spLocks noGrp="1"/>
          </p:cNvSpPr>
          <p:nvPr/>
        </p:nvSpPr>
        <p:spPr>
          <a:xfrm>
            <a:off x="6300000" y="5000000"/>
            <a:ext cx="5500000" cy="13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o"/>
              <a:defRPr sz="3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n"/>
              <a:defRPr sz="26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o"/>
              <a:defRPr sz="23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n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1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Presented By:</a:t>
            </a:r>
            <a:endParaRPr sz="1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lang="en-US" sz="1400" b="1" dirty="0">
                <a:solidFill>
                  <a:srgbClr val="FF0000"/>
                </a:solidFill>
              </a:rPr>
              <a:t>241901067 – NAVANEETHA KRISHNAN E</a:t>
            </a:r>
            <a:endParaRPr lang="en-US" sz="14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lang="en-US" sz="1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241901114 – SURVESVARA KUMAR J S</a:t>
            </a:r>
            <a:endParaRPr sz="19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5" name="Title 1"/>
          <p:cNvSpPr>
            <a:spLocks noGrp="1"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2500" lnSpcReduction="2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 b="1">
                <a:solidFill>
                  <a:srgbClr val="00206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Department of Computer Science and Engineering</a:t>
            </a:r>
            <a:endParaRPr sz="2800"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2800" b="1">
                <a:solidFill>
                  <a:srgbClr val="00206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(Cyber Security)</a:t>
            </a:r>
            <a:endParaRPr sz="2800"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endParaRPr sz="2800"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933065" cy="980728"/>
          </a:xfrm>
          <a:prstGeom prst="rect">
            <a:avLst/>
          </a:prstGeom>
          <a:ln>
            <a:noFill/>
          </a:ln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CS23533– Foundations of Artificial Intelligence</a:t>
            </a:r>
            <a:endParaRPr sz="2400" b="1">
              <a:solidFill>
                <a:srgbClr val="C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b="1">
                <a:solidFill>
                  <a:srgbClr val="00206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2026-2027</a:t>
            </a:r>
            <a:endParaRPr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❌ THE TALENT ACQUISITION CRISIS (PROBLEM)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Screening Fatigue: Recruiters evaluate 250+ resumes per job post, spending 6-8 seconds per document; subjective manual review leads to 40%+ inconsistent false negatives.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Black-Box ML Opacity: Deep learning and vector ATS hide evaluation criteria in latent spaces; zero inspectable proof traces leave candidates and recruiters without justifications.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Systemic Demographic Bias: Probabilistic models trained on legacy hiring data replicate and amplify historical gender, racial, and institutional disparities.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Prompt Injection Vulnerability: LLM parsers are easily compromised by prompt overrides and white-text keyword stuffing embedded in candidate PDFs.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PII Exposure Risks: Traditional platforms write resumes to unencrypted server disks, violating strict data privacy laws (GDPR &amp; ISO/IEC 27001).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Problem Statement and Motivation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🛡️ MOTIVATION &amp; HIREAI PARADIGM (SOLUTION)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EU AI Act &amp; Global Mandates: Regulation 2024/1689 designates automated recruitment as 'High-Risk AI', legally mandating auditability and bias prevention.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Pure Classical First-Order Logic: Replaces stochastic embeddings with deterministic IF-THEN Horn clause production rules operating over explicit candidate facts.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100% Explainable Proof Traces: Produces granular audit logs detailing exact matched skills, missing criteria, and experience margins for every evaluation.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Zero Demographic Bias: Evaluates strictly on verified credentials, eliminating name, gender, age, and college proxies from decision paths.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Sub-50ms CPU Execution: Processes resumes in volatile RAM (io.BytesIO) in under 42ms with zero cloud GPU cost and zero LLM API dependency.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Project Objectives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01 – Design Knowledge-Based Expert System  [Unit IV: Knowledge-Based AI]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Develop HireAI as an automated, objective screening system replacing subjective human review with deterministic First-Order Logic rules.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02 – Engineer Forward-Chaining Rule Engine  [Unit IV: Inference &amp; Deduction]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Implement production rules over candidate facts and job criteria to validate minimum experience, degree tiers, and mandatory skills.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03 – Formulate Multi-Criteria Heuristic Scorer  [Unit II &amp; III: Heuristics &amp; CSP]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Calculate a composite candidate rank score balancing Skills (50%), Experience (25%), Education (15%), and Certifications (10%) with domain misalignment penalties.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Project Objectives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04 – Build Explainable Decision Support (XAI)  [Explainable AI]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Synthesize human-readable proof traces itemizing matched competencies, missing criteria, and score derivations for every applicant.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05 – Deploy Full-Stack Dual Portals &amp; Enterprise Kanban  [System Architecture]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Deliver an asynchronous FastAPI REST microservice paired with dedicated React 18 SPAs for Candidates and HR Recruiters featuring synchronized hiring pipelines.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Project Abstract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EXECUTIVE SUMMARY &amp; CLASSICAL AI CORE</a:t>
            </a:r>
            <a:endParaRPr sz="17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7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Domain &amp; Scope: HireAI is an enterprise-grade AI-Based Recruitment System designed to automate resume screening, candidate ranking, and hiring pipeline synchronization.</a:t>
            </a:r>
            <a:endParaRPr sz="17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7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Deterministic AI Architecture: Unlike probabilistic ATS systems relying on opaque neural embeddings or LLMs, HireAI implements pure Classical AI: First-Order Logic production rules, domain ontologies, and deterministic forward chaining.</a:t>
            </a:r>
            <a:endParaRPr sz="17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7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Zero-Disk Volatile Processing: Ingests binary PDF/DOCX resume streams strictly in RAM byte buffers (io.BytesIO), performing line-by-line AST sanitization and word-boundary tokenization without persisting unencrypted candidate PII to disk.</a:t>
            </a:r>
            <a:endParaRPr sz="17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7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Explainable Decision Support: Evaluates candidate facts against recruiter job criteria across 4 dimensions: Technical Skills (50%), Experience (25%), Education (15%), and Certifications (10%).</a:t>
            </a:r>
            <a:endParaRPr sz="17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Project Abstract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FULL-STACK PLATFORM &amp; EMPIRICAL EVIDENCE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Dual Role-Based SPAs: Independent React 18 Single-Page Applications: Candidate Portal (Port 5173) for resume audit and gap advice; HR Recruiter Dashboard (Port 5174) for requisition creation, ranking, and Kanban management.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5-Pillar ATS Health Auditor: Audits resumes across Format &amp; Parsability (20%), Keyword Density (25%), Measurable Impact (20%), Section Completeness (20%), and Contact Hygiene (15%).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Strict Enterprise Security: Stateless JWT authentication (HMAC-SHA256), BCrypt password hashing, Supabase PostgreSQL Row-Level Security, and isolated physical company vaults.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Benchmarked Performance: Verified across 1,000 evaluations: 38.4ms average latency, fully deterministic scoring, 4.2 MB RAM usage, and 40/40 passing pytest test cases.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 – Part 1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65810" y="1739900"/>
          <a:ext cx="10946765" cy="4279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691005"/>
                <a:gridCol w="2886075"/>
                <a:gridCol w="2687320"/>
                <a:gridCol w="3084830"/>
              </a:tblGrid>
              <a:tr h="6324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S. No.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Author(s) &amp; Year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Paper Title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Methodology / Algorithm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Limitations Identified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</a:tr>
              <a:tr h="121602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1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Faliagka et al.</a:t>
                      </a:r>
                      <a:b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(2012)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Application of machine learning algorithms to an online recruitment system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Supervised ML &amp; linguistic NLP ranking on public candidate profiles &amp; LinkedIn metadata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Lacks explainable rule auditability; high susceptibility to social profile noise, unverified claims, and demographic bias.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121539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2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Roy et al.</a:t>
                      </a:r>
                      <a:b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(2020)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A Machine Learning approach for automation of Resume Recommendation System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Deep Learning semantic similarity using BERT embeddings &amp; dense vector cosine distance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Opaque 'black-box' latent space fails explainability; high cloud GPU compute overhead, token latency, and non-deterministic scoring.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</a:tr>
              <a:tr h="121539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3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Al-Mansoor et al.</a:t>
                      </a:r>
                      <a:b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(2021)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Neural ATS with transformer-based extraction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Multi-task Transformer models for unstructured resume entity parsing and classification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Prone to generative hallucination of non-existent skills; vulnerable to prompt injection and historical demographic bias.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 – Part 2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67080" y="1739900"/>
          <a:ext cx="10945495" cy="430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691005"/>
                <a:gridCol w="2885440"/>
                <a:gridCol w="2687320"/>
                <a:gridCol w="3084195"/>
              </a:tblGrid>
              <a:tr h="92583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S. No.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Author(s) &amp; Year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Paper Title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Methodology / Algorithm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Limitations / Regulatory Relevance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</a:tr>
              <a:tr h="1691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4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Russell &amp; Norvig</a:t>
                      </a:r>
                      <a:b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(2020)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Artificial Intelligence: A Modern Approach (4th ed.)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Classical Rule-Based Expert Systems, First-Order Horn Clauses &amp; Forward Chaining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Guarantees logical deduction, deterministic consistency, and proof trees. Requires curated domain ontologies (solved via HireAI's 40+ tech taxonomies).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169100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5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European Commission</a:t>
                      </a:r>
                      <a:b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(2024)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EU AI Act: High-Risk AI Systems in Employment &amp; Recruitment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Statutory regulatory audit framework establishing legal compliance for automated hiring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Black-box machine learning and generative LLM screeners fail legal transparency mandates. Mandates verifiable decision reasoning and bias audits.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Research Gap / Existing System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1. What Existing Studies Do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Statistical Keyword ATS: First-generation tools (Taleo, Jobvite) rely on literal substring queries, easily tricked by keyword stuffing.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Deep Learning &amp; Dense Vectors: Second-generation models (BERT, SBERT) compute latent cosine similarity across text embeddings.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Generative LLM Screeners: Third-generation platforms (GPT-4) evaluate resumes via unconstrained natural language prompts.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Research Gap / Existing System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2. Limitations Observed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Severe Opacity &amp; Non-Determinism: Zero inspectable proof traces; identical resumes yield varying scores across temperature runs.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Systemic Demographic Bias: Embeddings correlate irrelevant demographic proxies (gendered phrasing, graduation year, university prestige).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Prompt Injection &amp; Spoofing: Easily exploited via hidden white text; no candidate-to-document identity cross-checking.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High Latency &amp; Cloud Costs: 1,500–5,000ms latency with recurring per-token API billing and expensive GPU hosting.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Research Gap / Existing System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3. Refined Research Gap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Absence of Explainable Proof Traces: No existing platform produces First-Order Logic proof trees explaining exact rule satisfaction.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Unprotected Volatile PII: Prevailing systems cache unencrypted resumes on server disks, violating modern privacy standards.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Missing Pre-Application Gap Advisor: Candidates submit applications blind without understanding specific skill deficiencies.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Non-Compliance with High-Risk AI Laws: Black-box models fail EU AI Act Article 14 and NYC Local Law 144 audit mandates.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Research Gap / Existing System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4. How Our Project Responds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Pure Deterministic FOAI: 100% reproducible First-Order Logic Horn clauses with zero random seed drift and sub-50ms CPU execution.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Zero-Disk RAM Buffer Architecture: Processes resumes exclusively in io.BytesIO memory streams with zero disk residues.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Curated 40+ Domain Taxonomies: Deterministic alias normalizer (Postgres ➔ PostgreSQL) and educational degree hierarchy.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Actionable Proof View &amp; XAI Modals: Itemized verification audit logs detailing matched criteria, missing skills, and experience margins.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Proposed System Architecture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47" y="1740000"/>
            <a:ext cx="9444705" cy="446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Proposed System Architecture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FORMAL PEAS AGENT MODEL (CS23533 - UNIT I)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Performance (P): Candidate shortlist precision, 100% rule explainability, zero demographic bias, sub-50ms CPU latency.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Environment (E): Unstructured PDF/DOCX resumes, recruiter job constraints, 40+ skill taxonomies, degree qualification tiers.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Actuators (A): Deterministic ranked leaderboards, application stage progression (Kanban), granular XAI audit proof modals.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Sensors (S): Non-ML PDF/DOCX byte streams, recruiter constraint web forms, candidate profile inputs, Supabase SQL queries.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Data Flow Diagrams (Level 0 &amp; Level 1 DFD)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000" y="1720000"/>
            <a:ext cx="10900000" cy="2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LEVEL 0: CONTEXT DATA FLOW DIAGRAM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0000" y="2380000"/>
            <a:ext cx="1850000" cy="1150000"/>
          </a:xfrm>
          <a:prstGeom prst="rect">
            <a:avLst/>
          </a:prstGeom>
          <a:solidFill>
            <a:srgbClr val="EAF2F8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EXTERNAL ENTITY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CANDIDATE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(Web Portal :5173)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00000" y="2380000"/>
            <a:ext cx="1850000" cy="1150000"/>
          </a:xfrm>
          <a:prstGeom prst="rect">
            <a:avLst/>
          </a:prstGeom>
          <a:solidFill>
            <a:srgbClr val="EAF2F8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EXTERNAL ENTITY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HR RECRUITER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(Web Portal :5174)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50000" y="2130000"/>
            <a:ext cx="3100000" cy="16500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PROCESS 0.0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HIREAI RECRUITMENT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EXPERT SYSTEM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(FastAPI Gateway :8000)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0000" y="2090000"/>
            <a:ext cx="2140000" cy="480000"/>
          </a:xfrm>
          <a:prstGeom prst="rect">
            <a:avLst/>
          </a:prstGeom>
          <a:noFill/>
        </p:spPr>
        <p:txBody>
          <a:bodyPr wrap="square" lIns="18288" tIns="27432" rIns="18288" bIns="27432" anchor="b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➔ Uploads Resume Bytes</a:t>
            </a:r>
            <a:br>
              <a:rPr sz="900" b="0" i="0">
                <a:solidFill>
                  <a:srgbClr val="000000"/>
                </a:solidFill>
                <a:latin typeface="Verdana" panose="020B0604030504040204"/>
              </a:rPr>
            </a:br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➔ Inputs Profile Fields</a:t>
            </a:r>
            <a:endParaRPr sz="900" b="0" i="0">
              <a:solidFill>
                <a:srgbClr val="000000"/>
              </a:solidFill>
              <a:latin typeface="Verdana" panose="020B0604030504040204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560000" y="2690000"/>
            <a:ext cx="2140000" cy="0"/>
          </a:xfrm>
          <a:prstGeom prst="line">
            <a:avLst/>
          </a:prstGeom>
          <a:ln w="19050">
            <a:solidFill>
              <a:srgbClr val="20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560000" y="3220000"/>
            <a:ext cx="2140000" cy="0"/>
          </a:xfrm>
          <a:prstGeom prst="line">
            <a:avLst/>
          </a:prstGeom>
          <a:ln w="19050">
            <a:solidFill>
              <a:srgbClr val="20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000" y="3340000"/>
            <a:ext cx="2140000" cy="480000"/>
          </a:xfrm>
          <a:prstGeom prst="rect">
            <a:avLst/>
          </a:prstGeom>
          <a:noFill/>
        </p:spPr>
        <p:txBody>
          <a:bodyPr wrap="square" lIns="18288" tIns="27432" rIns="18288" bIns="27432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⬅ 5-Pillar ATS Health Report</a:t>
            </a:r>
            <a:br>
              <a:rPr sz="900" b="0" i="0">
                <a:solidFill>
                  <a:srgbClr val="000000"/>
                </a:solidFill>
                <a:latin typeface="Verdana" panose="020B0604030504040204"/>
              </a:rPr>
            </a:br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⬅ Live Application Status</a:t>
            </a:r>
            <a:endParaRPr sz="90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00000" y="2090000"/>
            <a:ext cx="2140000" cy="480000"/>
          </a:xfrm>
          <a:prstGeom prst="rect">
            <a:avLst/>
          </a:prstGeom>
          <a:noFill/>
        </p:spPr>
        <p:txBody>
          <a:bodyPr wrap="square" lIns="18288" tIns="27432" rIns="18288" bIns="27432" anchor="b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⬅ Job Requisition Criteria</a:t>
            </a:r>
            <a:br>
              <a:rPr sz="900" b="0" i="0">
                <a:solidFill>
                  <a:srgbClr val="000000"/>
                </a:solidFill>
                <a:latin typeface="Verdana" panose="020B0604030504040204"/>
              </a:rPr>
            </a:br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⬅ Criteria Weight Sliders</a:t>
            </a:r>
            <a:endParaRPr sz="900" b="0" i="0">
              <a:solidFill>
                <a:srgbClr val="000000"/>
              </a:solidFill>
              <a:latin typeface="Verdana" panose="020B0604030504040204"/>
            </a:endParaRPr>
          </a:p>
        </p:txBody>
      </p:sp>
      <p:cxnSp>
        <p:nvCxnSpPr>
          <p:cNvPr id="16" name="Connector 15"/>
          <p:cNvCxnSpPr/>
          <p:nvPr/>
        </p:nvCxnSpPr>
        <p:spPr>
          <a:xfrm flipH="1">
            <a:off x="7500000" y="2690000"/>
            <a:ext cx="2140000" cy="0"/>
          </a:xfrm>
          <a:prstGeom prst="line">
            <a:avLst/>
          </a:prstGeom>
          <a:ln w="19050">
            <a:solidFill>
              <a:srgbClr val="20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00000" y="3220000"/>
            <a:ext cx="2140000" cy="0"/>
          </a:xfrm>
          <a:prstGeom prst="line">
            <a:avLst/>
          </a:prstGeom>
          <a:ln w="19050">
            <a:solidFill>
              <a:srgbClr val="20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00000" y="3340000"/>
            <a:ext cx="2140000" cy="480000"/>
          </a:xfrm>
          <a:prstGeom prst="rect">
            <a:avLst/>
          </a:prstGeom>
          <a:noFill/>
        </p:spPr>
        <p:txBody>
          <a:bodyPr wrap="square" lIns="18288" tIns="27432" rIns="18288" bIns="27432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➔ Deterministic Leaderboards</a:t>
            </a:r>
            <a:br>
              <a:rPr sz="900" b="0" i="0">
                <a:solidFill>
                  <a:srgbClr val="000000"/>
                </a:solidFill>
                <a:latin typeface="Verdana" panose="020B0604030504040204"/>
              </a:rPr>
            </a:br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➔ XAI Proof Traces &amp; Kanban</a:t>
            </a:r>
            <a:endParaRPr sz="90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0000" y="3900000"/>
            <a:ext cx="10900000" cy="2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LEVEL 1: MODULAR PROCESS &amp; DATA FLOW ARCHITECTURE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00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P1.0 In-Memory Ingestion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Accepts binary PDF/DOCX byte stream into io.BytesIO RAM buffers without disk persistence.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8525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P2.0 AST Tokenizer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Deterministic regex boundary extraction for contact info, dates, and 40+ skill ontologies.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550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P3.0 Rule Engine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Executes First-Order Horn clauses evaluating experience thresholds and educational degree tiers.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575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P4.0 5-Pillar Auditor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Quantifies Format, Keyword density, Metrics, Section completeness, and Contact hygiene.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4600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P5.0 Scorer &amp; Ranker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Computes composite score, applies domain misalignment penalty, syncs Kanban state.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Methodology &amp; Workflow Architecture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01 | UNIT I: AGENT PERCEPTION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1. Data Ingestion &amp; Extraction: Candidate uploads resume via React UI. FastAPI accepts multipart byte stream directly into io.BytesIO memory buffer. pypdf and python-docx extract raw text without ML hallucination.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02 | ZERO-ML PREPROCESSING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2. Text Cleaning &amp; AST Tokenization: Deterministic boundary cleaning, newline normalization, and regex extraction for candidate email (RFC 5322), telephone digits, and employment year ranges (e.g. '2021-Present').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03 | UNIT IV: KNOWLEDGE ENGINEERING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3. Ontology &amp; Taxonomy Lookup: Word-boundary taxonomy matching against 40+ curated domain skill trees and alias normalizers (e.g. Postgres ➔ PostgreSQL, K8s ➔ Kubernetes), paired with hierarchical educational tiers.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Methodology &amp; Workflow Architecture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04 | UNIT IV: INFERENCE ENGINE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4. Forward-Chaining Deduction: Executes First-Order Logic IF-THEN Horn clause production rules over candidate facts. Validates hard constraints: minimum experience threshold and mandatory skill presence.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05 | UNITS II &amp; III: HEURISTICS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5. Heuristic Scoring &amp; CSP: Computes multi-attribute candidate utility across Skills (50%), Experience (25%), Education (15%), and Certifications (10%). Applies a domain misalignment penalty (score damped to under 8% if no required skills matched).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06 | UNIT I: RATIONAL ACTION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6. Explainable Proof &amp; Portal Sync: Synthesizes human-readable decision logs detailing matched skills, missing criteria, and experience margins. Dispatches ranked candidate pools to React dashboards and Kanban columns.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Tools &amp; Technologies Stack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CLIENT FRONTEND TIER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React 18 &amp; Vite: Blazing-fast Hot Module Replacement and modular Single-Page Application (SPA) architecture.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Candidate Portal (:5173): Interactive resume upload, real-time 5-pillar ATS report, and pre-application gap advisor.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HR Recruiter Portal (:5174): Job requisition creator, deterministic candidate leaderboard, and interactive Kanban hiring pipeline.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TailwindCSS &amp; Lucide: Modern, accessible UI design with zero heavy UI framework overhead.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Tools &amp; Technologies Stack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BACKEND MICROSERVICE TIER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Python 3.10+ &amp; FastAPI: Asynchronous ASGI framework orchestrating high-throughput, low-latency inference.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PyJWT &amp; BCrypt: Stateless HMAC-SHA256 token authentication with cryptographic password hashing (work factor = 12).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Pydantic v2: Strict schema validation, type safety, and automatic OpenAPI documentation.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Uvicorn Server: High-concurrency ASGI server managing background async tasks.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Tools &amp; Technologies Stack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PARSER &amp; EXPERT SYSTEM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pypdf &amp; python-docx: Zero-ML document text stream extraction operating entirely within volatile RAM byte buffers.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Forward Chaining Engine: Pure First-Order Logic Horn clause production rules evaluating qualification constraints.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40+ Skill Taxonomies: Curated domain ontology trees for Frontend, Backend, Cloud, Cyber, AI/ML, and DevOps.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Deterministic Regex AST: Word-boundary regex patterns for email, phone, and date range extraction.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Tools &amp; Technologies Stack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DATABASE, SECURITY &amp; TESTING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Supabase PostgreSQL: Managed cloud relational database enforced with Row-Level Security (RLS) policies.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Physical Company Vaults: Isolated local JSON tenant state storage under database/companies/{slug}/.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Pytest Test Suite: 40/40 passing unit and integration tests verifying scoring logic and parser accuracy.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Hardware Specs: Dual-Core 2.0 GHz CPU, 4 GB DDR4 RAM, sub-50ms CPU execution, zero GPU requirement.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List of Functional Modules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1 – Auth &amp; Security Module: Candidate/HR registration, BCrypt password hashing, stateless JWT token issuance, and RBAC route protection. ✔ COMPLETED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2 – In-Memory Resume Ingestion &amp; Parsing: Zero-disk io.BytesIO stream ingestion, pypdf &amp; python-docx extraction, regex boundary AST sanitization. ✔ COMPLETED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3 – FOAI Candidate Ranker &amp; Skill Taxonomizer: 40+ domain skill taxonomies, alias normalization, and First-Order Horn clause inference. ✔ COMPLETED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4 – Multi-Pillar ATS Health Audit Module: 5-Pillar resume evaluation: Format (20%), Keywords (25%), Metrics (20%), Completeness (20%), Contact (15%). ✔ COMPLETED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5 – Cross-Portal Kanban Synchronization: Dual React SPAs synchronizing candidate applications across 6 lifecycle stages with physical company vaults. ✔ COMPLETED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>
                <a:solidFill>
                  <a:srgbClr val="FF0000"/>
                </a:solidFill>
              </a:rPr>
              <a:t>Module Description – Part 1 (Ingestion &amp; Knowledge Base)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1: IN-MEMORY INGESTION &amp; PARSER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Source File: services/resume_parser.py (Class ResumeParser).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Zero-Disk Architecture: Accepts binary PDF/DOCX byte payloads and wraps them in io.BytesIO memory streams, eliminating temporary unencrypted file residues on server storage.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Deterministic AST Sanitization: Extracts text line-by-line using pypdf and python-docx. Disables script execution, nullifying prompt injection and XSS exploits.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Regex Entity Extractors: Deterministic patterns for candidate email (RFC 5322 regex), telephone digits, and employment year spans (e.g. 2021 - Present).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Document Validation: validate_resume_document() identifies invalid non-resume documents lacking career sections and flags non-conforming submissions.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000" b="1">
                <a:solidFill>
                  <a:srgbClr val="FF0000"/>
                </a:solidFill>
              </a:rPr>
              <a:t>Module Description – Part 1 (Ingestion &amp; Knowledge Base)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2: KNOWLEDGE BASE &amp; SKILL TAXONOMY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Source File: services/skill_matcher.py (Class SkillMatcher).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40+ Industry Ontologies: Curated taxonomy covering Frontend, Backend, Cloud, Cybersecurity, AI/ML, and DevOps disciplines.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Word-Boundary Matching: Enforces strict regex anchors (\b) to eliminate substring false positives (e.g. preventing 'Java' from erroneously matching inside 'JavaScript').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Alias Normalization: Maps synonyms to canonical skill tokens (e.g. Postgres ➔ PostgreSQL, K8s ➔ Kubernetes, Node ➔ Node.js).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Education Qualification Hierarchy: Strict hierarchical evaluation: Doctorate &gt; Master's &gt; Bachelor's &gt; Diploma &gt; High School.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>
                <a:solidFill>
                  <a:srgbClr val="FF0000"/>
                </a:solidFill>
              </a:rPr>
              <a:t>Module Description – Part 2 (Rule Engine, Scorer &amp; Kanban)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3: FOAI RULE ENGINE &amp; SCORER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Source Files: services/rule_engine.py &amp; candidate_ranker.py.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Skill Score: Weighs required skills most heavily, with preferred skills contributing a smaller share of the overall skill dimension.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Composite Score: Combines Skills (50%), Experience (25%), Education (15%), and Certifications (10%) into a single ranking score.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Misalignment Penalty: If none of the required skills are matched, the overall score is heavily damped and capped at a low value, preventing unqualified resumes from achieving false high scores.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Proof Trace Synthesis: generate_proof_trace() builds step-by-step proofs itemizing exact rule satisfaction.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000" b="1">
                <a:solidFill>
                  <a:srgbClr val="FF0000"/>
                </a:solidFill>
              </a:rPr>
              <a:t>Module Description – Part 2 (Rule Engine, Scorer &amp; Kanban)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MODULES 4 &amp; 5: ATS AUDIT &amp; KANBAN SYNC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5-Pillar ATS Health Audit: Format &amp; Parsability (20%), Keyword Density (25%), Measurable Impact &amp; Metrics (20%), Section Completeness (20%), and Contact Hygiene (15%).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Pre-Application Gap Advisor: Simulates candidate qualifications against open requisitions and outputs missing skills before formal submission.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Cross-Portal Kanban Synchronization: services/pipeline_manager.py manages stage transitions: APPLIED ➔ SHORTLISTED ➔ TECH_ASSESSMENT ➔ INTERVIEW ➔ OFFERED.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Physical Company Vaults: services/company_vault.py isolates tenant jobs, candidates, and pipeline states under database/companies/{slug}/.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Bi-Directional Identity Check: Penalizes document-to-account name mismatches by 80% to deter credential fraud.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Results, Performance &amp; Benchmarking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000" y="1710000"/>
            <a:ext cx="10900000" cy="2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EMPIRICAL BENCHMARKING RESULTS (REPORT TABLE 4.2)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3392" y="2000000"/>
          <a:ext cx="11089194" cy="1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214"/>
                <a:gridCol w="2476228"/>
                <a:gridCol w="1937917"/>
                <a:gridCol w="3875835"/>
              </a:tblGrid>
              <a:tr h="39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Performance Metric</a:t>
                      </a:r>
                      <a:endParaRPr sz="11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Observed Value</a:t>
                      </a:r>
                      <a:endParaRPr sz="11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Benchmark Target</a:t>
                      </a:r>
                      <a:endParaRPr sz="11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Status / Compliance</a:t>
                      </a:r>
                      <a:endParaRPr sz="11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Inference &amp; Scoring Latency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38.4 ms (Average)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&lt; 50.0 ms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Exceeded (Sub-50ms Ultra-Low Latency)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Scoring Determinism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Exact Match (Identical Scores)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Zero Variation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100% Deterministic (Zero Drift in 1,000 runs)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RAM Footprint per Request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4.2 MB (In-Memory)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&lt; 15.0 MB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Optimal Volatile Memory Usage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Prompt Injection Vulnerability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0.0% (Zero Exploits)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0.0%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100% Protected (No LLM Prompt Vulnerability)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0000" y="3980000"/>
            <a:ext cx="10900000" cy="2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PROOF TRACE CASE STUDY (JOHN DOE - SENIOR PYTHON DEVELOPER)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000" y="4270000"/>
            <a:ext cx="10900000" cy="1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00" b="1" i="0">
                <a:solidFill>
                  <a:srgbClr val="000000"/>
                </a:solidFill>
                <a:latin typeface="Verdana" panose="020B0604030504040204"/>
              </a:rPr>
              <a:t>Technical Skills (50% Weight): </a:t>
            </a:r>
            <a:r>
              <a:rPr sz="1200" b="0" i="0">
                <a:solidFill>
                  <a:srgbClr val="000000"/>
                </a:solidFill>
                <a:latin typeface="Verdana" panose="020B0604030504040204"/>
              </a:rPr>
              <a:t>4/4 Mandatory Skills Matched (Python, FastAPI, Docker, PostgreSQL) ➔ Full marks.</a:t>
            </a:r>
            <a:endParaRPr sz="1200" b="0" i="0">
              <a:solidFill>
                <a:srgbClr val="000000"/>
              </a:solidFill>
              <a:latin typeface="Verdana" panose="020B0604030504040204"/>
            </a:endParaRP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00" b="1" i="0">
                <a:solidFill>
                  <a:srgbClr val="000000"/>
                </a:solidFill>
                <a:latin typeface="Verdana" panose="020B0604030504040204"/>
              </a:rPr>
              <a:t>Experience (25% Weight): </a:t>
            </a:r>
            <a:r>
              <a:rPr sz="1200" b="0" i="0">
                <a:solidFill>
                  <a:srgbClr val="000000"/>
                </a:solidFill>
                <a:latin typeface="Verdana" panose="020B0604030504040204"/>
              </a:rPr>
              <a:t>5.0 yrs provided vs 3.0 yrs required (+2.0 yrs extra) ➔ Full marks.</a:t>
            </a:r>
            <a:endParaRPr sz="1200" b="0" i="0">
              <a:solidFill>
                <a:srgbClr val="000000"/>
              </a:solidFill>
              <a:latin typeface="Verdana" panose="020B0604030504040204"/>
            </a:endParaRP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00" b="1" i="0">
                <a:solidFill>
                  <a:srgbClr val="000000"/>
                </a:solidFill>
                <a:latin typeface="Verdana" panose="020B0604030504040204"/>
              </a:rPr>
              <a:t>Education &amp; Certs (25% Weight): </a:t>
            </a:r>
            <a:r>
              <a:rPr sz="1200" b="0" i="0">
                <a:solidFill>
                  <a:srgbClr val="000000"/>
                </a:solidFill>
                <a:latin typeface="Verdana" panose="020B0604030504040204"/>
              </a:rPr>
              <a:t>B.Tech Computer Science + AWS Solutions Architect verified ➔ Strong match.</a:t>
            </a:r>
            <a:endParaRPr sz="120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0000" y="5520000"/>
            <a:ext cx="10900000" cy="62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5875">
            <a:solidFill>
              <a:srgbClr val="20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★ FINAL RESULT: RANK #1 OF 12 | STATUS: SHORTLISTED WITH VERIFIABLE AUDIT PROOF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>
                <a:solidFill>
                  <a:srgbClr val="FF0000"/>
                </a:solidFill>
              </a:rPr>
              <a:t>User Interface &amp; Implementation Evidence</a:t>
            </a:r>
            <a:endParaRPr sz="32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None/>
            </a:pPr>
            <a:r>
              <a:t>Second Review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BDC2143B-610F-499C-A392-DFFBE135A7B2}" type="slidenum">
              <a:rPr/>
            </a:fld>
            <a:endParaRPr/>
          </a:p>
        </p:txBody>
      </p:sp>
      <p:pic>
        <p:nvPicPr>
          <p:cNvPr id="7" name="Picture 6" descr="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691" y="1720000"/>
            <a:ext cx="3228618" cy="39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0000" y="5700000"/>
            <a:ext cx="54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365D"/>
                </a:solidFill>
                <a:latin typeface="Verdana" panose="020B0604030504040204"/>
              </a:rPr>
              <a:t>Candidate Portal: Resume Upload &amp; Ingestion</a:t>
            </a:r>
            <a:endParaRPr sz="1300" b="1">
              <a:solidFill>
                <a:srgbClr val="17365D"/>
              </a:solidFill>
              <a:latin typeface="Verdana" panose="020B0604030504040204"/>
            </a:endParaRPr>
          </a:p>
        </p:txBody>
      </p:sp>
      <p:pic>
        <p:nvPicPr>
          <p:cNvPr id="9" name="Picture 8" descr="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71" y="1720000"/>
            <a:ext cx="4883658" cy="39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50000" y="5700000"/>
            <a:ext cx="54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365D"/>
                </a:solidFill>
                <a:latin typeface="Verdana" panose="020B0604030504040204"/>
              </a:rPr>
              <a:t>Candidate Portal: 5-Pillar ATS Health Report</a:t>
            </a:r>
            <a:endParaRPr sz="1300" b="1">
              <a:solidFill>
                <a:srgbClr val="17365D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</a:rPr>
              <a:t>User Interface &amp; Implementation Evidence (cont.)</a:t>
            </a:r>
            <a:endParaRPr sz="32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None/>
            </a:pPr>
            <a:r>
              <a:t>Second Review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BDC2143B-610F-499C-A392-DFFBE135A7B2}" type="slidenum">
              <a:rPr/>
            </a:fld>
            <a:endParaRPr/>
          </a:p>
        </p:txBody>
      </p:sp>
      <p:pic>
        <p:nvPicPr>
          <p:cNvPr id="7" name="Picture 6" descr="k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00" y="2398914"/>
            <a:ext cx="5400000" cy="25421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0000" y="5700000"/>
            <a:ext cx="54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365D"/>
                </a:solidFill>
                <a:latin typeface="Verdana" panose="020B0604030504040204"/>
              </a:rPr>
              <a:t>HR Portal: Recruitment Kanban Pipeline</a:t>
            </a:r>
            <a:endParaRPr sz="1300" b="1">
              <a:solidFill>
                <a:srgbClr val="17365D"/>
              </a:solidFill>
              <a:latin typeface="Verdana" panose="020B0604030504040204"/>
            </a:endParaRPr>
          </a:p>
        </p:txBody>
      </p:sp>
      <p:pic>
        <p:nvPicPr>
          <p:cNvPr id="9" name="Picture 8" descr="l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000" y="2515929"/>
            <a:ext cx="5400000" cy="2308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50000" y="5700000"/>
            <a:ext cx="54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365D"/>
                </a:solidFill>
                <a:latin typeface="Verdana" panose="020B0604030504040204"/>
              </a:rPr>
              <a:t>HR Portal: Ranked Candidate Leaderboard &amp; XAI Proofs</a:t>
            </a:r>
            <a:endParaRPr sz="1300" b="1">
              <a:solidFill>
                <a:srgbClr val="17365D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Conclusion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SCIENTIFIC &amp; TECHNICAL ACHIEVEMENT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Classical AI Supremacy: HireAI demonstrates that Classical Artificial Intelligence – Knowledge Representation, Production Systems, and Forward Chaining – remains vastly superior to black-box machine learning in high-stakes domains.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Absolute Determinism: Eliminates recruiter fatigue, mood subjectivity, and stochastic algorithm drift with 100% reproducible qualification scoring.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High Throughput &amp; Zero Cost: Achieves sub-50ms CPU inference latency on commodity hardware with zero cloud GPU or LLM API expenses.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Conclusion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SYLLABUS GROUNDING (FOUNDATIONS OF AI)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Unit I (Intelligent Agents): Implements Goal-Based Agents with rigorous PEAS framework modeling.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Unit II (Heuristic Search): Formulates multi-criteria evaluation functions balancing skills, experience, education, and credentials.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Unit III (Constraint Satisfaction): Enforces hard constraint satisfaction rules over minimum experience thresholds and required qualifications.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Unit IV (Knowledge Representation): Deploys First-Order Logic Horn clause production rules with forward chaining inference.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Conclusion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ETHICAL, LEGAL &amp; CYBERSECURITY IMPACT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EU AI Act &amp; Regulatory Compliance: Guarantees 100% compliance with High-Risk AI mandates (Regulation 2024/1689) and NYC Local Law 144 via auditable proof traces.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Zero Demographic Bias: Evaluates candidates strictly on verified credentials, eliminating racial, gender, and socio-economic discrimination.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Cybersecurity Defense: In-memory volatile RAM processing (io.BytesIO) prevents PII exposure, while deterministic AST parsing eliminates prompt injection attacks.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Future Work &amp; Phase II Roadmap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01 – AI-Proctored Technical Coding Assessments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Integrate in-browser secure code execution sandbox environments with automated test case evaluation and proctoring controls to evaluate hands-on coding competence directly within HireAI.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02 – Automated Calendar Webhook Scheduling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Implement direct Google Meet and Microsoft Teams REST API webhooks for automated interview scheduling and synchronization upon advancing candidates to the Interview stage.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Future Work &amp; Phase II Roadmap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03 – Homomorphic Encryption for Multi-Company Talent Pools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Implement privacy-preserving multi-enterprise candidate searches using homomorphic encryption, allowing recruiters to query shared talent pools without exposing raw resume text.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04 – Automated Cryptographic Offer Letter Generation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Dynamically generate cryptographically signed digital offer letter PDFs upon advancing candidates to the OFFERED stage, completing the automated hiring lifecycle.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References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[1] European Commission (2024). 'Artificial Intelligence Act: High-Risk AI Systems in Employment and Recruitment', Regulation (EU) 2024/1689, Official Journal of the European Union. [Regulatory mandate for explainable ATS]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[2] U.S. Equal Employment Opportunity Commission (2023). 'Select Issues: Assessing Adverse Impact in Software, Algorithms, and AI in Employment Selection', EEOC Guidance Document 915.003. [Mandate against statistical bias]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[3] Russell, S., &amp; Norvig, P. (2020). 'Artificial Intelligence: A Modern Approach' (4th ed.). Pearson Higher Education. [Foundations of Knowledge Representation, Forward Chaining, and Heuristics]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References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[4] M. Raghavan, S. Barocas, J. Kleinberg, and K. Levy (2020). 'Mitigating bias in algorithmic hiring: Evaluating claims and practices', in Proceedings of the 2020 ACM Conference on Fairness, Accountability, and Transparency (FAccT), pp. 469-481.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[5] OWASP Foundation (2023). 'OWASP Top 10 for Large Language Model Applications: Prompt Injection and Data Poisoning', OWASP Technical Report v1.1. [Security risks of generative LLM screeners]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[6] Microsoft Security Engineering (2021). 'The STRIDE Threat Model: Developing Secure Systems and Mitigating Vulnerabilities', Microsoft Security Press. [Cybersecurity threat model applied in HireAI]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2261294"/>
            <a:ext cx="10668000" cy="1216025"/>
          </a:xfrm>
        </p:spPr>
        <p:txBody>
          <a:bodyPr anchor="ctr"/>
          <a:lstStyle/>
          <a:p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 sz="4000" b="1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F583B680-F650-469F-A231-392F163461F6}" type="slidenum">
              <a:rPr/>
            </a:fld>
            <a:endParaRPr/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09625" y="4480000"/>
            <a:ext cx="10572750" cy="17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00" b="0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algn="ctr">
              <a:defRPr sz="1900" b="0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1800" b="1">
                <a:solidFill>
                  <a:srgbClr val="17365D"/>
                </a:solidFill>
                <a:latin typeface="Verdana" panose="020B0604030504040204"/>
              </a:rPr>
              <a:t>Open for Technical Viva Questions &amp; Evaluation Discussion</a:t>
            </a:r>
            <a:endParaRPr sz="1800" b="1">
              <a:solidFill>
                <a:srgbClr val="17365D"/>
              </a:solidFill>
              <a:latin typeface="Verdana" panose="020B0604030504040204"/>
            </a:endParaRP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17365D"/>
                </a:solidFill>
                <a:latin typeface="Verdana" panose="020B0604030504040204"/>
              </a:rPr>
              <a:t>HireAI: A Rule-Based Intelligent Recruitment Expert System with Explainable Decision Support</a:t>
            </a:r>
            <a:endParaRPr sz="1300" b="0">
              <a:solidFill>
                <a:srgbClr val="17365D"/>
              </a:solidFill>
              <a:latin typeface="Verdana" panose="020B0604030504040204"/>
            </a:endParaRPr>
          </a:p>
          <a:p>
            <a:pPr algn="ctr"/>
            <a:r>
              <a:rPr sz="1300" b="0">
                <a:solidFill>
                  <a:srgbClr val="17365D"/>
                </a:solidFill>
                <a:latin typeface="Verdana" panose="020B0604030504040204"/>
              </a:rPr>
              <a:t>CS23533 – Foundations of Artificial Intelligence (2026–2027)</a:t>
            </a:r>
            <a:endParaRPr sz="1300" b="0">
              <a:solidFill>
                <a:srgbClr val="17365D"/>
              </a:solidFill>
              <a:latin typeface="Verdana" panose="020B0604030504040204"/>
            </a:endParaRPr>
          </a:p>
          <a:p>
            <a:pPr algn="ctr"/>
            <a:r>
              <a:rPr sz="1300" b="0">
                <a:solidFill>
                  <a:srgbClr val="17365D"/>
                </a:solidFill>
                <a:latin typeface="Verdana" panose="020B0604030504040204"/>
              </a:rPr>
              <a:t>Department of Computer Science and Engineering (Cyber Security)</a:t>
            </a:r>
            <a:endParaRPr sz="1300" b="0">
              <a:solidFill>
                <a:srgbClr val="17365D"/>
              </a:solidFill>
              <a:latin typeface="Verdana" panose="020B0604030504040204"/>
            </a:endParaRPr>
          </a:p>
          <a:p>
            <a:pPr algn="ctr"/>
            <a:r>
              <a:rPr sz="1300" b="0">
                <a:solidFill>
                  <a:srgbClr val="17365D"/>
                </a:solidFill>
                <a:latin typeface="Verdana" panose="020B0604030504040204"/>
              </a:rPr>
              <a:t>Rajalakshmi Engineering College (Autonomous)</a:t>
            </a:r>
            <a:endParaRPr sz="1300" b="0">
              <a:solidFill>
                <a:srgbClr val="17365D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1*336"/>
  <p:tag name="TABLE_ENDDRAG_RECT" val="60*137*861*336"/>
</p:tagLst>
</file>

<file path=ppt/tags/tag2.xml><?xml version="1.0" encoding="utf-8"?>
<p:tagLst xmlns:p="http://schemas.openxmlformats.org/presentationml/2006/main">
  <p:tag name="TABLE_ENDDRAG_ORIGIN_RECT" val="861*339"/>
  <p:tag name="TABLE_ENDDRAG_RECT" val="60*137*861*339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23386</Words>
  <Application>WPS Presentation</Application>
  <PresentationFormat>Widescreen</PresentationFormat>
  <Paragraphs>515</Paragraphs>
  <Slides>38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7" baseType="lpstr">
      <vt:lpstr>Arial</vt:lpstr>
      <vt:lpstr>SimSun</vt:lpstr>
      <vt:lpstr>Wingdings</vt:lpstr>
      <vt:lpstr>Verdana</vt:lpstr>
      <vt:lpstr>Verdana</vt:lpstr>
      <vt:lpstr>Wingdings</vt:lpstr>
      <vt:lpstr>Microsoft YaHei</vt:lpstr>
      <vt:lpstr>Arial Unicode MS</vt:lpstr>
      <vt:lpstr>Profile</vt:lpstr>
      <vt:lpstr>PowerPoint 演示文稿</vt:lpstr>
      <vt:lpstr>Problem Statement and Motivation</vt:lpstr>
      <vt:lpstr>Problem Statement and Motivation (cont.)</vt:lpstr>
      <vt:lpstr>Project Objectives</vt:lpstr>
      <vt:lpstr>Project Objectives (cont.)</vt:lpstr>
      <vt:lpstr>Project Abstract</vt:lpstr>
      <vt:lpstr>Project Abstract (cont.)</vt:lpstr>
      <vt:lpstr>Literature Survey – Part 1</vt:lpstr>
      <vt:lpstr>Literature Survey – Part 2</vt:lpstr>
      <vt:lpstr>Research Gap / Existing System</vt:lpstr>
      <vt:lpstr>Research Gap / Existing System (cont.)</vt:lpstr>
      <vt:lpstr>Research Gap / Existing System (cont.)</vt:lpstr>
      <vt:lpstr>Research Gap / Existing System (cont.)</vt:lpstr>
      <vt:lpstr>Proposed System Architecture</vt:lpstr>
      <vt:lpstr>Proposed System Architecture (cont.)</vt:lpstr>
      <vt:lpstr>Data Flow Diagrams (Level 0 &amp; Level 1 DFD)</vt:lpstr>
      <vt:lpstr>Methodology &amp; Workflow Architecture</vt:lpstr>
      <vt:lpstr>Methodology &amp; Workflow Architecture (cont.)</vt:lpstr>
      <vt:lpstr>Tools &amp; Technologies Stack</vt:lpstr>
      <vt:lpstr>Tools &amp; Technologies Stack (cont.)</vt:lpstr>
      <vt:lpstr>Tools &amp; Technologies Stack (cont.)</vt:lpstr>
      <vt:lpstr>Tools &amp; Technologies Stack (cont.)</vt:lpstr>
      <vt:lpstr>List of Functional Modules</vt:lpstr>
      <vt:lpstr>Module Description – Part 1 (Ingestion &amp; Knowledge Base)</vt:lpstr>
      <vt:lpstr>Module Description – Part 1 (Ingestion &amp; Knowledge Base) (cont.)</vt:lpstr>
      <vt:lpstr>Module Description – Part 2 (Rule Engine, Scorer &amp; Kanban)</vt:lpstr>
      <vt:lpstr>Module Description – Part 2 (Rule Engine, Scorer &amp; Kanban) (cont.)</vt:lpstr>
      <vt:lpstr>Results, Performance &amp; Benchmarking</vt:lpstr>
      <vt:lpstr>User Interface &amp; Implementation Evidence</vt:lpstr>
      <vt:lpstr>User Interface &amp; Implementation Evidence (cont.)</vt:lpstr>
      <vt:lpstr>Conclusion</vt:lpstr>
      <vt:lpstr>Conclusion (cont.)</vt:lpstr>
      <vt:lpstr>Conclusion (cont.)</vt:lpstr>
      <vt:lpstr>Future Work &amp; Phase II Roadmap</vt:lpstr>
      <vt:lpstr>Future Work &amp; Phase II Roadmap (cont.)</vt:lpstr>
      <vt:lpstr>References</vt:lpstr>
      <vt:lpstr>References (cont.)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Navanithakrishnan</cp:lastModifiedBy>
  <cp:revision>4</cp:revision>
  <dcterms:created xsi:type="dcterms:W3CDTF">2026-10-13T12:29:00Z</dcterms:created>
  <dcterms:modified xsi:type="dcterms:W3CDTF">2026-10-20T04:37:37Z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B9BB56FD4ACA4074A5C692371B8F4678_12</vt:lpwstr>
  </property>
  <property fmtid="{D5CDD505-2E9C-101B-9397-08002B2CF9AE}" pid="3" name="KSOProductBuildVer">
    <vt:lpwstr>2057-12.2.0.23206</vt:lpwstr>
  </property>
</Properties>
</file>