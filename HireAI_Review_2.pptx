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275" r:id="rId38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back evaluators. Today we present Review 2 for HireAI, demonstrating our significant progress since Review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restates the problem statement and highlights the urgency driven by the EU AI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restates the problem statement and highlights the urgency driven by the EU AI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tracks our objectives, confirming that all 5 have transitioned from in-progress to 100%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is our central Review 2 slide: demonstrating that all items planned in Review 1 are now 100%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is our central Review 2 slide: demonstrating that all items planned in Review 1 are now 100%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is our central Review 2 slide: demonstrating that all items planned in Review 1 are now 100%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covers the literature survey on statistical NLP and deep learning ATS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concludes our literature review with foundational AI theory and statutory mandates.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links literature findings and limitations directly to our implemented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links literature findings and limitations directly to our implemented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links literature findings and limitations directly to our implemented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links literature findings and limitations directly to our implemented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details our 5-tier architecture, emphasizing our STRIDE cybersecurity controls and volatile memory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presents our Level 0 and Level 1 Data Flow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details our 6-step operational workflow, now fully active in our production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details our 6-step operational workflow, now fully active in our production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justifies our technical selections and architectural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justifies our technical selections and architectural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justifies our technical selections and architectural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justifies our technical selections and architectural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presents our module status matrix, showing all 5 modules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details our implementation of Modules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details our implementation of Modules 1 and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explains the logic behind the rule engine, 5-pillar audit, and cross-portal Kanban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explains the logic behind the rule engine, 5-pillar audit, and cross-portal Kanban synchronization.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presents our quantitative results: 38.4ms average latency, zero variance, and full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displays live screenshots demonstrating full-stack platform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demonstrates our engineering problem-solving across 4 real technical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demonstrates our engineering problem-solving across 4 real technical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details our milestone schedule leading to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details our milestone schedule leading to the Final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 lists our formal academic and statutory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 lists our formal academic and statutory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20 closes the presentation and opens the floor for technical questions and Review 2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0" Type="http://schemas.openxmlformats.org/officeDocument/2006/relationships/notesSlide" Target="../notesSlides/notesSlide28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>
          <a:xfrm>
            <a:off x="789712" y="2330000"/>
            <a:ext cx="10515600" cy="170000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20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HireAI: A Rule-Based Intelligent Recruitment Expert System — PROJECT REVIEW 2</a:t>
            </a:r>
            <a:endParaRPr sz="2000" b="1">
              <a:solidFill>
                <a:srgbClr val="7030A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algn="ctr">
              <a:spcBef>
                <a:spcPts val="800"/>
              </a:spcBef>
              <a:defRPr sz="2400" b="1">
                <a:solidFill>
                  <a:srgbClr val="7030A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2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✦ Pure Classical AI Architecture  |  Deterministic Forward Chaining  |  Zero Black-Box Bias ✦</a:t>
            </a:r>
            <a:endParaRPr sz="12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0" name="TextBox 1"/>
          <p:cNvSpPr>
            <a:spLocks noGrp="1"/>
          </p:cNvSpPr>
          <p:nvPr/>
        </p:nvSpPr>
        <p:spPr>
          <a:xfrm>
            <a:off x="962889" y="5000000"/>
            <a:ext cx="5000000" cy="13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3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6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23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Supervisor:</a:t>
            </a:r>
            <a:endParaRPr sz="1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</a:rPr>
              <a:t>Dr. S. Bhuvana, Ph.D.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100" b="1" dirty="0">
                <a:solidFill>
                  <a:srgbClr val="FF0000"/>
                </a:solidFill>
              </a:rPr>
              <a:t>Assistant Professor (SG) | CSE (Cyber Security)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1" name="TextBox 1"/>
          <p:cNvSpPr>
            <a:spLocks noGrp="1"/>
          </p:cNvSpPr>
          <p:nvPr/>
        </p:nvSpPr>
        <p:spPr>
          <a:xfrm>
            <a:off x="6300000" y="5000000"/>
            <a:ext cx="5500000" cy="13000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defPPr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3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6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o"/>
              <a:defRPr sz="23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n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5pPr>
            <a:lvl6pPr marL="25146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6pPr>
            <a:lvl7pPr marL="29718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7pPr>
            <a:lvl8pPr marL="34290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8pPr>
            <a:lvl9pPr marL="3886200" indent="-22860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/>
              <a:buChar char="§"/>
              <a:defRPr sz="2000">
                <a:solidFill>
                  <a:schemeClr val="tx1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Presented By:</a:t>
            </a:r>
            <a:endParaRPr sz="14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</a:rPr>
              <a:t>241901067 – NAVANEETHA KRISHNAN E</a:t>
            </a:r>
            <a:endParaRPr lang="en-US" sz="1400" b="1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  <a:defRPr sz="1900" b="1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lang="en-US" sz="1400" b="1" dirty="0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241901114 – SURVESVARA KUMAR J S</a:t>
            </a:r>
            <a:endParaRPr sz="1900" b="1" dirty="0">
              <a:solidFill>
                <a:srgbClr val="FF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15" name="Title 1"/>
          <p:cNvSpPr>
            <a:spLocks noGrp="1"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anchor="ctr">
            <a:normAutofit fontScale="9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Department of Computer Science and Engineering</a:t>
            </a:r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r>
              <a:rPr sz="2800"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(Cyber Security)</a:t>
            </a:r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endParaRPr sz="2800"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2933065" cy="980728"/>
          </a:xfrm>
          <a:prstGeom prst="rect">
            <a:avLst/>
          </a:prstGeom>
          <a:ln>
            <a:noFill/>
          </a:ln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CS23533– Foundations of Artificial Intelligence</a:t>
            </a:r>
            <a:endParaRPr sz="2400" b="1">
              <a:solidFill>
                <a:srgbClr val="C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1">
                <a:solidFill>
                  <a:srgbClr val="00206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2026-2027</a:t>
            </a:r>
            <a:endParaRPr b="1">
              <a:solidFill>
                <a:srgbClr val="00206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❌ RECRUITMENT CRISIS RESTATED (THE BOTTLENECKS)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Volume &amp; Evaluator Fatigue: Recruiters handle 250+ resumes per job posting, spending only 6-8 seconds per candidate; non-standardized manual review causes high error rates.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Black-Box Machine Learning: Prevailing commercial ATS employ opaque neural embeddings or LLMs that output arbitrary similarity scores without inspectable proof traces.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Demographic Bias Amplification: Statistical algorithms train on historical corporate data, perpetuating latent gender, racial, and institutional discrimination.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Prompt Injection &amp; Spoofing: Unscrupulous applicants manipulate LLM screeners via hidden white-text instructions, keyword stuffing, and resume spoofing.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Unencrypted Disk PII Storage: Writing uploaded resumes to server file systems exposes candidate PII to data leaks, violating GDPR and ISO/IEC 27001.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Problem Statement and Motivation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✔ WHY HIREAI IS CRITICAL &amp; MOTIVATION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EU AI Act &amp; Global Regulatory Mandates: Regulation 2024/1689 classifies recruitment AI as 'High-Risk', legally mandating mathematical auditability and bias prevention.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First-Order Deterministic Reasoning: Replaces stochastic embeddings with deterministic IF-THEN Horn clause production rules; identical resumes yield identical scores.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100% Explainable Proof Traces: Synthesizes human-readable audit logs itemizing matched skills, missing criteria, and experience margins for every evaluation.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 Demographic Bias: Evaluates candidates strictly on verified credentials, eliminating name, gender, age, and college proxies from decision paths.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Sub-50ms CPU Execution: Processes resumes in volatile RAM (io.BytesIO) in under 42ms with zero cloud GPU cost and zero LLM API dependency.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Measurable Objectives &amp; Current Status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01 – Deterministic FOAI Inference Engine: Develop pure First-Order Logic expert system computing qualification match percentages via deterministic Horn clauses with 0% random seed drift. ✔ COMPLETED (100%)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02 – Zero-Disk Volatile Memory Ingestion: Ingest and parse multi-format resumes (PDF/DOCX) strictly in RAM byte buffers (io.BytesIO), guaranteeing zero unencrypted disk residues. ✔ COMPLETED (100%)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03 – 5-Pillar Explainable ATS Health Audit: Audit documents across Format (20%), Keyword Density (25%), Measurable Impact (20%), Completeness (20%), and Contact Hygiene (15%). ✔ COMPLETED (100%)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04 – Multi-Criteria Heuristic Scorer: Formulate multi-attribute candidate utility (50% Skills, 25% Exp, 15% Edu, 10% Certs) with domain misalignment damping penalty. ✔ COMPLETED (100%)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7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05 – Dual Full-Stack Portals &amp; Kanban Sync: Deploy asynchronous FastAPI backend paired with React 18 SPAs for Candidates and HR Recruiters with synchronized hiring pipelines. ✔ COMPLETED (100%)</a:t>
            </a:r>
            <a:endParaRPr sz="17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REVIEW 1 STATUS (BASELINE)</a:t>
            </a:r>
            <a:endParaRPr sz="22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Domain Research: Completed literature review and theoretical problem formulation.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Knowledge Taxonomies: Formalized skill trees for 40+ technologies and educational tiers.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Rule Engine Prototype: Standalone Python functions for Horn clauses and scoring logic.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GAPS IDENTIFIED: Candidate and HR React frontends were disconnected; file upload was mock-based; ATS health auditor not yet unified; Supabase integration in progress.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Project Progress Since Review 1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PROGRESS ACHIEVED (REVIEW 2)</a:t>
            </a:r>
            <a:endParaRPr sz="22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Full Frontend Integration: Connected Candidate Portal (:5173) and HR Dashboard (:5174) with live FastAPI backend.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RAM Parsing: Engineered volatile io.BytesIO memory pipeline supporting PDF and DOCX uploads.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5-Pillar ATS Health Audit: Integrated real-time resume audit engine (Format, Keywords, Metrics, Sections, Contact).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Cross-Portal Kanban Sync: Implemented pipeline_manager.py for synchronized 6-stage candidate state transitions.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Physical Company Vaults: Isolated multi-company jobs, pipelines, and candidates under database/companies/{slug}/.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Project Progress Since Review 1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2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CURRENT SYSTEM STATUS</a:t>
            </a:r>
            <a:endParaRPr sz="22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40/40 Passing Tests: Automated pytest suite validates auth, matching, persistence, RLS, and tenant isolation in 1.50s.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Sub-50ms Benchmarking: Exhaustively verified 38.4ms average latency across 1,000 evaluations with deterministic scoring.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Supabase Cloud RLS: PostgreSQL database enforcing row-level security policies and JWT access tokens.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2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Bi-Directional Identity: Cross-audits account identity against resume text with 80% penalty to prevent fraud.</a:t>
            </a:r>
            <a:endParaRPr sz="22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 – Part 1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3392" y="1740000"/>
          <a:ext cx="11089194" cy="3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865"/>
                <a:gridCol w="1713784"/>
                <a:gridCol w="2923515"/>
                <a:gridCol w="2721893"/>
                <a:gridCol w="3125137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S. No.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Author(s) &amp; Year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Paper Title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Methodology / Algorithm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Limitations Identified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Faliagka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(2012)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Application of machine learning algorithms to an online recruitment system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Supervised ML &amp; linguistic NLP ranking on public candidate profiles &amp; LinkedIn metadata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Lacks explainable rule auditability; high susceptibility to social profile noise, unverified claims, and demographic bias.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2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Roy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(2020)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 Machine Learning approach for automation of Resume Recommendation System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Deep Learning semantic similarity using BERT embeddings &amp; dense vector cosine distance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Opaque 'black-box' latent space fails explainability; high cloud GPU compute overhead, token latency, and non-deterministic scoring.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  <a:tr h="10000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3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Al-Mansoor et al.</a:t>
                      </a:r>
                      <a:b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(2021)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Neural ATS with transformer-based extraction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Multi-task Transformer models for unstructured resume entity parsing and classification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Prone to generative hallucination of non-existent skills; vulnerable to prompt injection and historical demographic bias.</a:t>
                      </a:r>
                      <a:endParaRPr sz="12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Literature Survey – Part 2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65810" y="1739900"/>
          <a:ext cx="10946765" cy="4223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691005"/>
                <a:gridCol w="2886075"/>
                <a:gridCol w="2687320"/>
                <a:gridCol w="3084830"/>
              </a:tblGrid>
              <a:tr h="907415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S. No.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Author(s) &amp; Year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Paper Title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Methodology / Algorithm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Limitations / Regulatory Relevance</a:t>
                      </a:r>
                      <a:endParaRPr sz="12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165798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4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Russell &amp; Norvig</a:t>
                      </a:r>
                      <a:b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(2020)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Artificial Intelligence: A Modern Approach (4th ed.)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Classical Rule-Based Expert Systems, First-Order Horn Clauses &amp; Forward Chaining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Guarantees logical deduction, deterministic consistency, and proof trees. Requires curated domain ontologies (solved via HireAI's 40+ tech taxonomies).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1657985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5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European Commission</a:t>
                      </a:r>
                      <a:b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</a:br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(2024)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EU AI Act: High-Risk AI Systems in Employment &amp; Recruitment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Statutory regulatory audit framework establishing legal compliance for automated hiring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Black-box machine learning and generative LLM screeners fail legal transparency mandates. Mandates verifiable decision reasoning and bias audits.</a:t>
                      </a:r>
                      <a:endParaRPr sz="115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Research Gap and Project Response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1. Literature Findings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Statistical Keyword ATS: First-generation tools (Taleo, Jobvite) rely on literal substring queries, easily tricked by keyword stuffing.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Deep Learning &amp; Dense Vectors: Second-generation models (BERT, SBERT) compute latent cosine similarity across text embeddings.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Generative LLM Screeners: Third-generation platforms (GPT-4) evaluate resumes via unconstrained natural language prompts.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and Project Response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2. Limitations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Severe Opacity &amp; Non-Determinism: Zero inspectable proof traces; identical resumes yield varying scores across temperature runs.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Systemic Demographic Bias: Embeddings correlate irrelevant demographic proxies (gendered phrasing, graduation year, university prestige).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Prompt Injection &amp; Spoofing: Easily exploited via hidden white text; no candidate-to-document identity cross-checking.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High Latency &amp; Cloud Costs: 1,500–5,000ms latency with recurring per-token API billing and expensive GPU hosting.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and Project Response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3. Refined Research Gap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Absence of Explainable Proof Traces: No existing platform produces mathematical, First-Order Logic proof trees explaining exact rule satisfaction.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Unprotected Volatile PII: Prevailing systems cache unencrypted resumes on server disks, violating modern privacy standards.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Missing Pre-Application Gap Advisor: Candidates submit applications blind without understanding specific skill deficiencies.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Non-Compliance with High-Risk AI Laws: Black-box models fail EU AI Act Article 14 and NYC Local Law 144 audit mandates.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Research Gap and Project Response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4. Progress Toward the Solution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Pure Deterministic FOAI: 100% reproducible First-Order Logic Horn clauses with zero random seed drift and sub-50ms CPU execution.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RAM Buffer Architecture: Processes resumes exclusively in io.BytesIO memory streams with zero disk residues.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Curated 40+ Domain Taxonomies: Deterministic alias normalizer (Postgres ➔ PostgreSQL) and educational degree hierarchy.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Actionable Proof View &amp; XAI Modals: Itemized verification audit logs detailing matched criteria, missing skills, and experience margins.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System Architecture &amp; Processing Pipeline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00000" y="1740000"/>
            <a:ext cx="4750000" cy="30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300" b="1" i="0">
                <a:solidFill>
                  <a:srgbClr val="CC0000"/>
                </a:solidFill>
                <a:latin typeface="Verdana" panose="020B0604030504040204"/>
              </a:rPr>
              <a:t>ENTERPRISE MULTI-TIER GUARANTEES</a:t>
            </a:r>
            <a:endParaRPr sz="13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00000" y="2120000"/>
            <a:ext cx="4750000" cy="40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38125" indent="-238125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50" b="1" i="0">
                <a:solidFill>
                  <a:srgbClr val="000000"/>
                </a:solidFill>
                <a:latin typeface="Verdana" panose="020B0604030504040204"/>
              </a:rPr>
              <a:t>Client Tier (:5173 / :5174): </a:t>
            </a:r>
            <a:r>
              <a:rPr sz="1250" b="0" i="0">
                <a:solidFill>
                  <a:srgbClr val="000000"/>
                </a:solidFill>
                <a:latin typeface="Verdana" panose="020B0604030504040204"/>
              </a:rPr>
              <a:t>Dual React 18 SPAs with zero direct DB access; strictly communicates via secure REST endpoints.</a:t>
            </a:r>
            <a:endParaRPr sz="1250" b="0" i="0">
              <a:solidFill>
                <a:srgbClr val="000000"/>
              </a:solidFill>
              <a:latin typeface="Verdana" panose="020B0604030504040204"/>
            </a:endParaRPr>
          </a:p>
          <a:p>
            <a:pPr marL="238125" indent="-238125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50" b="1" i="0">
                <a:solidFill>
                  <a:srgbClr val="000000"/>
                </a:solidFill>
                <a:latin typeface="Verdana" panose="020B0604030504040204"/>
              </a:rPr>
              <a:t>FastAPI Microservice Tier: </a:t>
            </a:r>
            <a:r>
              <a:rPr sz="1250" b="0" i="0">
                <a:solidFill>
                  <a:srgbClr val="000000"/>
                </a:solidFill>
                <a:latin typeface="Verdana" panose="020B0604030504040204"/>
              </a:rPr>
              <a:t>Asynchronous ASGI server enforcing sub-50ms inference on commodity CPUs with zero GPU overhead.</a:t>
            </a:r>
            <a:endParaRPr sz="1250" b="0" i="0">
              <a:solidFill>
                <a:srgbClr val="000000"/>
              </a:solidFill>
              <a:latin typeface="Verdana" panose="020B0604030504040204"/>
            </a:endParaRPr>
          </a:p>
          <a:p>
            <a:pPr marL="238125" indent="-238125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50" b="1" i="0">
                <a:solidFill>
                  <a:srgbClr val="000000"/>
                </a:solidFill>
                <a:latin typeface="Verdana" panose="020B0604030504040204"/>
              </a:rPr>
              <a:t>Volatile RAM Processing: </a:t>
            </a:r>
            <a:r>
              <a:rPr sz="1250" b="0" i="0">
                <a:solidFill>
                  <a:srgbClr val="000000"/>
                </a:solidFill>
                <a:latin typeface="Verdana" panose="020B0604030504040204"/>
              </a:rPr>
              <a:t>Parses resume streams directly in io.BytesIO memory buffers, preventing PII disk residues.</a:t>
            </a:r>
            <a:endParaRPr sz="1250" b="0" i="0">
              <a:solidFill>
                <a:srgbClr val="000000"/>
              </a:solidFill>
              <a:latin typeface="Verdana" panose="020B0604030504040204"/>
            </a:endParaRPr>
          </a:p>
          <a:p>
            <a:pPr marL="238125" indent="-238125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50" b="1" i="0">
                <a:solidFill>
                  <a:srgbClr val="000000"/>
                </a:solidFill>
                <a:latin typeface="Verdana" panose="020B0604030504040204"/>
              </a:rPr>
              <a:t>Supabase Storage &amp; Vaults: </a:t>
            </a:r>
            <a:r>
              <a:rPr sz="1250" b="0" i="0">
                <a:solidFill>
                  <a:srgbClr val="000000"/>
                </a:solidFill>
                <a:latin typeface="Verdana" panose="020B0604030504040204"/>
              </a:rPr>
              <a:t>Managed PostgreSQL with Row-Level Security (RLS) and physical company tenant vaults.</a:t>
            </a:r>
            <a:endParaRPr sz="1250" b="0" i="0">
              <a:solidFill>
                <a:srgbClr val="000000"/>
              </a:solidFill>
              <a:latin typeface="Verdana" panose="020B0604030504040204"/>
            </a:endParaRPr>
          </a:p>
          <a:p>
            <a:pPr marL="238125" indent="-238125">
              <a:spcBef>
                <a:spcPts val="0"/>
              </a:spcBef>
              <a:spcAft>
                <a:spcPts val="12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50" b="1" i="0">
                <a:solidFill>
                  <a:srgbClr val="000000"/>
                </a:solidFill>
                <a:latin typeface="Verdana" panose="020B0604030504040204"/>
              </a:rPr>
              <a:t>STRIDE Threat Defense: </a:t>
            </a:r>
            <a:r>
              <a:rPr sz="1250" b="0" i="0">
                <a:solidFill>
                  <a:srgbClr val="000000"/>
                </a:solidFill>
                <a:latin typeface="Verdana" panose="020B0604030504040204"/>
              </a:rPr>
              <a:t>Stateless HMAC-SHA256 JWT auth, BCrypt password hashing, and deterministic AST parsing.</a:t>
            </a:r>
            <a:endParaRPr sz="1250" b="0" i="0">
              <a:solidFill>
                <a:srgbClr val="000000"/>
              </a:solidFill>
              <a:latin typeface="Verdana" panose="020B0604030504040204"/>
            </a:endParaRPr>
          </a:p>
        </p:txBody>
      </p:sp>
      <p:pic>
        <p:nvPicPr>
          <p:cNvPr id="3" name="Picture 2" descr="AI Platform System Architecture Flowchart"/>
          <p:cNvPicPr>
            <a:picLocks noChangeAspect="1"/>
          </p:cNvPicPr>
          <p:nvPr/>
        </p:nvPicPr>
        <p:blipFill>
          <a:blip r:embed="rId2"/>
          <a:srcRect t="9390"/>
          <a:stretch>
            <a:fillRect/>
          </a:stretch>
        </p:blipFill>
        <p:spPr>
          <a:xfrm>
            <a:off x="766445" y="1669415"/>
            <a:ext cx="6331585" cy="4460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Data Flow Diagrams (Level 0 &amp; Level 1 DFD)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720000"/>
            <a:ext cx="109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LEVEL 0: CONTEXT DATA FLOW DIAGRAM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0000" y="2380000"/>
            <a:ext cx="1850000" cy="1150000"/>
          </a:xfrm>
          <a:prstGeom prst="rect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EXTERNAL ENTITY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CANDIDATE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(Web Portal :5173)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00000" y="2380000"/>
            <a:ext cx="1850000" cy="1150000"/>
          </a:xfrm>
          <a:prstGeom prst="rect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EXTERNAL ENTITY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HR RECRUITER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(Web Portal :5174)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50000" y="2130000"/>
            <a:ext cx="3100000" cy="1650000"/>
          </a:xfrm>
          <a:prstGeom prst="ellipse">
            <a:avLst/>
          </a:prstGeom>
          <a:solidFill>
            <a:srgbClr val="EAF2F8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PROCESS 0.0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HIREAI RECRUITMENT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EXPERT SYSTEM</a:t>
            </a:r>
            <a:br>
              <a:rPr sz="1100" b="1" i="0">
                <a:solidFill>
                  <a:srgbClr val="17365D"/>
                </a:solidFill>
                <a:latin typeface="Verdana" panose="020B0604030504040204"/>
              </a:rPr>
            </a:b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(FastAPI Gateway :8000)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60000" y="209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b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Uploads Resume Bytes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Inputs Profile Fields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560000" y="269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560000" y="322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000" y="334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5-Pillar ATS Health Report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Live Application Status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00000" y="209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b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Job Requisition Criteria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⬅ Criteria Weight Sliders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cxnSp>
        <p:nvCxnSpPr>
          <p:cNvPr id="16" name="Connector 15"/>
          <p:cNvCxnSpPr/>
          <p:nvPr/>
        </p:nvCxnSpPr>
        <p:spPr>
          <a:xfrm flipH="1">
            <a:off x="7500000" y="269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00000" y="3220000"/>
            <a:ext cx="2140000" cy="0"/>
          </a:xfrm>
          <a:prstGeom prst="line">
            <a:avLst/>
          </a:prstGeom>
          <a:ln w="19050">
            <a:solidFill>
              <a:srgbClr val="20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00000" y="3340000"/>
            <a:ext cx="2140000" cy="480000"/>
          </a:xfrm>
          <a:prstGeom prst="rect">
            <a:avLst/>
          </a:prstGeom>
          <a:noFill/>
        </p:spPr>
        <p:txBody>
          <a:bodyPr wrap="square" lIns="18288" tIns="27432" rIns="18288" bIns="27432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Deterministic Leaderboards</a:t>
            </a:r>
            <a:br>
              <a:rPr sz="900" b="0" i="0">
                <a:solidFill>
                  <a:srgbClr val="000000"/>
                </a:solidFill>
                <a:latin typeface="Verdana" panose="020B0604030504040204"/>
              </a:rPr>
            </a:br>
            <a:r>
              <a:rPr sz="900" b="0" i="0">
                <a:solidFill>
                  <a:srgbClr val="000000"/>
                </a:solidFill>
                <a:latin typeface="Verdana" panose="020B0604030504040204"/>
              </a:rPr>
              <a:t>➔ XAI Proof Traces &amp; Kanban</a:t>
            </a:r>
            <a:endParaRPr sz="9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000" y="3900000"/>
            <a:ext cx="109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LEVEL 1: MODULAR PROCESS &amp; DATA FLOW ARCHITECTURE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0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P1.0 In-Memory Ingestion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Accepts binary PDF/DOCX byte stream into io.BytesIO RAM buffers without disk persistence.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8525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P2.0 AST Tokenizer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Deterministic regex boundary extraction for contact info, dates, and 40+ skill ontologies.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55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P3.0 Rule Engine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Executes First-Order Horn clauses evaluating experience thresholds and educational degree tiers.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575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P4.0 5-Pillar Auditor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Quantifies Format, Keyword density, Metrics, Section completeness, and Contact hygiene.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460000" y="4250000"/>
            <a:ext cx="2090000" cy="195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2700"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7365D"/>
                </a:solidFill>
                <a:latin typeface="Verdana" panose="020B0604030504040204"/>
              </a:rPr>
              <a:t>P5.0 Scorer &amp; Ranker</a:t>
            </a:r>
            <a:endParaRPr sz="1100" b="1" i="0">
              <a:solidFill>
                <a:srgbClr val="17365D"/>
              </a:solidFill>
              <a:latin typeface="Verdana" panose="020B0604030504040204"/>
            </a:endParaRPr>
          </a:p>
          <a:p>
            <a:pPr algn="l"/>
            <a:r>
              <a:rPr sz="1050" b="0" i="0">
                <a:solidFill>
                  <a:srgbClr val="000000"/>
                </a:solidFill>
                <a:latin typeface="Verdana" panose="020B0604030504040204"/>
              </a:rPr>
              <a:t>Computes composite score, applies domain misalignment penalty, syncs Kanban state.</a:t>
            </a:r>
            <a:endParaRPr sz="1050" b="0" i="0">
              <a:solidFill>
                <a:srgbClr val="000000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Methodology &amp; Operational Workflow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01 | UNIT I: AGENT PERCEPTION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1. Data Ingestion &amp; Extraction: Candidate uploads resume via React UI. FastAPI accepts multipart byte stream directly into io.BytesIO memory buffer. pypdf and python-docx extract raw text without ML hallucination.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02 | ZERO-ML PREPROCESSING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2. Text Cleaning &amp; AST Tokenization: Deterministic boundary cleaning, newline normalization, and regex extraction for candidate email (RFC 5322), telephone digits, and employment year ranges (e.g. '2021-Present').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03 | UNIT IV: KNOWLEDGE ENGG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3. Ontology &amp; Taxonomy Lookup: Word-boundary taxonomy matching against 40+ curated domain skill trees and alias normalizers (e.g. Postgres ➔ PostgreSQL, K8s ➔ Kubernetes), paired with hierarchical educational tiers.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Methodology &amp; Operational Workflow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04 | UNIT IV: INFERENCE ENGINE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4. Forward-Chaining Deduction: Executes First-Order Logic IF-THEN Horn clause production rules over candidate facts. Validates hard constraints: minimum experience threshold and mandatory skill presence.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05 | UNITS II &amp; III: HEURISTICS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5. Heuristic Scoring &amp; CSP: Computes multi-attribute candidate utility. Applies domain misalignment penalty (Score damped to &lt;8% if 0 required skills matched).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9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STEP 06 | UNIT I: RATIONAL ACTION</a:t>
            </a:r>
            <a:endParaRPr sz="19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6. Explainable Proof &amp; Portal Sync: Synthesizes human-readable decision logs detailing matched skills, missing criteria, and experience margins. Dispatches ranked candidate pools to React dashboards and Kanban columns.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Tools and Technologies Justification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CLIENT FRONTEND TIER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React 18 &amp; Vite: Chosen over Next.js/Angular for zero SSR overhead and instantaneous Hot Module Replacement in local enterprise deployment.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Candidate Portal (:5173): Delivers interactive resume upload, live 5-pillar ATS health auditing, and pre-application gap advisor.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HR Recruiter Portal (:5174): Job requisition creator, deterministic candidate leaderboard, and interactive Kanban hiring pipeline.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TailwindCSS &amp; Lucide: Modern, accessible UI design with zero heavy UI framework overhead.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Tools and Technologies Justification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BACKEND MICROSERVICE TIER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Python 3.10+ &amp; FastAPI: Chosen over Flask/Django for native async coroutines, sub-millisecond route dispatching, and automated Pydantic typing.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PyJWT &amp; BCrypt: Stateless HMAC-SHA256 token authentication with cryptographic password hashing (work factor = 12).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Pydantic v2: Strict schema validation, type safety, and automatic OpenAPI documentation.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Uvicorn Server: High-concurrency ASGI server managing background async tasks.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Tools and Technologies Justification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PARSER &amp; EXPERT SYSTEM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pypdf &amp; python-docx: Zero-ML document text stream extraction operating entirely within volatile RAM byte buffers.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Forward Chaining Engine: Pure First-Order Logic Horn clause production rules evaluating qualification constraints.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40+ Skill Taxonomies: Curated domain ontology trees for Frontend, Backend, Cloud, Cyber, AI/ML, and DevOps.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Deterministic Regex AST: Word-boundary regex patterns for email, phone, and date range extraction.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Tools and Technologies Justification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3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DATABASE, SECURITY &amp; TESTING</a:t>
            </a:r>
            <a:endParaRPr sz="23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Supabase PostgreSQL: Cloud-managed relational database with Row-Level Security (RLS) enforcing strict tenant isolation.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Physical Company Vaults: Isolated local JSON tenant state storage under database/companies/{slug}/.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Pytest Test Suite: 40/40 passing unit and integration tests verifying scoring formulas and parser accuracy.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Hardware Specs: Dual-Core 2.0 GHz CPU, 4 GB DDR4 RAM, sub-50ms CPU execution, zero GPU requirement.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List of Project Modules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1 – Auth &amp; Security Module: Candidate/HR registration, BCrypt password hashing, stateless JWT token issuance, and RBAC route protection. ✔ COMPLETED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2 – In-Memory Resume Ingestion &amp; Parsing: Zero-disk io.BytesIO stream ingestion, pypdf &amp; python-docx extraction, regex boundary AST sanitization. ✔ COMPLETED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3 – FOAI Candidate Ranker &amp; Skill Taxonomizer: 40+ domain skill taxonomies, alias normalization, and First-Order Horn clause inference. ✔ COMPLETED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4 – Multi-Pillar ATS Health Audit Module: 5-Pillar resume evaluation: Format (20%), Keywords (25%), Metrics (20%), Completeness (20%), Contact (15%). ✔ COMPLETED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9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5 – Cross-Portal Kanban Synchronization: Dual React SPAs synchronizing candidate applications across 6 lifecycle stages with physical company vaults. ✔ COMPLETED</a:t>
            </a:r>
            <a:endParaRPr sz="19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200" b="1">
                <a:solidFill>
                  <a:srgbClr val="FF0000"/>
                </a:solidFill>
              </a:rPr>
              <a:t>Module Implementation – Part 1 (Ingestion &amp; Taxonomies)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1: IN-MEMORY RESUME INGESTION &amp; PARSER</a:t>
            </a:r>
            <a:endParaRPr sz="20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File: services/resume_parser.py (Class ResumeParser).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Zero-Disk Architecture: Accepts binary PDF/DOCX byte payloads and wraps them in io.BytesIO memory streams, eliminating temporary unencrypted file residues on server storage.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Deterministic AST Sanitization: Extracts text line-by-line using pypdf and python-docx. Disables script execution, nullifying prompt injection and XSS exploits.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Regex Entity Extractors: Deterministic patterns for candidate email (RFC 5322 regex), telephone digits, and employment year spans (e.g. 2021 - Present).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Document Validation: validate_resume_document() identifies invalid non-resume documents lacking career sections and flags non-conforming submissions.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1800" b="1">
                <a:solidFill>
                  <a:srgbClr val="FF0000"/>
                </a:solidFill>
              </a:rPr>
              <a:t>Module Implementation – Part 1 (Ingestion &amp; Taxonomies)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0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2: KNOWLEDGE BASE &amp; SKILL TAXONOMY</a:t>
            </a:r>
            <a:endParaRPr sz="20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File: services/skill_matcher.py (Class SkillMatcher).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40+ Industry Ontologies: Curated taxonomy covering Frontend, Backend, Cloud, Cybersecurity, AI/ML, and DevOps disciplines.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Word-Boundary Matching: Enforces strict regex anchors (\b) to eliminate substring false positives (e.g. preventing 'Java' from erroneously matching inside 'JavaScript').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Alias Normalization: Maps synonyms to canonical skill tokens (e.g. Postgres ➔ PostgreSQL, K8s ➔ Kubernetes, Node ➔ Node.js).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0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Education Qualification Hierarchy: Strict hierarchical evaluation: Doctorate (100) &gt; Master's (85) &gt; Bachelor's (70) &gt; Diploma (50) &gt; High School (30).</a:t>
            </a:r>
            <a:endParaRPr sz="20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200" b="1">
                <a:solidFill>
                  <a:srgbClr val="FF0000"/>
                </a:solidFill>
              </a:rPr>
              <a:t>Module Implementation – Part 2 (Rule Engine &amp; Kanban)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 3: FOAI RULE ENGINE &amp; SCORER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Source Files: services/rule_engine.py &amp; candidate_ranker.py.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Misalignment Penalty: Prevents unqualified resumes from achieving false high scores.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Proof Trace Synthesis: generate_proof_trace() builds step-by-step mathematical proofs itemizing exact rule satisfaction.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1800" b="1">
                <a:solidFill>
                  <a:srgbClr val="FF0000"/>
                </a:solidFill>
              </a:rPr>
              <a:t>Module Implementation – Part 2 (Rule Engine &amp; Kanban)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MODULES 4 &amp; 5: ATS AUDIT &amp; KANBAN SYNC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5-Pillar ATS Health Audit (Table 4.1): Format &amp; Parsability (20%), Keyword Density (25%), Measurable Impact &amp; Metrics (20%), Section Completeness (20%), and Contact Hygiene (15%).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Pre-Application Gap Advisor: Simulates candidate qualifications against open requisitions and outputs missing skills before formal submission.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Cross-Portal Kanban Synchronization: services/pipeline_manager.py manages application stage transitions: APPLIED ➔ SHORTLISTED ➔ TECH_ASSESSMENT ➔ INTERVIEW ➔ OFFERED.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Physical Company Vaults: services/company_vault.py isolates tenant jobs, candidates, and pipeline states under physical directories (database/companies/{slug}/).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Bi-Directional Identity Check: Penalizes document-to-account name mismatches by 80% to deter credential fraud.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>
                <a:solidFill>
                  <a:srgbClr val="FF0000"/>
                </a:solidFill>
              </a:rPr>
              <a:t>Preliminary Results and Benchmarking Discussion</a:t>
            </a: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0000" y="1710000"/>
            <a:ext cx="10900000" cy="2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EMPIRICAL BENCHMARKING RESULTS (REPORT TABLE 4.2)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3392" y="2000000"/>
          <a:ext cx="11089194" cy="1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9214"/>
                <a:gridCol w="2476228"/>
                <a:gridCol w="1937917"/>
                <a:gridCol w="3875835"/>
              </a:tblGrid>
              <a:tr h="39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Performance Metric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Observed Value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Benchmark Target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Verdana" panose="020B0604030504040204"/>
                        </a:rPr>
                        <a:t>Status / Compliance</a:t>
                      </a:r>
                      <a:endParaRPr sz="1100" b="1" i="0">
                        <a:solidFill>
                          <a:srgbClr val="FFFFFF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2A67B0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Inference &amp; Scoring Latency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38.4 ms (Average)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&lt; 50.0 ms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Exceeded (Sub-50ms Ultra-Low Latency)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Scoring Determinism (σ)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0.0000 (Exact Match)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0.0000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100% Deterministic (Zero Drift in 1,000 runs)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RAM Footprint per Request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4.2 MB (In-Memory)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&lt; 15.0 MB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Optimal Volatile Memory Usage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FFFFFF"/>
                    </a:solidFill>
                  </a:tcPr>
                </a:tc>
              </a:tr>
              <a:tr h="39000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Prompt Injection Vulnerability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0.0% (Zero Exploits)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0.0%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62626"/>
                          </a:solidFill>
                          <a:latin typeface="Verdana" panose="020B0604030504040204"/>
                        </a:rPr>
                        <a:t>100% Protected (No LLM Prompt Vulnerability)</a:t>
                      </a:r>
                      <a:endParaRPr sz="1100" b="0" i="0">
                        <a:solidFill>
                          <a:srgbClr val="262626"/>
                        </a:solidFill>
                        <a:latin typeface="Verdana" panose="020B0604030504040204"/>
                      </a:endParaRPr>
                    </a:p>
                  </a:txBody>
                  <a:tcPr marL="54864" marR="54864" marT="36576" marB="36576" anchor="ctr">
                    <a:solidFill>
                      <a:srgbClr val="E9EF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0000" y="3980000"/>
            <a:ext cx="10900000" cy="26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MATHEMATICAL PROOF TRACE CASE STUDY (JOHN DOE - SENIOR PYTHON DEVELOPER)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000" y="4270000"/>
            <a:ext cx="10900000" cy="1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Technical Skills (50%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4/4 Mandatory Skills Matched (Python, FastAPI, Docker, PostgreSQL) ➔ 50.0 / 50.0 pts.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Experience Ratio (25%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5.0 yrs provided vs 3.0 yrs required (+2.0 yrs extra) ➔ 25.0 / 25.0 pts.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  <a:p>
            <a:pPr marL="228600" indent="-228600">
              <a:spcBef>
                <a:spcPts val="0"/>
              </a:spcBef>
              <a:spcAft>
                <a:spcPts val="500"/>
              </a:spcAft>
              <a:buClr>
                <a:srgbClr val="CC0000"/>
              </a:buClr>
              <a:buFont typeface="Verdana" panose="020B0604030504040204"/>
              <a:buChar char="□"/>
            </a:pPr>
            <a:r>
              <a:rPr sz="1200" b="1" i="0">
                <a:solidFill>
                  <a:srgbClr val="000000"/>
                </a:solidFill>
                <a:latin typeface="Verdana" panose="020B0604030504040204"/>
              </a:rPr>
              <a:t>Education &amp; Certs (25% Weight): </a:t>
            </a:r>
            <a:r>
              <a:rPr sz="1200" b="0" i="0">
                <a:solidFill>
                  <a:srgbClr val="000000"/>
                </a:solidFill>
                <a:latin typeface="Verdana" panose="020B0604030504040204"/>
              </a:rPr>
              <a:t>B.Tech Computer Science (15.0 pts) + AWS Solutions Architect verified (7.5 pts) ➔ 22.5 / 25.0 pts.</a:t>
            </a:r>
            <a:endParaRPr sz="1200" b="0" i="0">
              <a:solidFill>
                <a:srgbClr val="000000"/>
              </a:solidFill>
              <a:latin typeface="Verdana" panose="020B060403050404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0000" y="5520000"/>
            <a:ext cx="10900000" cy="620000"/>
          </a:xfrm>
          <a:prstGeom prst="roundRect">
            <a:avLst>
              <a:gd name="adj" fmla="val 5000"/>
            </a:avLst>
          </a:prstGeom>
          <a:solidFill>
            <a:srgbClr val="EBF2FA"/>
          </a:solidFill>
          <a:ln w="15875">
            <a:solidFill>
              <a:srgbClr val="20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54864" rtlCol="0" anchor="ctr"/>
          <a:lstStyle/>
          <a:p>
            <a:pPr algn="ctr"/>
            <a:r>
              <a:rPr sz="1200" b="1" i="0">
                <a:solidFill>
                  <a:srgbClr val="CC0000"/>
                </a:solidFill>
                <a:latin typeface="Verdana" panose="020B0604030504040204"/>
              </a:rPr>
              <a:t>★ FINAL COMPOSITE SCORE: 87.5% | RANK #1 OF 12 | STATUS: SHORTLISTED WITH VERIFIABLE AUDIT PROOF</a:t>
            </a:r>
            <a:endParaRPr sz="1200" b="1" i="0">
              <a:solidFill>
                <a:srgbClr val="CC0000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2400" b="1">
                <a:solidFill>
                  <a:srgbClr val="FF0000"/>
                </a:solidFill>
              </a:rPr>
              <a:t>User Interface &amp; Implementation Screenshots</a:t>
            </a:r>
            <a:endParaRPr sz="32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None/>
            </a:pPr>
            <a:r>
              <a:t>Second Review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None/>
            </a:pPr>
            <a:r>
              <a:t>Department of Computer Science and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BDC2143B-610F-499C-A392-DFFBE135A7B2}" type="slidenum">
              <a:rPr/>
            </a:fld>
            <a:endParaRPr/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180860" y="3718925"/>
            <a:ext cx="54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50" b="1" i="0">
                <a:solidFill>
                  <a:srgbClr val="17365D"/>
                </a:solidFill>
                <a:latin typeface="Verdana" panose="020B0604030504040204"/>
              </a:rPr>
              <a:t>Candidate Portal: Resume Upload &amp; Ingestion</a:t>
            </a:r>
            <a:endParaRPr sz="115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6882155" y="3693525"/>
            <a:ext cx="54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50" b="1" i="0">
                <a:solidFill>
                  <a:srgbClr val="17365D"/>
                </a:solidFill>
                <a:latin typeface="Verdana" panose="020B0604030504040204"/>
              </a:rPr>
              <a:t>Candidate Portal: Opportunities &amp; Gap Simulation</a:t>
            </a:r>
            <a:endParaRPr sz="115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66445" y="5790248"/>
            <a:ext cx="5236845" cy="2311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50" b="1" i="0">
                <a:solidFill>
                  <a:srgbClr val="17365D"/>
                </a:solidFill>
                <a:latin typeface="Verdana" panose="020B0604030504040204"/>
              </a:rPr>
              <a:t>HR Portal: Candidate Directory &amp; Parsed Attributes</a:t>
            </a:r>
            <a:endParaRPr sz="1150" b="1" i="0">
              <a:solidFill>
                <a:srgbClr val="17365D"/>
              </a:solidFill>
              <a:latin typeface="Verdana" panose="020B0604030504040204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6150000" y="5510000"/>
            <a:ext cx="5400000" cy="2800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50" b="1" i="0">
                <a:solidFill>
                  <a:srgbClr val="17365D"/>
                </a:solidFill>
                <a:latin typeface="Verdana" panose="020B0604030504040204"/>
              </a:rPr>
              <a:t>HR Portal: Recruitment Kanban Pipeline Dashboard</a:t>
            </a:r>
            <a:endParaRPr sz="1150" b="1" i="0">
              <a:solidFill>
                <a:srgbClr val="17365D"/>
              </a:solidFill>
              <a:latin typeface="Verdana" panose="020B0604030504040204"/>
            </a:endParaRPr>
          </a:p>
        </p:txBody>
      </p:sp>
      <p:pic>
        <p:nvPicPr>
          <p:cNvPr id="15" name="Picture 14" descr="upload_resume"/>
          <p:cNvPicPr>
            <a:picLocks noChangeAspect="1"/>
          </p:cNvPicPr>
          <p:nvPr/>
        </p:nvPicPr>
        <p:blipFill>
          <a:blip r:embed="rId5"/>
          <a:srcRect t="8852" b="4935"/>
          <a:stretch>
            <a:fillRect/>
          </a:stretch>
        </p:blipFill>
        <p:spPr>
          <a:xfrm>
            <a:off x="1494790" y="1720215"/>
            <a:ext cx="3710940" cy="1799590"/>
          </a:xfrm>
          <a:prstGeom prst="rect">
            <a:avLst/>
          </a:prstGeom>
        </p:spPr>
      </p:pic>
      <p:pic>
        <p:nvPicPr>
          <p:cNvPr id="17" name="Picture 16" descr="resume_analyz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5630" y="1720215"/>
            <a:ext cx="3428365" cy="1962785"/>
          </a:xfrm>
          <a:prstGeom prst="rect">
            <a:avLst/>
          </a:prstGeom>
        </p:spPr>
      </p:pic>
      <p:pic>
        <p:nvPicPr>
          <p:cNvPr id="20" name="Picture 19" descr="hiring_pipeline"/>
          <p:cNvPicPr>
            <a:picLocks noChangeAspect="1"/>
          </p:cNvPicPr>
          <p:nvPr/>
        </p:nvPicPr>
        <p:blipFill>
          <a:blip r:embed="rId7"/>
          <a:srcRect t="9843" r="1750" b="4750"/>
          <a:stretch>
            <a:fillRect/>
          </a:stretch>
        </p:blipFill>
        <p:spPr>
          <a:xfrm>
            <a:off x="6818630" y="3882390"/>
            <a:ext cx="3435350" cy="1680210"/>
          </a:xfrm>
          <a:prstGeom prst="rect">
            <a:avLst/>
          </a:prstGeom>
        </p:spPr>
      </p:pic>
      <p:pic>
        <p:nvPicPr>
          <p:cNvPr id="21" name="Picture 20" descr="create_jo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3895" y="3999230"/>
            <a:ext cx="1850390" cy="16294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CHALLENGE 1: ZERO-DISK RAM PROCESSING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Problem: Standard document parsers require a physical file path string on disk, which risks exposing unencrypted candidate PII in temporary server directories.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ENGINEERED SOLUTION: Implemented an in-memory byte buffer wrapper (io.BytesIO) that ingests the multipart stream directly in RAM, passing byte streams to pypdf and python-docx without touching disk storage.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CHALLENGE 2: SKILL SUBSTRING FALSE POSITIVES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Problem: Naïve substring matching generates false positives where short skill tokens trigger erroneously (e.g. 'Java' matching inside 'JavaScript', 'C' matching inside 'CSS').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ENGINEERED SOLUTION: Constructed strict regex word-boundary anchors r'\b' + re.escape(alias) + r'\b' paired with a curated synonym dictionary (Postgres ➔ PostgreSQL, K8s ➔ Kubernetes).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FF0000"/>
                </a:solidFill>
              </a:rPr>
              <a:t>Challenges Faced and Solutions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CHALLENGE 3: CANDIDATE IDENTITY MISMATCH &amp; SPOOFING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Problem: Candidates could register under one name and submit a highly-qualified third-party resume to artificially inflate their ranking or impersonate someone else.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ENGINEERED SOLUTION: Built a Bi-Directional Identity Verification Audit that cross-audits candidate profile fields against extracted resume headers, applying an automatic 80% score penalty on mismatch.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CHALLENGE 4: UNQUALIFIED SCORE INFLATION</a:t>
            </a:r>
            <a:endParaRPr sz="18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Problem: A senior candidate with 15 years of generic administrative experience applying for a Cyber Security role could receive a misleadingly high score from experience and degree weights alone.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18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ENGINEERED SOLUTION: Engineered the Domain Misalignment Penalty Function. If no required skills are matched, the candidate's overall score is capped at a low value.</a:t>
            </a:r>
            <a:endParaRPr sz="18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Work Plan Until Final Review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PHASE II - TASK 1 (Target: Week 1–2)</a:t>
            </a:r>
            <a:endParaRPr sz="24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AI-Proctored Coding Assessments: Integrate in-browser code execution sandbox environments with automated test case evaluation and proctoring controls to evaluate hands-on coding competence directly within HireAI.</a:t>
            </a:r>
            <a:endParaRPr sz="24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PHASE II - TASK 2 (Target: Week 2–3)</a:t>
            </a:r>
            <a:endParaRPr sz="24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Automated Calendar Webhook Scheduling: Implement direct Google Meet and Microsoft Teams REST API webhooks for automated interview scheduling and synchronization upon advancing candidates to the Interview stage.</a:t>
            </a:r>
            <a:endParaRPr sz="24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Work Plan Until Final Review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PHASE II - TASK 3 (Target: Week 3–4)</a:t>
            </a:r>
            <a:endParaRPr sz="24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Large-Scale Empirical Benchmarking: Conduct extensive testing across 100+ synthetic resumes across varied engineering domains to validate speed, accuracy, consistency, and zero demographic bias against manual review.</a:t>
            </a:r>
            <a:endParaRPr sz="24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sz="2400" b="1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PHASE II - TASK 4 (Target: Week 4)</a:t>
            </a:r>
            <a:endParaRPr sz="2400" b="1">
              <a:solidFill>
                <a:srgbClr val="17365D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3429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Verdana" panose="020B0604030504040204"/>
              <a:buChar char="□"/>
            </a:pPr>
            <a:r>
              <a: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Final Documentation &amp; Defense Preparation: Complete final project documentation, record comprehensive system demonstration video, and prepare technical defense materials for the final viva-voce examination.</a:t>
            </a:r>
            <a:endParaRPr sz="24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[1] European Commission (2024). 'Artificial Intelligence Act: High-Risk AI Systems in Employment and Recruitment', Regulation (EU) 2024/1689, Official Journal of the European Union. [Regulatory mandate for explainable ATS]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[2] U.S. Equal Employment Opportunity Commission (2023). 'Select Issues: Assessing Adverse Impact in Software, Algorithms, and AI in Employment Selection', EEOC Guidance Document 915.003. [Mandate against statistical bias]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[3] Russell, S., &amp; Norvig, P. (2020). 'Artificial Intelligence: A Modern Approach' (4th ed.). Pearson Higher Education. [Foundations of Knowledge Representation, Forward Chaining, and Heuristics]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3200" b="1">
                <a:solidFill>
                  <a:srgbClr val="FF0000"/>
                </a:solidFill>
              </a:rPr>
              <a:t>References (cont.)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000" y="1700000"/>
            <a:ext cx="11000000" cy="4500000"/>
          </a:xfrm>
        </p:spPr>
        <p:txBody>
          <a:bodyPr anchor="t">
            <a:noAutofit/>
          </a:bodyPr>
          <a:lstStyle>
            <a:defPPr>
              <a:defRPr sz="24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[4] M. Raghavan, S. Barocas, J. Kleinberg, and K. Levy (2020). 'Mitigating bias in algorithmic hiring: Evaluating claims and practices', in Proceedings of the 2020 ACM Conference on Fairness, Accountability, and Transparency (FAccT), pp. 469-481.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[5] OWASP Foundation (2023). 'OWASP Top 10 for Large Language Model Applications: Prompt Injection and Data Poisoning', OWASP Technical Report v1.1. [Security risks of generative LLM screeners]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2300">
                <a:solidFill>
                  <a:srgbClr val="000000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[6] Microsoft Security Engineering (2021). 'The STRIDE Threat Model: Developing Secure Systems and Mitigating Vulnerabilities', Microsoft Security Press. [Cybersecurity threat model applied in HireAI]</a:t>
            </a:r>
            <a:endParaRPr sz="2300">
              <a:solidFill>
                <a:srgbClr val="000000"/>
              </a:solidFill>
              <a:latin typeface="Verdana" panose="020B0604030504040204"/>
              <a:ea typeface="Verdana" panose="020B0604030504040204"/>
              <a:cs typeface="Verdana" panose="020B060403050404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/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951990"/>
            <a:ext cx="10709910" cy="1216025"/>
          </a:xfrm>
        </p:spPr>
        <p:txBody>
          <a:bodyPr anchor="ctr"/>
          <a:lstStyle/>
          <a:p>
            <a:pPr algn="ctr">
              <a:buNone/>
            </a:pPr>
            <a:r>
              <a:rPr sz="4000" b="1">
                <a:solidFill>
                  <a:srgbClr val="FF0000"/>
                </a:solidFill>
              </a:rPr>
              <a:t>THANK YOU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</a:pPr>
            <a:fld id="{F583B680-F650-469F-A231-392F163461F6}" type="slidenum">
              <a:rPr/>
            </a:fld>
            <a:endParaRPr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809625" y="4480000"/>
            <a:ext cx="10572750" cy="17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00" b="0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defPPr>
          </a:lstStyle>
          <a:p>
            <a:pPr algn="ctr">
              <a:defRPr sz="1900" b="0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</a:defRPr>
            </a:pPr>
            <a:r>
              <a:rPr sz="1800" b="1">
                <a:solidFill>
                  <a:srgbClr val="17365D"/>
                </a:solidFill>
                <a:latin typeface="Verdana" panose="020B0604030504040204"/>
              </a:rPr>
              <a:t>Open for Technical Questions &amp; Review 2 Evaluation Discussion</a:t>
            </a:r>
            <a:endParaRPr sz="1800" b="1">
              <a:solidFill>
                <a:srgbClr val="17365D"/>
              </a:solidFill>
              <a:latin typeface="Verdana" panose="020B0604030504040204"/>
            </a:endParaRPr>
          </a:p>
          <a:p>
            <a:pPr algn="ctr">
              <a:spcBef>
                <a:spcPts val="800"/>
              </a:spcBef>
            </a:pPr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HireAI: A Rule-Based Intelligent Recruitment Expert System with Explainable Decision Support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CS23533 – Foundations of Artificial Intelligence (2026–2027)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Department of Computer Science and Engineering (Cyber Security)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  <a:p>
            <a:pPr algn="ctr"/>
            <a:r>
              <a:rPr sz="1300" b="0">
                <a:solidFill>
                  <a:srgbClr val="17365D"/>
                </a:solidFill>
                <a:latin typeface="Verdana" panose="020B0604030504040204"/>
              </a:rPr>
              <a:t>Rajalakshmi Engineering College (Autonomous)</a:t>
            </a:r>
            <a:endParaRPr sz="1300" b="0">
              <a:solidFill>
                <a:srgbClr val="17365D"/>
              </a:solidFill>
              <a:latin typeface="Verdana" panose="020B060403050404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61*332"/>
  <p:tag name="TABLE_ENDDRAG_RECT" val="60*137*861*332"/>
</p:tagLst>
</file>

<file path=ppt/tags/tag2.xml><?xml version="1.0" encoding="utf-8"?>
<p:tagLst xmlns:p="http://schemas.openxmlformats.org/presentationml/2006/main">
  <p:tag name="KSO_WM_DIAGRAM_VIRTUALLY_FRAME" val="{&quot;height&quot;:338.69192913385825,&quot;left&quot;:51.181102362204726,&quot;top&quot;:135.43307086614172,&quot;width&quot;:915.9177165354331}"/>
</p:tagLst>
</file>

<file path=ppt/tags/tag3.xml><?xml version="1.0" encoding="utf-8"?>
<p:tagLst xmlns:p="http://schemas.openxmlformats.org/presentationml/2006/main">
  <p:tag name="KSO_WM_DIAGRAM_VIRTUALLY_FRAME" val="{&quot;height&quot;:338.69192913385825,&quot;left&quot;:51.181102362204726,&quot;top&quot;:135.43307086614172,&quot;width&quot;:915.9177165354331}"/>
</p:tagLst>
</file>

<file path=ppt/tags/tag4.xml><?xml version="1.0" encoding="utf-8"?>
<p:tagLst xmlns:p="http://schemas.openxmlformats.org/presentationml/2006/main">
  <p:tag name="KSO_WM_DIAGRAM_VIRTUALLY_FRAME" val="{&quot;height&quot;:338.69192913385825,&quot;left&quot;:51.181102362204726,&quot;top&quot;:135.43307086614172,&quot;width&quot;:915.9177165354331}"/>
</p:tagLst>
</file>

<file path=ppt/tags/tag5.xml><?xml version="1.0" encoding="utf-8"?>
<p:tagLst xmlns:p="http://schemas.openxmlformats.org/presentationml/2006/main">
  <p:tag name="KSO_WM_DIAGRAM_VIRTUALLY_FRAME" val="{&quot;height&quot;:338.69192913385825,&quot;left&quot;:51.181102362204726,&quot;top&quot;:135.43307086614172,&quot;width&quot;:915.9177165354331}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23195</Words>
  <Application>WPS Presentation</Application>
  <PresentationFormat>Widescreen</PresentationFormat>
  <Paragraphs>498</Paragraphs>
  <Slides>35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SimSun</vt:lpstr>
      <vt:lpstr>Wingdings</vt:lpstr>
      <vt:lpstr>Verdana</vt:lpstr>
      <vt:lpstr>Verdana</vt:lpstr>
      <vt:lpstr>Wingdings</vt:lpstr>
      <vt:lpstr>Microsoft YaHei</vt:lpstr>
      <vt:lpstr>Arial Unicode MS</vt:lpstr>
      <vt:lpstr>Profile</vt:lpstr>
      <vt:lpstr>PowerPoint 演示文稿</vt:lpstr>
      <vt:lpstr>Problem Statement and Motivation</vt:lpstr>
      <vt:lpstr>Problem Statement and Motivation (cont.)</vt:lpstr>
      <vt:lpstr>Measurable Objectives &amp; Current Status</vt:lpstr>
      <vt:lpstr>Project Progress Since Review 1</vt:lpstr>
      <vt:lpstr>Project Progress Since Review 1 (cont.)</vt:lpstr>
      <vt:lpstr>Project Progress Since Review 1 (cont.)</vt:lpstr>
      <vt:lpstr>Literature Survey – Part 1</vt:lpstr>
      <vt:lpstr>Literature Survey – Part 2</vt:lpstr>
      <vt:lpstr>Research Gap and Project Response</vt:lpstr>
      <vt:lpstr>Research Gap and Project Response (cont.)</vt:lpstr>
      <vt:lpstr>Research Gap and Project Response (cont.)</vt:lpstr>
      <vt:lpstr>Research Gap and Project Response (cont.)</vt:lpstr>
      <vt:lpstr>System Architecture &amp; Processing Pipeline</vt:lpstr>
      <vt:lpstr>Data Flow Diagrams (Level 0 &amp; Level 1 DFD)</vt:lpstr>
      <vt:lpstr>Methodology &amp; Operational Workflow</vt:lpstr>
      <vt:lpstr>Methodology &amp; Operational Workflow (cont.)</vt:lpstr>
      <vt:lpstr>Tools and Technologies Justification</vt:lpstr>
      <vt:lpstr>Tools and Technologies Justification (cont.)</vt:lpstr>
      <vt:lpstr>Tools and Technologies Justification (cont.)</vt:lpstr>
      <vt:lpstr>Tools and Technologies Justification (cont.)</vt:lpstr>
      <vt:lpstr>List of Project Modules</vt:lpstr>
      <vt:lpstr>Module Implementation – Part 1 (Ingestion &amp; Taxonomies)</vt:lpstr>
      <vt:lpstr>Module Implementation – Part 1 (Ingestion &amp; Taxonomies) (cont.)</vt:lpstr>
      <vt:lpstr>Module Implementation – Part 2 (Rule Engine &amp; Kanban)</vt:lpstr>
      <vt:lpstr>Module Implementation – Part 2 (Rule Engine &amp; Kanban) (cont.)</vt:lpstr>
      <vt:lpstr>Preliminary Results and Benchmarking Discussion</vt:lpstr>
      <vt:lpstr>User Interface &amp; Implementation Screenshots</vt:lpstr>
      <vt:lpstr>Challenges Faced and Solutions</vt:lpstr>
      <vt:lpstr>Challenges Faced and Solutions (cont.)</vt:lpstr>
      <vt:lpstr>Work Plan Until Final Review</vt:lpstr>
      <vt:lpstr>Work Plan Until Final Review (cont.)</vt:lpstr>
      <vt:lpstr>References</vt:lpstr>
      <vt:lpstr>References (cont.)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Navanithakrishnan</cp:lastModifiedBy>
  <cp:revision>7</cp:revision>
  <dcterms:created xsi:type="dcterms:W3CDTF">2026-10-13T12:29:00Z</dcterms:created>
  <dcterms:modified xsi:type="dcterms:W3CDTF">2026-10-20T04:37:45Z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E6114E2B6A0D4C1B9F44E5F89072703C_12</vt:lpwstr>
  </property>
  <property fmtid="{D5CDD505-2E9C-101B-9397-08002B2CF9AE}" pid="3" name="KSOProductBuildVer">
    <vt:lpwstr>2057-12.2.0.23206</vt:lpwstr>
  </property>
</Properties>
</file>