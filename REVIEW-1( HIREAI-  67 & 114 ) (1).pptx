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47556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47556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3676" y="2322068"/>
            <a:ext cx="4495800" cy="348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0F172A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54669" y="2322068"/>
            <a:ext cx="4601209" cy="348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0F172A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47556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47556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47556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2000" cy="72136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658495"/>
          </a:xfrm>
          <a:custGeom>
            <a:avLst/>
            <a:gdLst/>
            <a:ahLst/>
            <a:cxnLst/>
            <a:rect l="l" t="t" r="r" b="b"/>
            <a:pathLst>
              <a:path w="12192000" h="658495">
                <a:moveTo>
                  <a:pt x="12191694" y="658367"/>
                </a:moveTo>
                <a:lnTo>
                  <a:pt x="0" y="658367"/>
                </a:lnTo>
                <a:lnTo>
                  <a:pt x="0" y="0"/>
                </a:lnTo>
                <a:lnTo>
                  <a:pt x="12191694" y="0"/>
                </a:lnTo>
                <a:lnTo>
                  <a:pt x="12191694" y="658367"/>
                </a:lnTo>
                <a:close/>
              </a:path>
            </a:pathLst>
          </a:custGeom>
          <a:solidFill>
            <a:srgbClr val="1F37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5945" y="132079"/>
            <a:ext cx="467296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9909" y="1228089"/>
            <a:ext cx="11089640" cy="397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78990" y="6524688"/>
            <a:ext cx="4481195" cy="14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47556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5.png"/><Relationship Id="rId6" Type="http://schemas.openxmlformats.org/officeDocument/2006/relationships/image" Target="../media/image28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2.png"/><Relationship Id="rId6" Type="http://schemas.openxmlformats.org/officeDocument/2006/relationships/image" Target="../media/image7.png"/><Relationship Id="rId5" Type="http://schemas.openxmlformats.org/officeDocument/2006/relationships/image" Target="../media/image41.png"/><Relationship Id="rId4" Type="http://schemas.openxmlformats.org/officeDocument/2006/relationships/image" Target="../media/image8.png"/><Relationship Id="rId3" Type="http://schemas.openxmlformats.org/officeDocument/2006/relationships/image" Target="../media/image40.png"/><Relationship Id="rId2" Type="http://schemas.openxmlformats.org/officeDocument/2006/relationships/image" Target="../media/image11.png"/><Relationship Id="rId1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39.png"/><Relationship Id="rId2" Type="http://schemas.openxmlformats.org/officeDocument/2006/relationships/image" Target="../media/image6.png"/><Relationship Id="rId1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4.png"/><Relationship Id="rId2" Type="http://schemas.openxmlformats.org/officeDocument/2006/relationships/image" Target="../media/image11.png"/><Relationship Id="rId1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11.png"/><Relationship Id="rId1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4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305720" y="497540"/>
            <a:ext cx="3563880" cy="115595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45199" y="1669756"/>
            <a:ext cx="5311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F2547"/>
                </a:solidFill>
              </a:rPr>
              <a:t>RAJALAKSHMI</a:t>
            </a:r>
            <a:r>
              <a:rPr sz="1800" spc="-50" dirty="0">
                <a:solidFill>
                  <a:srgbClr val="0F2547"/>
                </a:solidFill>
              </a:rPr>
              <a:t> </a:t>
            </a:r>
            <a:r>
              <a:rPr sz="1800" dirty="0">
                <a:solidFill>
                  <a:srgbClr val="0F2547"/>
                </a:solidFill>
              </a:rPr>
              <a:t>ENGINEERING</a:t>
            </a:r>
            <a:r>
              <a:rPr sz="1800" spc="-50" dirty="0">
                <a:solidFill>
                  <a:srgbClr val="0F2547"/>
                </a:solidFill>
              </a:rPr>
              <a:t> </a:t>
            </a:r>
            <a:r>
              <a:rPr sz="1800" dirty="0">
                <a:solidFill>
                  <a:srgbClr val="0F2547"/>
                </a:solidFill>
              </a:rPr>
              <a:t>COLLEGE</a:t>
            </a:r>
            <a:r>
              <a:rPr sz="1800" spc="-45" dirty="0">
                <a:solidFill>
                  <a:srgbClr val="0F2547"/>
                </a:solidFill>
              </a:rPr>
              <a:t> </a:t>
            </a:r>
            <a:r>
              <a:rPr sz="1800" spc="-10" dirty="0">
                <a:solidFill>
                  <a:srgbClr val="0F2547"/>
                </a:solidFill>
              </a:rPr>
              <a:t>(AUTONOMOUS)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2765843" y="2083167"/>
            <a:ext cx="7078980" cy="3090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4895" indent="-203835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1064895" algn="l"/>
              </a:tabLst>
            </a:pPr>
            <a:r>
              <a:rPr sz="1300" b="1" spc="-1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DEPARTMENT</a:t>
            </a:r>
            <a:r>
              <a:rPr sz="13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3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COMPUTER</a:t>
            </a:r>
            <a:r>
              <a:rPr sz="13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SCIENCE</a:t>
            </a:r>
            <a:r>
              <a:rPr sz="13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ENGINEERING</a:t>
            </a:r>
            <a:r>
              <a:rPr sz="13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(CYBER</a:t>
            </a:r>
            <a:r>
              <a:rPr sz="13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SECURITY)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865505" indent="-205740">
              <a:lnSpc>
                <a:spcPct val="100000"/>
              </a:lnSpc>
              <a:spcBef>
                <a:spcPts val="1055"/>
              </a:spcBef>
              <a:buFont typeface="Arial" panose="020B0604020202020204"/>
              <a:buChar char="•"/>
              <a:tabLst>
                <a:tab pos="865505" algn="l"/>
              </a:tabLst>
            </a:pPr>
            <a:r>
              <a:rPr sz="1200" b="1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CS23533</a:t>
            </a:r>
            <a:r>
              <a:rPr sz="1200" b="1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–</a:t>
            </a:r>
            <a:r>
              <a:rPr sz="1200" b="1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FOUNDATIONS</a:t>
            </a:r>
            <a:r>
              <a:rPr sz="1200" b="1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b="1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ARTIFICIAL</a:t>
            </a:r>
            <a:r>
              <a:rPr sz="1200" b="1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INTELLIGENCE</a:t>
            </a:r>
            <a:r>
              <a:rPr sz="1200" b="1" spc="2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200" b="1" spc="2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III</a:t>
            </a:r>
            <a:r>
              <a:rPr sz="1200" b="1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YEAR</a:t>
            </a:r>
            <a:r>
              <a:rPr sz="1200" b="1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1200" b="1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1200" b="1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SEM</a:t>
            </a:r>
            <a:r>
              <a:rPr sz="1200" b="1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(2026–</a:t>
            </a:r>
            <a:r>
              <a:rPr sz="1200" b="1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2027)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0F172A"/>
              </a:buClr>
              <a:buFont typeface="Arial" panose="020B0604020202020204"/>
              <a:buChar char="•"/>
            </a:pPr>
            <a:endParaRPr sz="1200">
              <a:latin typeface="Calibri" panose="020F0502020204030204"/>
              <a:cs typeface="Calibri" panose="020F0502020204030204"/>
            </a:endParaRPr>
          </a:p>
          <a:p>
            <a:pPr marL="2817495" lvl="1" indent="-200025">
              <a:lnSpc>
                <a:spcPct val="100000"/>
              </a:lnSpc>
              <a:buFont typeface="Arial" panose="020B0604020202020204"/>
              <a:buChar char="•"/>
              <a:tabLst>
                <a:tab pos="2817495" algn="l"/>
              </a:tabLst>
            </a:pPr>
            <a:r>
              <a:rPr sz="15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PROJECT</a:t>
            </a:r>
            <a:r>
              <a:rPr sz="150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REVIEW</a:t>
            </a:r>
            <a:r>
              <a:rPr sz="15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–</a:t>
            </a:r>
            <a:r>
              <a:rPr sz="150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00" b="1" spc="-5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5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500">
              <a:latin typeface="Calibri" panose="020F0502020204030204"/>
              <a:cs typeface="Calibri" panose="020F0502020204030204"/>
            </a:endParaRPr>
          </a:p>
          <a:p>
            <a:pPr marL="198120" marR="5080" indent="-186055">
              <a:lnSpc>
                <a:spcPts val="2380"/>
              </a:lnSpc>
              <a:buFont typeface="Arial" panose="020B0604020202020204"/>
              <a:buChar char="•"/>
              <a:tabLst>
                <a:tab pos="1656080" algn="l"/>
              </a:tabLst>
            </a:pPr>
            <a:r>
              <a:rPr sz="22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HireAI:</a:t>
            </a:r>
            <a:r>
              <a:rPr sz="2200" b="1" spc="-6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200" b="1" spc="-5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Rule-</a:t>
            </a:r>
            <a:r>
              <a:rPr sz="22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Based</a:t>
            </a:r>
            <a:r>
              <a:rPr sz="2200" b="1" spc="-5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Intelligent</a:t>
            </a:r>
            <a:r>
              <a:rPr sz="2200" b="1" spc="-5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Recruitment</a:t>
            </a:r>
            <a:r>
              <a:rPr sz="2200" b="1" spc="-5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Expert</a:t>
            </a:r>
            <a:r>
              <a:rPr sz="2200" b="1" spc="-5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System </a:t>
            </a:r>
            <a:r>
              <a:rPr sz="22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2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200" b="1" spc="-6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Explainable</a:t>
            </a:r>
            <a:r>
              <a:rPr sz="2200" b="1" spc="-6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Decision</a:t>
            </a:r>
            <a:r>
              <a:rPr sz="2200" b="1" spc="-6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Support</a:t>
            </a:r>
            <a:endParaRPr sz="2200">
              <a:latin typeface="Calibri" panose="020F0502020204030204"/>
              <a:cs typeface="Calibri" panose="020F0502020204030204"/>
            </a:endParaRPr>
          </a:p>
          <a:p>
            <a:pPr marL="612775" lvl="1" indent="-204470">
              <a:lnSpc>
                <a:spcPct val="100000"/>
              </a:lnSpc>
              <a:spcBef>
                <a:spcPts val="1625"/>
              </a:spcBef>
              <a:buFont typeface="Arial" panose="020B0604020202020204"/>
              <a:buChar char="•"/>
              <a:tabLst>
                <a:tab pos="612775" algn="l"/>
              </a:tabLst>
            </a:pPr>
            <a:r>
              <a:rPr sz="1250" dirty="0">
                <a:solidFill>
                  <a:srgbClr val="0D9488"/>
                </a:solidFill>
                <a:latin typeface="SimSun-ExtB" panose="02010609060101010101" charset="-122"/>
                <a:cs typeface="SimSun-ExtB" panose="02010609060101010101" charset="-122"/>
              </a:rPr>
              <a:t>✦</a:t>
            </a:r>
            <a:r>
              <a:rPr sz="1250" spc="-280" dirty="0">
                <a:solidFill>
                  <a:srgbClr val="0D9488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1250" b="1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Pure</a:t>
            </a:r>
            <a:r>
              <a:rPr sz="1250" b="1" spc="-45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b="1" spc="-10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Classical</a:t>
            </a:r>
            <a:r>
              <a:rPr sz="1250" b="1" spc="-25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b="1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1250" b="1" spc="-20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b="1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Architecture</a:t>
            </a:r>
            <a:r>
              <a:rPr sz="1250" b="1" spc="245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b="1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250" b="1" spc="245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b="1" spc="-10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250" b="1" spc="-25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b="1" spc="-10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Forward</a:t>
            </a:r>
            <a:r>
              <a:rPr sz="1250" b="1" spc="-25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b="1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Chaining</a:t>
            </a:r>
            <a:r>
              <a:rPr sz="1250" b="1" spc="245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b="1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250" b="1" spc="245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b="1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250" b="1" spc="-20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Black-</a:t>
            </a:r>
            <a:r>
              <a:rPr sz="1250" b="1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Box</a:t>
            </a:r>
            <a:r>
              <a:rPr sz="1250" b="1" spc="-25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b="1" spc="-20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Bias</a:t>
            </a:r>
            <a:endParaRPr sz="1250">
              <a:latin typeface="Calibri" panose="020F0502020204030204"/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930"/>
              </a:spcBef>
              <a:buClr>
                <a:srgbClr val="0D9488"/>
              </a:buClr>
              <a:buFont typeface="Arial" panose="020B0604020202020204"/>
              <a:buChar char="•"/>
            </a:pPr>
            <a:endParaRPr sz="1250">
              <a:latin typeface="Calibri" panose="020F0502020204030204"/>
              <a:cs typeface="Calibri" panose="020F0502020204030204"/>
            </a:endParaRPr>
          </a:p>
          <a:p>
            <a:pPr marL="3198495" lvl="2" indent="-205740">
              <a:lnSpc>
                <a:spcPct val="100000"/>
              </a:lnSpc>
              <a:buFont typeface="Arial" panose="020B0604020202020204"/>
              <a:buChar char="•"/>
              <a:tabLst>
                <a:tab pos="3198495" algn="l"/>
              </a:tabLst>
            </a:pPr>
            <a:r>
              <a:rPr sz="12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Presented</a:t>
            </a:r>
            <a:r>
              <a:rPr sz="1200" b="1" spc="-4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By: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672465" indent="-203200">
              <a:lnSpc>
                <a:spcPct val="100000"/>
              </a:lnSpc>
              <a:spcBef>
                <a:spcPts val="1040"/>
              </a:spcBef>
              <a:buFont typeface="Arial" panose="020B0604020202020204"/>
              <a:buChar char="•"/>
              <a:tabLst>
                <a:tab pos="672465" algn="l"/>
                <a:tab pos="3500120" algn="l"/>
                <a:tab pos="3736975" algn="l"/>
              </a:tabLst>
            </a:pPr>
            <a:r>
              <a:rPr sz="1350" b="1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241901114</a:t>
            </a:r>
            <a:r>
              <a:rPr sz="1350" b="1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–</a:t>
            </a:r>
            <a:r>
              <a:rPr sz="1350" b="1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SURVESVARAKUMAR</a:t>
            </a:r>
            <a:r>
              <a:rPr sz="1350" b="1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</a:t>
            </a:r>
            <a:r>
              <a:rPr sz="1350" b="1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350" b="1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350" b="1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241901067</a:t>
            </a:r>
            <a:r>
              <a:rPr sz="1350" b="1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–</a:t>
            </a:r>
            <a:r>
              <a:rPr sz="1350" b="1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NAVANEETHA</a:t>
            </a:r>
            <a:r>
              <a:rPr sz="1350" b="1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KRISHNAN</a:t>
            </a:r>
            <a:r>
              <a:rPr sz="1350" b="1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</a:t>
            </a:r>
            <a:endParaRPr sz="13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4739" y="6428676"/>
            <a:ext cx="3896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Rajalakshmi</a:t>
            </a:r>
            <a:r>
              <a:rPr sz="1200" spc="-5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Engineering</a:t>
            </a:r>
            <a:r>
              <a:rPr sz="1200" spc="-5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College,Department</a:t>
            </a:r>
            <a:r>
              <a:rPr sz="120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 of</a:t>
            </a:r>
            <a:r>
              <a:rPr sz="1200" spc="-5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Cyber </a:t>
            </a:r>
            <a:r>
              <a:rPr sz="120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Security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559890" y="155447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9597" y="1166957"/>
            <a:ext cx="3564254" cy="455295"/>
            <a:chOff x="549597" y="1166957"/>
            <a:chExt cx="3564254" cy="45529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9597" y="1166957"/>
              <a:ext cx="3564245" cy="45528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188720"/>
              <a:ext cx="3474720" cy="365760"/>
            </a:xfrm>
            <a:custGeom>
              <a:avLst/>
              <a:gdLst/>
              <a:ahLst/>
              <a:cxnLst/>
              <a:rect l="l" t="t" r="r" b="b"/>
              <a:pathLst>
                <a:path w="3474720" h="365759">
                  <a:moveTo>
                    <a:pt x="3413758" y="365759"/>
                  </a:move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3413758" y="0"/>
                  </a:lnTo>
                  <a:lnTo>
                    <a:pt x="3456864" y="17855"/>
                  </a:lnTo>
                  <a:lnTo>
                    <a:pt x="3474719" y="60961"/>
                  </a:lnTo>
                  <a:lnTo>
                    <a:pt x="3474719" y="304798"/>
                  </a:lnTo>
                  <a:lnTo>
                    <a:pt x="3469929" y="328527"/>
                  </a:lnTo>
                  <a:lnTo>
                    <a:pt x="3456864" y="347904"/>
                  </a:lnTo>
                  <a:lnTo>
                    <a:pt x="3437487" y="360969"/>
                  </a:lnTo>
                  <a:lnTo>
                    <a:pt x="3413758" y="36575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359" y="1188720"/>
              <a:ext cx="3474720" cy="365760"/>
            </a:xfrm>
            <a:custGeom>
              <a:avLst/>
              <a:gdLst/>
              <a:ahLst/>
              <a:cxnLst/>
              <a:rect l="l" t="t" r="r" b="b"/>
              <a:pathLst>
                <a:path w="3474720" h="365759">
                  <a:moveTo>
                    <a:pt x="0" y="60961"/>
                  </a:move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3413758" y="0"/>
                  </a:lnTo>
                  <a:lnTo>
                    <a:pt x="3456864" y="17855"/>
                  </a:lnTo>
                  <a:lnTo>
                    <a:pt x="3474719" y="60961"/>
                  </a:lnTo>
                  <a:lnTo>
                    <a:pt x="3474719" y="304798"/>
                  </a:lnTo>
                  <a:lnTo>
                    <a:pt x="3469929" y="328527"/>
                  </a:lnTo>
                  <a:lnTo>
                    <a:pt x="3456864" y="347904"/>
                  </a:lnTo>
                  <a:lnTo>
                    <a:pt x="3437487" y="360969"/>
                  </a:lnTo>
                  <a:lnTo>
                    <a:pt x="3413758" y="365759"/>
                  </a:ln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465293" y="1269491"/>
            <a:ext cx="16941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UNIT</a:t>
            </a:r>
            <a:r>
              <a:rPr sz="11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I:</a:t>
            </a:r>
            <a:r>
              <a:rPr sz="11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INTELLIGENT</a:t>
            </a:r>
            <a:r>
              <a:rPr sz="11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AGENTS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98637" y="1166957"/>
            <a:ext cx="3564254" cy="455295"/>
            <a:chOff x="4298637" y="1166957"/>
            <a:chExt cx="3564254" cy="455295"/>
          </a:xfrm>
        </p:grpSpPr>
        <p:pic>
          <p:nvPicPr>
            <p:cNvPr id="10" name="object 1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298637" y="1166957"/>
              <a:ext cx="3564245" cy="45528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43399" y="1188720"/>
              <a:ext cx="3474720" cy="365760"/>
            </a:xfrm>
            <a:custGeom>
              <a:avLst/>
              <a:gdLst/>
              <a:ahLst/>
              <a:cxnLst/>
              <a:rect l="l" t="t" r="r" b="b"/>
              <a:pathLst>
                <a:path w="3474720" h="365759">
                  <a:moveTo>
                    <a:pt x="3413758" y="365759"/>
                  </a:move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3413758" y="0"/>
                  </a:lnTo>
                  <a:lnTo>
                    <a:pt x="3456864" y="17855"/>
                  </a:lnTo>
                  <a:lnTo>
                    <a:pt x="3474719" y="60961"/>
                  </a:lnTo>
                  <a:lnTo>
                    <a:pt x="3474719" y="304798"/>
                  </a:lnTo>
                  <a:lnTo>
                    <a:pt x="3469929" y="328527"/>
                  </a:lnTo>
                  <a:lnTo>
                    <a:pt x="3456864" y="347904"/>
                  </a:lnTo>
                  <a:lnTo>
                    <a:pt x="3437487" y="360969"/>
                  </a:lnTo>
                  <a:lnTo>
                    <a:pt x="3413758" y="365759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43399" y="1188720"/>
              <a:ext cx="3474720" cy="365760"/>
            </a:xfrm>
            <a:custGeom>
              <a:avLst/>
              <a:gdLst/>
              <a:ahLst/>
              <a:cxnLst/>
              <a:rect l="l" t="t" r="r" b="b"/>
              <a:pathLst>
                <a:path w="3474720" h="365759">
                  <a:moveTo>
                    <a:pt x="0" y="60961"/>
                  </a:move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3413758" y="0"/>
                  </a:lnTo>
                  <a:lnTo>
                    <a:pt x="3456864" y="17855"/>
                  </a:lnTo>
                  <a:lnTo>
                    <a:pt x="3474719" y="60961"/>
                  </a:lnTo>
                  <a:lnTo>
                    <a:pt x="3474719" y="304798"/>
                  </a:lnTo>
                  <a:lnTo>
                    <a:pt x="3469929" y="328527"/>
                  </a:lnTo>
                  <a:lnTo>
                    <a:pt x="3456864" y="347904"/>
                  </a:lnTo>
                  <a:lnTo>
                    <a:pt x="3437487" y="360969"/>
                  </a:lnTo>
                  <a:lnTo>
                    <a:pt x="3413758" y="365759"/>
                  </a:ln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119699" y="1269491"/>
            <a:ext cx="187896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UNIT</a:t>
            </a:r>
            <a:r>
              <a:rPr sz="11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IV:</a:t>
            </a:r>
            <a:r>
              <a:rPr sz="11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KNOWLEDGE-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BASED </a:t>
            </a:r>
            <a:r>
              <a:rPr sz="11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AI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47677" y="1166957"/>
            <a:ext cx="3592195" cy="455295"/>
            <a:chOff x="8047677" y="1166957"/>
            <a:chExt cx="3592195" cy="45529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7677" y="1166957"/>
              <a:ext cx="3591677" cy="45528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92439" y="1188720"/>
              <a:ext cx="3502660" cy="365760"/>
            </a:xfrm>
            <a:custGeom>
              <a:avLst/>
              <a:gdLst/>
              <a:ahLst/>
              <a:cxnLst/>
              <a:rect l="l" t="t" r="r" b="b"/>
              <a:pathLst>
                <a:path w="3502659" h="365759">
                  <a:moveTo>
                    <a:pt x="3441190" y="365759"/>
                  </a:move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3441190" y="0"/>
                  </a:lnTo>
                  <a:lnTo>
                    <a:pt x="3484296" y="17855"/>
                  </a:lnTo>
                  <a:lnTo>
                    <a:pt x="3502152" y="60961"/>
                  </a:lnTo>
                  <a:lnTo>
                    <a:pt x="3502152" y="304798"/>
                  </a:lnTo>
                  <a:lnTo>
                    <a:pt x="3497361" y="328527"/>
                  </a:lnTo>
                  <a:lnTo>
                    <a:pt x="3484296" y="347904"/>
                  </a:lnTo>
                  <a:lnTo>
                    <a:pt x="3464919" y="360969"/>
                  </a:lnTo>
                  <a:lnTo>
                    <a:pt x="3441190" y="36575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092439" y="1188720"/>
              <a:ext cx="3502660" cy="365760"/>
            </a:xfrm>
            <a:custGeom>
              <a:avLst/>
              <a:gdLst/>
              <a:ahLst/>
              <a:cxnLst/>
              <a:rect l="l" t="t" r="r" b="b"/>
              <a:pathLst>
                <a:path w="3502659" h="365759">
                  <a:moveTo>
                    <a:pt x="0" y="60961"/>
                  </a:move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3441190" y="0"/>
                  </a:lnTo>
                  <a:lnTo>
                    <a:pt x="3484296" y="17855"/>
                  </a:lnTo>
                  <a:lnTo>
                    <a:pt x="3502152" y="60961"/>
                  </a:lnTo>
                  <a:lnTo>
                    <a:pt x="3502152" y="304798"/>
                  </a:lnTo>
                  <a:lnTo>
                    <a:pt x="3497361" y="328527"/>
                  </a:lnTo>
                  <a:lnTo>
                    <a:pt x="3484296" y="347904"/>
                  </a:lnTo>
                  <a:lnTo>
                    <a:pt x="3464919" y="360969"/>
                  </a:lnTo>
                  <a:lnTo>
                    <a:pt x="3441190" y="365759"/>
                  </a:ln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close/>
                </a:path>
              </a:pathLst>
            </a:custGeom>
            <a:ln w="9524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822284" y="1269491"/>
            <a:ext cx="19951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100%</a:t>
            </a:r>
            <a:r>
              <a:rPr sz="11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EXPLAINABLE</a:t>
            </a:r>
            <a:r>
              <a:rPr sz="1100" b="1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PROOF</a:t>
            </a:r>
            <a:r>
              <a:rPr sz="11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TRACE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44835" y="1665115"/>
            <a:ext cx="3601720" cy="3573779"/>
            <a:chOff x="544835" y="1665115"/>
            <a:chExt cx="3601720" cy="3573779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835" y="1665115"/>
              <a:ext cx="3601202" cy="357377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94359" y="1691639"/>
              <a:ext cx="3502660" cy="3474720"/>
            </a:xfrm>
            <a:custGeom>
              <a:avLst/>
              <a:gdLst/>
              <a:ahLst/>
              <a:cxnLst/>
              <a:rect l="l" t="t" r="r" b="b"/>
              <a:pathLst>
                <a:path w="3502660" h="3474720">
                  <a:moveTo>
                    <a:pt x="2923020" y="3474719"/>
                  </a:moveTo>
                  <a:lnTo>
                    <a:pt x="579131" y="3474719"/>
                  </a:lnTo>
                  <a:lnTo>
                    <a:pt x="531633" y="3472800"/>
                  </a:lnTo>
                  <a:lnTo>
                    <a:pt x="485193" y="3467140"/>
                  </a:lnTo>
                  <a:lnTo>
                    <a:pt x="439959" y="3457888"/>
                  </a:lnTo>
                  <a:lnTo>
                    <a:pt x="396081" y="3445195"/>
                  </a:lnTo>
                  <a:lnTo>
                    <a:pt x="353707" y="3429208"/>
                  </a:lnTo>
                  <a:lnTo>
                    <a:pt x="312987" y="3410078"/>
                  </a:lnTo>
                  <a:lnTo>
                    <a:pt x="274069" y="3387952"/>
                  </a:lnTo>
                  <a:lnTo>
                    <a:pt x="237103" y="3362981"/>
                  </a:lnTo>
                  <a:lnTo>
                    <a:pt x="202238" y="3335312"/>
                  </a:lnTo>
                  <a:lnTo>
                    <a:pt x="169623" y="3305096"/>
                  </a:lnTo>
                  <a:lnTo>
                    <a:pt x="139407" y="3272480"/>
                  </a:lnTo>
                  <a:lnTo>
                    <a:pt x="111738" y="3237615"/>
                  </a:lnTo>
                  <a:lnTo>
                    <a:pt x="86767" y="3200650"/>
                  </a:lnTo>
                  <a:lnTo>
                    <a:pt x="64641" y="3161732"/>
                  </a:lnTo>
                  <a:lnTo>
                    <a:pt x="45511" y="3121012"/>
                  </a:lnTo>
                  <a:lnTo>
                    <a:pt x="29524" y="3078638"/>
                  </a:lnTo>
                  <a:lnTo>
                    <a:pt x="16831" y="3034760"/>
                  </a:lnTo>
                  <a:lnTo>
                    <a:pt x="7579" y="2989526"/>
                  </a:lnTo>
                  <a:lnTo>
                    <a:pt x="1919" y="2943086"/>
                  </a:lnTo>
                  <a:lnTo>
                    <a:pt x="0" y="2895588"/>
                  </a:lnTo>
                  <a:lnTo>
                    <a:pt x="0" y="579131"/>
                  </a:lnTo>
                  <a:lnTo>
                    <a:pt x="1919" y="531633"/>
                  </a:lnTo>
                  <a:lnTo>
                    <a:pt x="7579" y="485193"/>
                  </a:lnTo>
                  <a:lnTo>
                    <a:pt x="16831" y="439959"/>
                  </a:lnTo>
                  <a:lnTo>
                    <a:pt x="29524" y="396081"/>
                  </a:lnTo>
                  <a:lnTo>
                    <a:pt x="45511" y="353707"/>
                  </a:lnTo>
                  <a:lnTo>
                    <a:pt x="64641" y="312987"/>
                  </a:lnTo>
                  <a:lnTo>
                    <a:pt x="86767" y="274069"/>
                  </a:lnTo>
                  <a:lnTo>
                    <a:pt x="111738" y="237104"/>
                  </a:lnTo>
                  <a:lnTo>
                    <a:pt x="139407" y="202238"/>
                  </a:lnTo>
                  <a:lnTo>
                    <a:pt x="169623" y="169623"/>
                  </a:lnTo>
                  <a:lnTo>
                    <a:pt x="202238" y="139407"/>
                  </a:lnTo>
                  <a:lnTo>
                    <a:pt x="237103" y="111738"/>
                  </a:lnTo>
                  <a:lnTo>
                    <a:pt x="274069" y="86767"/>
                  </a:lnTo>
                  <a:lnTo>
                    <a:pt x="312987" y="64641"/>
                  </a:lnTo>
                  <a:lnTo>
                    <a:pt x="353707" y="45511"/>
                  </a:lnTo>
                  <a:lnTo>
                    <a:pt x="396081" y="29524"/>
                  </a:lnTo>
                  <a:lnTo>
                    <a:pt x="439959" y="16831"/>
                  </a:lnTo>
                  <a:lnTo>
                    <a:pt x="485193" y="7579"/>
                  </a:lnTo>
                  <a:lnTo>
                    <a:pt x="531633" y="1919"/>
                  </a:lnTo>
                  <a:lnTo>
                    <a:pt x="579131" y="0"/>
                  </a:lnTo>
                  <a:lnTo>
                    <a:pt x="2923020" y="0"/>
                  </a:lnTo>
                  <a:lnTo>
                    <a:pt x="2973941" y="2241"/>
                  </a:lnTo>
                  <a:lnTo>
                    <a:pt x="3024129" y="8892"/>
                  </a:lnTo>
                  <a:lnTo>
                    <a:pt x="3073318" y="19841"/>
                  </a:lnTo>
                  <a:lnTo>
                    <a:pt x="3121241" y="34978"/>
                  </a:lnTo>
                  <a:lnTo>
                    <a:pt x="3167631" y="54194"/>
                  </a:lnTo>
                  <a:lnTo>
                    <a:pt x="3212221" y="77376"/>
                  </a:lnTo>
                  <a:lnTo>
                    <a:pt x="3254745" y="104416"/>
                  </a:lnTo>
                  <a:lnTo>
                    <a:pt x="3294936" y="135202"/>
                  </a:lnTo>
                  <a:lnTo>
                    <a:pt x="3332528" y="169623"/>
                  </a:lnTo>
                  <a:lnTo>
                    <a:pt x="3366949" y="207215"/>
                  </a:lnTo>
                  <a:lnTo>
                    <a:pt x="3397735" y="247406"/>
                  </a:lnTo>
                  <a:lnTo>
                    <a:pt x="3424775" y="289930"/>
                  </a:lnTo>
                  <a:lnTo>
                    <a:pt x="3447957" y="334520"/>
                  </a:lnTo>
                  <a:lnTo>
                    <a:pt x="3467173" y="380910"/>
                  </a:lnTo>
                  <a:lnTo>
                    <a:pt x="3482310" y="428833"/>
                  </a:lnTo>
                  <a:lnTo>
                    <a:pt x="3493259" y="478022"/>
                  </a:lnTo>
                  <a:lnTo>
                    <a:pt x="3499910" y="528210"/>
                  </a:lnTo>
                  <a:lnTo>
                    <a:pt x="3502151" y="579131"/>
                  </a:lnTo>
                  <a:lnTo>
                    <a:pt x="3502151" y="2895588"/>
                  </a:lnTo>
                  <a:lnTo>
                    <a:pt x="3500232" y="2943086"/>
                  </a:lnTo>
                  <a:lnTo>
                    <a:pt x="3494572" y="2989526"/>
                  </a:lnTo>
                  <a:lnTo>
                    <a:pt x="3485320" y="3034760"/>
                  </a:lnTo>
                  <a:lnTo>
                    <a:pt x="3472627" y="3078638"/>
                  </a:lnTo>
                  <a:lnTo>
                    <a:pt x="3456640" y="3121012"/>
                  </a:lnTo>
                  <a:lnTo>
                    <a:pt x="3437510" y="3161732"/>
                  </a:lnTo>
                  <a:lnTo>
                    <a:pt x="3415384" y="3200650"/>
                  </a:lnTo>
                  <a:lnTo>
                    <a:pt x="3390413" y="3237615"/>
                  </a:lnTo>
                  <a:lnTo>
                    <a:pt x="3362744" y="3272480"/>
                  </a:lnTo>
                  <a:lnTo>
                    <a:pt x="3332528" y="3305096"/>
                  </a:lnTo>
                  <a:lnTo>
                    <a:pt x="3299912" y="3335312"/>
                  </a:lnTo>
                  <a:lnTo>
                    <a:pt x="3265047" y="3362981"/>
                  </a:lnTo>
                  <a:lnTo>
                    <a:pt x="3228082" y="3387952"/>
                  </a:lnTo>
                  <a:lnTo>
                    <a:pt x="3189164" y="3410078"/>
                  </a:lnTo>
                  <a:lnTo>
                    <a:pt x="3148444" y="3429208"/>
                  </a:lnTo>
                  <a:lnTo>
                    <a:pt x="3106070" y="3445195"/>
                  </a:lnTo>
                  <a:lnTo>
                    <a:pt x="3062192" y="3457888"/>
                  </a:lnTo>
                  <a:lnTo>
                    <a:pt x="3016958" y="3467140"/>
                  </a:lnTo>
                  <a:lnTo>
                    <a:pt x="2970518" y="3472800"/>
                  </a:lnTo>
                  <a:lnTo>
                    <a:pt x="2923020" y="34747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94359" y="1691639"/>
              <a:ext cx="3502660" cy="3474720"/>
            </a:xfrm>
            <a:custGeom>
              <a:avLst/>
              <a:gdLst/>
              <a:ahLst/>
              <a:cxnLst/>
              <a:rect l="l" t="t" r="r" b="b"/>
              <a:pathLst>
                <a:path w="3502660" h="3474720">
                  <a:moveTo>
                    <a:pt x="0" y="579131"/>
                  </a:moveTo>
                  <a:lnTo>
                    <a:pt x="1919" y="531633"/>
                  </a:lnTo>
                  <a:lnTo>
                    <a:pt x="7579" y="485193"/>
                  </a:lnTo>
                  <a:lnTo>
                    <a:pt x="16831" y="439959"/>
                  </a:lnTo>
                  <a:lnTo>
                    <a:pt x="29524" y="396081"/>
                  </a:lnTo>
                  <a:lnTo>
                    <a:pt x="45511" y="353707"/>
                  </a:lnTo>
                  <a:lnTo>
                    <a:pt x="64641" y="312987"/>
                  </a:lnTo>
                  <a:lnTo>
                    <a:pt x="86767" y="274069"/>
                  </a:lnTo>
                  <a:lnTo>
                    <a:pt x="111738" y="237104"/>
                  </a:lnTo>
                  <a:lnTo>
                    <a:pt x="139407" y="202238"/>
                  </a:lnTo>
                  <a:lnTo>
                    <a:pt x="169623" y="169623"/>
                  </a:lnTo>
                  <a:lnTo>
                    <a:pt x="202238" y="139407"/>
                  </a:lnTo>
                  <a:lnTo>
                    <a:pt x="237103" y="111738"/>
                  </a:lnTo>
                  <a:lnTo>
                    <a:pt x="274069" y="86767"/>
                  </a:lnTo>
                  <a:lnTo>
                    <a:pt x="312987" y="64641"/>
                  </a:lnTo>
                  <a:lnTo>
                    <a:pt x="353707" y="45511"/>
                  </a:lnTo>
                  <a:lnTo>
                    <a:pt x="396081" y="29524"/>
                  </a:lnTo>
                  <a:lnTo>
                    <a:pt x="439959" y="16831"/>
                  </a:lnTo>
                  <a:lnTo>
                    <a:pt x="485193" y="7579"/>
                  </a:lnTo>
                  <a:lnTo>
                    <a:pt x="531633" y="1919"/>
                  </a:lnTo>
                  <a:lnTo>
                    <a:pt x="579131" y="0"/>
                  </a:lnTo>
                  <a:lnTo>
                    <a:pt x="2923020" y="0"/>
                  </a:lnTo>
                  <a:lnTo>
                    <a:pt x="2973941" y="2241"/>
                  </a:lnTo>
                  <a:lnTo>
                    <a:pt x="3024129" y="8892"/>
                  </a:lnTo>
                  <a:lnTo>
                    <a:pt x="3073318" y="19841"/>
                  </a:lnTo>
                  <a:lnTo>
                    <a:pt x="3121241" y="34978"/>
                  </a:lnTo>
                  <a:lnTo>
                    <a:pt x="3167631" y="54194"/>
                  </a:lnTo>
                  <a:lnTo>
                    <a:pt x="3212221" y="77376"/>
                  </a:lnTo>
                  <a:lnTo>
                    <a:pt x="3254745" y="104416"/>
                  </a:lnTo>
                  <a:lnTo>
                    <a:pt x="3294936" y="135202"/>
                  </a:lnTo>
                  <a:lnTo>
                    <a:pt x="3332528" y="169623"/>
                  </a:lnTo>
                  <a:lnTo>
                    <a:pt x="3366949" y="207215"/>
                  </a:lnTo>
                  <a:lnTo>
                    <a:pt x="3397735" y="247406"/>
                  </a:lnTo>
                  <a:lnTo>
                    <a:pt x="3424775" y="289930"/>
                  </a:lnTo>
                  <a:lnTo>
                    <a:pt x="3447957" y="334520"/>
                  </a:lnTo>
                  <a:lnTo>
                    <a:pt x="3467173" y="380910"/>
                  </a:lnTo>
                  <a:lnTo>
                    <a:pt x="3482310" y="428833"/>
                  </a:lnTo>
                  <a:lnTo>
                    <a:pt x="3493259" y="478022"/>
                  </a:lnTo>
                  <a:lnTo>
                    <a:pt x="3499910" y="528210"/>
                  </a:lnTo>
                  <a:lnTo>
                    <a:pt x="3502151" y="579131"/>
                  </a:lnTo>
                  <a:lnTo>
                    <a:pt x="3502151" y="2895588"/>
                  </a:lnTo>
                  <a:lnTo>
                    <a:pt x="3500232" y="2943086"/>
                  </a:lnTo>
                  <a:lnTo>
                    <a:pt x="3494572" y="2989526"/>
                  </a:lnTo>
                  <a:lnTo>
                    <a:pt x="3485320" y="3034760"/>
                  </a:lnTo>
                  <a:lnTo>
                    <a:pt x="3472627" y="3078638"/>
                  </a:lnTo>
                  <a:lnTo>
                    <a:pt x="3456640" y="3121012"/>
                  </a:lnTo>
                  <a:lnTo>
                    <a:pt x="3437510" y="3161732"/>
                  </a:lnTo>
                  <a:lnTo>
                    <a:pt x="3415384" y="3200650"/>
                  </a:lnTo>
                  <a:lnTo>
                    <a:pt x="3390413" y="3237615"/>
                  </a:lnTo>
                  <a:lnTo>
                    <a:pt x="3362744" y="3272480"/>
                  </a:lnTo>
                  <a:lnTo>
                    <a:pt x="3332528" y="3305096"/>
                  </a:lnTo>
                  <a:lnTo>
                    <a:pt x="3299912" y="3335312"/>
                  </a:lnTo>
                  <a:lnTo>
                    <a:pt x="3265047" y="3362981"/>
                  </a:lnTo>
                  <a:lnTo>
                    <a:pt x="3228082" y="3387952"/>
                  </a:lnTo>
                  <a:lnTo>
                    <a:pt x="3189164" y="3410078"/>
                  </a:lnTo>
                  <a:lnTo>
                    <a:pt x="3148444" y="3429208"/>
                  </a:lnTo>
                  <a:lnTo>
                    <a:pt x="3106070" y="3445195"/>
                  </a:lnTo>
                  <a:lnTo>
                    <a:pt x="3062192" y="3457888"/>
                  </a:lnTo>
                  <a:lnTo>
                    <a:pt x="3016958" y="3467140"/>
                  </a:lnTo>
                  <a:lnTo>
                    <a:pt x="2970518" y="3472800"/>
                  </a:lnTo>
                  <a:lnTo>
                    <a:pt x="2923020" y="3474719"/>
                  </a:lnTo>
                  <a:lnTo>
                    <a:pt x="579131" y="3474719"/>
                  </a:lnTo>
                  <a:lnTo>
                    <a:pt x="531633" y="3472800"/>
                  </a:lnTo>
                  <a:lnTo>
                    <a:pt x="485193" y="3467140"/>
                  </a:lnTo>
                  <a:lnTo>
                    <a:pt x="439959" y="3457888"/>
                  </a:lnTo>
                  <a:lnTo>
                    <a:pt x="396081" y="3445195"/>
                  </a:lnTo>
                  <a:lnTo>
                    <a:pt x="353707" y="3429208"/>
                  </a:lnTo>
                  <a:lnTo>
                    <a:pt x="312987" y="3410078"/>
                  </a:lnTo>
                  <a:lnTo>
                    <a:pt x="274069" y="3387952"/>
                  </a:lnTo>
                  <a:lnTo>
                    <a:pt x="237103" y="3362981"/>
                  </a:lnTo>
                  <a:lnTo>
                    <a:pt x="202238" y="3335312"/>
                  </a:lnTo>
                  <a:lnTo>
                    <a:pt x="169623" y="3305096"/>
                  </a:lnTo>
                  <a:lnTo>
                    <a:pt x="139407" y="3272480"/>
                  </a:lnTo>
                  <a:lnTo>
                    <a:pt x="111738" y="3237615"/>
                  </a:lnTo>
                  <a:lnTo>
                    <a:pt x="86767" y="3200650"/>
                  </a:lnTo>
                  <a:lnTo>
                    <a:pt x="64641" y="3161732"/>
                  </a:lnTo>
                  <a:lnTo>
                    <a:pt x="45511" y="3121012"/>
                  </a:lnTo>
                  <a:lnTo>
                    <a:pt x="29524" y="3078638"/>
                  </a:lnTo>
                  <a:lnTo>
                    <a:pt x="16831" y="3034760"/>
                  </a:lnTo>
                  <a:lnTo>
                    <a:pt x="7579" y="2989526"/>
                  </a:lnTo>
                  <a:lnTo>
                    <a:pt x="1919" y="2943086"/>
                  </a:lnTo>
                  <a:lnTo>
                    <a:pt x="0" y="2895588"/>
                  </a:lnTo>
                  <a:lnTo>
                    <a:pt x="0" y="579131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/>
          <p:cNvGrpSpPr/>
          <p:nvPr/>
        </p:nvGrpSpPr>
        <p:grpSpPr>
          <a:xfrm>
            <a:off x="549597" y="1669877"/>
            <a:ext cx="3592195" cy="528955"/>
            <a:chOff x="549597" y="1669877"/>
            <a:chExt cx="3592195" cy="528955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597" y="1669877"/>
              <a:ext cx="3591677" cy="52843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94359" y="16916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60" h="439419">
                  <a:moveTo>
                    <a:pt x="3428998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4" y="12290"/>
                  </a:lnTo>
                  <a:lnTo>
                    <a:pt x="3496583" y="45158"/>
                  </a:lnTo>
                  <a:lnTo>
                    <a:pt x="3502151" y="73153"/>
                  </a:lnTo>
                  <a:lnTo>
                    <a:pt x="3502151" y="365758"/>
                  </a:lnTo>
                  <a:lnTo>
                    <a:pt x="3496403" y="394233"/>
                  </a:lnTo>
                  <a:lnTo>
                    <a:pt x="3480725" y="417485"/>
                  </a:lnTo>
                  <a:lnTo>
                    <a:pt x="3457473" y="433163"/>
                  </a:lnTo>
                  <a:lnTo>
                    <a:pt x="3428998" y="438911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94359" y="16916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6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4" y="12290"/>
                  </a:lnTo>
                  <a:lnTo>
                    <a:pt x="3496583" y="45158"/>
                  </a:lnTo>
                  <a:lnTo>
                    <a:pt x="3502151" y="73153"/>
                  </a:lnTo>
                  <a:lnTo>
                    <a:pt x="3502151" y="365758"/>
                  </a:lnTo>
                  <a:lnTo>
                    <a:pt x="3496403" y="394233"/>
                  </a:lnTo>
                  <a:lnTo>
                    <a:pt x="3480725" y="417485"/>
                  </a:lnTo>
                  <a:lnTo>
                    <a:pt x="3457473" y="433163"/>
                  </a:lnTo>
                  <a:lnTo>
                    <a:pt x="3428998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53728" y="1815007"/>
              <a:ext cx="221258" cy="208243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602469" y="1789366"/>
            <a:ext cx="17341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KNOWLEDGE-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BASED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AI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3206" y="2782760"/>
            <a:ext cx="27882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Project</a:t>
            </a:r>
            <a:r>
              <a:rPr sz="1400" b="1" spc="-5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Domain:</a:t>
            </a:r>
            <a:r>
              <a:rPr sz="1400" b="1" spc="1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Classical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AI,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Knowledge-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Based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Expert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Systems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(KBES),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Explainable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Decision Support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(EDSS).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3206" y="3493960"/>
            <a:ext cx="248285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Symbolic</a:t>
            </a:r>
            <a:r>
              <a:rPr sz="14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Logic:</a:t>
            </a:r>
            <a:r>
              <a:rPr sz="1400" b="1" spc="15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Replaces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opaque statistical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models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deterministic First-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Order</a:t>
            </a:r>
            <a:r>
              <a:rPr sz="1300" spc="-5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Logic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Horn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clauses.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3206" y="4205160"/>
            <a:ext cx="271843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Formal</a:t>
            </a:r>
            <a:r>
              <a:rPr sz="140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Model:</a:t>
            </a:r>
            <a:r>
              <a:rPr sz="1400" b="1" spc="20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Goal-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Based Intelligent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Agent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operating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over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curated knowledge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facts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job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rules.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293875" y="1665115"/>
            <a:ext cx="3601720" cy="3573779"/>
            <a:chOff x="4293875" y="1665115"/>
            <a:chExt cx="3601720" cy="3573779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3875" y="1665115"/>
              <a:ext cx="3601202" cy="357377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343399" y="1691639"/>
              <a:ext cx="3502660" cy="3474720"/>
            </a:xfrm>
            <a:custGeom>
              <a:avLst/>
              <a:gdLst/>
              <a:ahLst/>
              <a:cxnLst/>
              <a:rect l="l" t="t" r="r" b="b"/>
              <a:pathLst>
                <a:path w="3502659" h="3474720">
                  <a:moveTo>
                    <a:pt x="2923019" y="3474719"/>
                  </a:moveTo>
                  <a:lnTo>
                    <a:pt x="579131" y="3474719"/>
                  </a:lnTo>
                  <a:lnTo>
                    <a:pt x="531633" y="3472800"/>
                  </a:lnTo>
                  <a:lnTo>
                    <a:pt x="485193" y="3467140"/>
                  </a:lnTo>
                  <a:lnTo>
                    <a:pt x="439959" y="3457888"/>
                  </a:lnTo>
                  <a:lnTo>
                    <a:pt x="396081" y="3445195"/>
                  </a:lnTo>
                  <a:lnTo>
                    <a:pt x="353707" y="3429208"/>
                  </a:lnTo>
                  <a:lnTo>
                    <a:pt x="312987" y="3410078"/>
                  </a:lnTo>
                  <a:lnTo>
                    <a:pt x="274069" y="3387952"/>
                  </a:lnTo>
                  <a:lnTo>
                    <a:pt x="237104" y="3362981"/>
                  </a:lnTo>
                  <a:lnTo>
                    <a:pt x="202238" y="3335312"/>
                  </a:lnTo>
                  <a:lnTo>
                    <a:pt x="169623" y="3305096"/>
                  </a:lnTo>
                  <a:lnTo>
                    <a:pt x="139407" y="3272480"/>
                  </a:lnTo>
                  <a:lnTo>
                    <a:pt x="111738" y="3237615"/>
                  </a:lnTo>
                  <a:lnTo>
                    <a:pt x="86767" y="3200650"/>
                  </a:lnTo>
                  <a:lnTo>
                    <a:pt x="64641" y="3161732"/>
                  </a:lnTo>
                  <a:lnTo>
                    <a:pt x="45511" y="3121012"/>
                  </a:lnTo>
                  <a:lnTo>
                    <a:pt x="29524" y="3078638"/>
                  </a:lnTo>
                  <a:lnTo>
                    <a:pt x="16831" y="3034760"/>
                  </a:lnTo>
                  <a:lnTo>
                    <a:pt x="7579" y="2989526"/>
                  </a:lnTo>
                  <a:lnTo>
                    <a:pt x="1919" y="2943086"/>
                  </a:lnTo>
                  <a:lnTo>
                    <a:pt x="0" y="2895588"/>
                  </a:lnTo>
                  <a:lnTo>
                    <a:pt x="0" y="579131"/>
                  </a:lnTo>
                  <a:lnTo>
                    <a:pt x="1919" y="531633"/>
                  </a:lnTo>
                  <a:lnTo>
                    <a:pt x="7579" y="485193"/>
                  </a:lnTo>
                  <a:lnTo>
                    <a:pt x="16831" y="439959"/>
                  </a:lnTo>
                  <a:lnTo>
                    <a:pt x="29524" y="396081"/>
                  </a:lnTo>
                  <a:lnTo>
                    <a:pt x="45511" y="353707"/>
                  </a:lnTo>
                  <a:lnTo>
                    <a:pt x="64641" y="312987"/>
                  </a:lnTo>
                  <a:lnTo>
                    <a:pt x="86767" y="274069"/>
                  </a:lnTo>
                  <a:lnTo>
                    <a:pt x="111738" y="237104"/>
                  </a:lnTo>
                  <a:lnTo>
                    <a:pt x="139407" y="202238"/>
                  </a:lnTo>
                  <a:lnTo>
                    <a:pt x="169623" y="169623"/>
                  </a:lnTo>
                  <a:lnTo>
                    <a:pt x="202238" y="139407"/>
                  </a:lnTo>
                  <a:lnTo>
                    <a:pt x="237104" y="111738"/>
                  </a:lnTo>
                  <a:lnTo>
                    <a:pt x="274069" y="86767"/>
                  </a:lnTo>
                  <a:lnTo>
                    <a:pt x="312987" y="64641"/>
                  </a:lnTo>
                  <a:lnTo>
                    <a:pt x="353707" y="45511"/>
                  </a:lnTo>
                  <a:lnTo>
                    <a:pt x="396081" y="29524"/>
                  </a:lnTo>
                  <a:lnTo>
                    <a:pt x="439959" y="16831"/>
                  </a:lnTo>
                  <a:lnTo>
                    <a:pt x="485193" y="7579"/>
                  </a:lnTo>
                  <a:lnTo>
                    <a:pt x="531633" y="1919"/>
                  </a:lnTo>
                  <a:lnTo>
                    <a:pt x="579131" y="0"/>
                  </a:lnTo>
                  <a:lnTo>
                    <a:pt x="2923019" y="0"/>
                  </a:lnTo>
                  <a:lnTo>
                    <a:pt x="2973941" y="2241"/>
                  </a:lnTo>
                  <a:lnTo>
                    <a:pt x="3024129" y="8892"/>
                  </a:lnTo>
                  <a:lnTo>
                    <a:pt x="3073318" y="19841"/>
                  </a:lnTo>
                  <a:lnTo>
                    <a:pt x="3121241" y="34978"/>
                  </a:lnTo>
                  <a:lnTo>
                    <a:pt x="3167630" y="54194"/>
                  </a:lnTo>
                  <a:lnTo>
                    <a:pt x="3212221" y="77376"/>
                  </a:lnTo>
                  <a:lnTo>
                    <a:pt x="3254745" y="104416"/>
                  </a:lnTo>
                  <a:lnTo>
                    <a:pt x="3294936" y="135202"/>
                  </a:lnTo>
                  <a:lnTo>
                    <a:pt x="3332527" y="169623"/>
                  </a:lnTo>
                  <a:lnTo>
                    <a:pt x="3366949" y="207215"/>
                  </a:lnTo>
                  <a:lnTo>
                    <a:pt x="3397735" y="247406"/>
                  </a:lnTo>
                  <a:lnTo>
                    <a:pt x="3424775" y="289930"/>
                  </a:lnTo>
                  <a:lnTo>
                    <a:pt x="3447957" y="334520"/>
                  </a:lnTo>
                  <a:lnTo>
                    <a:pt x="3467173" y="380910"/>
                  </a:lnTo>
                  <a:lnTo>
                    <a:pt x="3482311" y="428833"/>
                  </a:lnTo>
                  <a:lnTo>
                    <a:pt x="3493260" y="478022"/>
                  </a:lnTo>
                  <a:lnTo>
                    <a:pt x="3499911" y="528210"/>
                  </a:lnTo>
                  <a:lnTo>
                    <a:pt x="3502152" y="579131"/>
                  </a:lnTo>
                  <a:lnTo>
                    <a:pt x="3502152" y="2895588"/>
                  </a:lnTo>
                  <a:lnTo>
                    <a:pt x="3500232" y="2943086"/>
                  </a:lnTo>
                  <a:lnTo>
                    <a:pt x="3494572" y="2989526"/>
                  </a:lnTo>
                  <a:lnTo>
                    <a:pt x="3485321" y="3034760"/>
                  </a:lnTo>
                  <a:lnTo>
                    <a:pt x="3472627" y="3078638"/>
                  </a:lnTo>
                  <a:lnTo>
                    <a:pt x="3456641" y="3121012"/>
                  </a:lnTo>
                  <a:lnTo>
                    <a:pt x="3437510" y="3161732"/>
                  </a:lnTo>
                  <a:lnTo>
                    <a:pt x="3415384" y="3200650"/>
                  </a:lnTo>
                  <a:lnTo>
                    <a:pt x="3390413" y="3237615"/>
                  </a:lnTo>
                  <a:lnTo>
                    <a:pt x="3362744" y="3272480"/>
                  </a:lnTo>
                  <a:lnTo>
                    <a:pt x="3332528" y="3305096"/>
                  </a:lnTo>
                  <a:lnTo>
                    <a:pt x="3299912" y="3335312"/>
                  </a:lnTo>
                  <a:lnTo>
                    <a:pt x="3265047" y="3362981"/>
                  </a:lnTo>
                  <a:lnTo>
                    <a:pt x="3228082" y="3387952"/>
                  </a:lnTo>
                  <a:lnTo>
                    <a:pt x="3189164" y="3410078"/>
                  </a:lnTo>
                  <a:lnTo>
                    <a:pt x="3148444" y="3429208"/>
                  </a:lnTo>
                  <a:lnTo>
                    <a:pt x="3106070" y="3445195"/>
                  </a:lnTo>
                  <a:lnTo>
                    <a:pt x="3062192" y="3457888"/>
                  </a:lnTo>
                  <a:lnTo>
                    <a:pt x="3016958" y="3467140"/>
                  </a:lnTo>
                  <a:lnTo>
                    <a:pt x="2970517" y="3472800"/>
                  </a:lnTo>
                  <a:lnTo>
                    <a:pt x="2923019" y="34747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343399" y="1691639"/>
              <a:ext cx="3502660" cy="3474720"/>
            </a:xfrm>
            <a:custGeom>
              <a:avLst/>
              <a:gdLst/>
              <a:ahLst/>
              <a:cxnLst/>
              <a:rect l="l" t="t" r="r" b="b"/>
              <a:pathLst>
                <a:path w="3502659" h="3474720">
                  <a:moveTo>
                    <a:pt x="0" y="579131"/>
                  </a:moveTo>
                  <a:lnTo>
                    <a:pt x="1919" y="531633"/>
                  </a:lnTo>
                  <a:lnTo>
                    <a:pt x="7579" y="485193"/>
                  </a:lnTo>
                  <a:lnTo>
                    <a:pt x="16831" y="439959"/>
                  </a:lnTo>
                  <a:lnTo>
                    <a:pt x="29524" y="396081"/>
                  </a:lnTo>
                  <a:lnTo>
                    <a:pt x="45511" y="353707"/>
                  </a:lnTo>
                  <a:lnTo>
                    <a:pt x="64641" y="312987"/>
                  </a:lnTo>
                  <a:lnTo>
                    <a:pt x="86767" y="274069"/>
                  </a:lnTo>
                  <a:lnTo>
                    <a:pt x="111738" y="237104"/>
                  </a:lnTo>
                  <a:lnTo>
                    <a:pt x="139407" y="202238"/>
                  </a:lnTo>
                  <a:lnTo>
                    <a:pt x="169623" y="169623"/>
                  </a:lnTo>
                  <a:lnTo>
                    <a:pt x="202238" y="139407"/>
                  </a:lnTo>
                  <a:lnTo>
                    <a:pt x="237104" y="111738"/>
                  </a:lnTo>
                  <a:lnTo>
                    <a:pt x="274069" y="86767"/>
                  </a:lnTo>
                  <a:lnTo>
                    <a:pt x="312987" y="64641"/>
                  </a:lnTo>
                  <a:lnTo>
                    <a:pt x="353707" y="45511"/>
                  </a:lnTo>
                  <a:lnTo>
                    <a:pt x="396081" y="29524"/>
                  </a:lnTo>
                  <a:lnTo>
                    <a:pt x="439959" y="16831"/>
                  </a:lnTo>
                  <a:lnTo>
                    <a:pt x="485193" y="7579"/>
                  </a:lnTo>
                  <a:lnTo>
                    <a:pt x="531633" y="1919"/>
                  </a:lnTo>
                  <a:lnTo>
                    <a:pt x="579131" y="0"/>
                  </a:lnTo>
                  <a:lnTo>
                    <a:pt x="2923019" y="0"/>
                  </a:lnTo>
                  <a:lnTo>
                    <a:pt x="2973941" y="2241"/>
                  </a:lnTo>
                  <a:lnTo>
                    <a:pt x="3024129" y="8892"/>
                  </a:lnTo>
                  <a:lnTo>
                    <a:pt x="3073318" y="19841"/>
                  </a:lnTo>
                  <a:lnTo>
                    <a:pt x="3121241" y="34978"/>
                  </a:lnTo>
                  <a:lnTo>
                    <a:pt x="3167630" y="54194"/>
                  </a:lnTo>
                  <a:lnTo>
                    <a:pt x="3212221" y="77376"/>
                  </a:lnTo>
                  <a:lnTo>
                    <a:pt x="3254745" y="104416"/>
                  </a:lnTo>
                  <a:lnTo>
                    <a:pt x="3294936" y="135202"/>
                  </a:lnTo>
                  <a:lnTo>
                    <a:pt x="3332527" y="169623"/>
                  </a:lnTo>
                  <a:lnTo>
                    <a:pt x="3366949" y="207215"/>
                  </a:lnTo>
                  <a:lnTo>
                    <a:pt x="3397735" y="247406"/>
                  </a:lnTo>
                  <a:lnTo>
                    <a:pt x="3424775" y="289930"/>
                  </a:lnTo>
                  <a:lnTo>
                    <a:pt x="3447957" y="334520"/>
                  </a:lnTo>
                  <a:lnTo>
                    <a:pt x="3467173" y="380910"/>
                  </a:lnTo>
                  <a:lnTo>
                    <a:pt x="3482311" y="428833"/>
                  </a:lnTo>
                  <a:lnTo>
                    <a:pt x="3493260" y="478022"/>
                  </a:lnTo>
                  <a:lnTo>
                    <a:pt x="3499911" y="528210"/>
                  </a:lnTo>
                  <a:lnTo>
                    <a:pt x="3502152" y="579131"/>
                  </a:lnTo>
                  <a:lnTo>
                    <a:pt x="3502152" y="2895588"/>
                  </a:lnTo>
                  <a:lnTo>
                    <a:pt x="3500232" y="2943086"/>
                  </a:lnTo>
                  <a:lnTo>
                    <a:pt x="3494572" y="2989526"/>
                  </a:lnTo>
                  <a:lnTo>
                    <a:pt x="3485321" y="3034760"/>
                  </a:lnTo>
                  <a:lnTo>
                    <a:pt x="3472627" y="3078638"/>
                  </a:lnTo>
                  <a:lnTo>
                    <a:pt x="3456641" y="3121012"/>
                  </a:lnTo>
                  <a:lnTo>
                    <a:pt x="3437510" y="3161732"/>
                  </a:lnTo>
                  <a:lnTo>
                    <a:pt x="3415384" y="3200650"/>
                  </a:lnTo>
                  <a:lnTo>
                    <a:pt x="3390413" y="3237615"/>
                  </a:lnTo>
                  <a:lnTo>
                    <a:pt x="3362744" y="3272480"/>
                  </a:lnTo>
                  <a:lnTo>
                    <a:pt x="3332528" y="3305096"/>
                  </a:lnTo>
                  <a:lnTo>
                    <a:pt x="3299912" y="3335312"/>
                  </a:lnTo>
                  <a:lnTo>
                    <a:pt x="3265047" y="3362981"/>
                  </a:lnTo>
                  <a:lnTo>
                    <a:pt x="3228082" y="3387952"/>
                  </a:lnTo>
                  <a:lnTo>
                    <a:pt x="3189164" y="3410078"/>
                  </a:lnTo>
                  <a:lnTo>
                    <a:pt x="3148444" y="3429208"/>
                  </a:lnTo>
                  <a:lnTo>
                    <a:pt x="3106070" y="3445195"/>
                  </a:lnTo>
                  <a:lnTo>
                    <a:pt x="3062192" y="3457888"/>
                  </a:lnTo>
                  <a:lnTo>
                    <a:pt x="3016958" y="3467140"/>
                  </a:lnTo>
                  <a:lnTo>
                    <a:pt x="2970517" y="3472800"/>
                  </a:lnTo>
                  <a:lnTo>
                    <a:pt x="2923019" y="3474719"/>
                  </a:lnTo>
                  <a:lnTo>
                    <a:pt x="579131" y="3474719"/>
                  </a:lnTo>
                  <a:lnTo>
                    <a:pt x="531633" y="3472800"/>
                  </a:lnTo>
                  <a:lnTo>
                    <a:pt x="485193" y="3467140"/>
                  </a:lnTo>
                  <a:lnTo>
                    <a:pt x="439959" y="3457888"/>
                  </a:lnTo>
                  <a:lnTo>
                    <a:pt x="396081" y="3445195"/>
                  </a:lnTo>
                  <a:lnTo>
                    <a:pt x="353707" y="3429208"/>
                  </a:lnTo>
                  <a:lnTo>
                    <a:pt x="312987" y="3410078"/>
                  </a:lnTo>
                  <a:lnTo>
                    <a:pt x="274069" y="3387952"/>
                  </a:lnTo>
                  <a:lnTo>
                    <a:pt x="237104" y="3362981"/>
                  </a:lnTo>
                  <a:lnTo>
                    <a:pt x="202238" y="3335312"/>
                  </a:lnTo>
                  <a:lnTo>
                    <a:pt x="169623" y="3305096"/>
                  </a:lnTo>
                  <a:lnTo>
                    <a:pt x="139407" y="3272480"/>
                  </a:lnTo>
                  <a:lnTo>
                    <a:pt x="111738" y="3237615"/>
                  </a:lnTo>
                  <a:lnTo>
                    <a:pt x="86767" y="3200650"/>
                  </a:lnTo>
                  <a:lnTo>
                    <a:pt x="64641" y="3161732"/>
                  </a:lnTo>
                  <a:lnTo>
                    <a:pt x="45511" y="3121012"/>
                  </a:lnTo>
                  <a:lnTo>
                    <a:pt x="29524" y="3078638"/>
                  </a:lnTo>
                  <a:lnTo>
                    <a:pt x="16831" y="3034760"/>
                  </a:lnTo>
                  <a:lnTo>
                    <a:pt x="7579" y="2989526"/>
                  </a:lnTo>
                  <a:lnTo>
                    <a:pt x="1919" y="2943086"/>
                  </a:lnTo>
                  <a:lnTo>
                    <a:pt x="0" y="2895588"/>
                  </a:lnTo>
                  <a:lnTo>
                    <a:pt x="0" y="579131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4298637" y="1669877"/>
            <a:ext cx="3592195" cy="528955"/>
            <a:chOff x="4298637" y="1669877"/>
            <a:chExt cx="3592195" cy="528955"/>
          </a:xfrm>
        </p:grpSpPr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98637" y="1669877"/>
              <a:ext cx="3591677" cy="52843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343399" y="16916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59" h="439419">
                  <a:moveTo>
                    <a:pt x="3428998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4" y="12290"/>
                  </a:lnTo>
                  <a:lnTo>
                    <a:pt x="3496583" y="45158"/>
                  </a:lnTo>
                  <a:lnTo>
                    <a:pt x="3502152" y="73153"/>
                  </a:lnTo>
                  <a:lnTo>
                    <a:pt x="3502152" y="365758"/>
                  </a:lnTo>
                  <a:lnTo>
                    <a:pt x="3496403" y="394233"/>
                  </a:lnTo>
                  <a:lnTo>
                    <a:pt x="3480726" y="417485"/>
                  </a:lnTo>
                  <a:lnTo>
                    <a:pt x="3457473" y="433163"/>
                  </a:lnTo>
                  <a:lnTo>
                    <a:pt x="3428998" y="438911"/>
                  </a:lnTo>
                  <a:close/>
                </a:path>
              </a:pathLst>
            </a:custGeom>
            <a:solidFill>
              <a:srgbClr val="991B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343399" y="16916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59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4" y="12290"/>
                  </a:lnTo>
                  <a:lnTo>
                    <a:pt x="3496583" y="45158"/>
                  </a:lnTo>
                  <a:lnTo>
                    <a:pt x="3502152" y="73153"/>
                  </a:lnTo>
                  <a:lnTo>
                    <a:pt x="3502152" y="365758"/>
                  </a:lnTo>
                  <a:lnTo>
                    <a:pt x="3496403" y="394233"/>
                  </a:lnTo>
                  <a:lnTo>
                    <a:pt x="3480726" y="417485"/>
                  </a:lnTo>
                  <a:lnTo>
                    <a:pt x="3457473" y="433163"/>
                  </a:lnTo>
                  <a:lnTo>
                    <a:pt x="3428998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991B1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08317" y="1815007"/>
              <a:ext cx="221258" cy="208243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5157058" y="1789366"/>
            <a:ext cx="21151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TALENT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ACQUISITION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CRISIS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62247" y="2782760"/>
            <a:ext cx="28346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Screening</a:t>
            </a:r>
            <a:r>
              <a:rPr sz="1400" b="1" spc="-4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Volume:</a:t>
            </a:r>
            <a:r>
              <a:rPr sz="1400" b="1" spc="15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Modern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recruiters evaluate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250+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resumes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per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job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post,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causing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severe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evaluation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fatigue.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62247" y="3493960"/>
            <a:ext cx="29051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43890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Recruiter</a:t>
            </a:r>
            <a:r>
              <a:rPr sz="14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Fatigue:</a:t>
            </a:r>
            <a:r>
              <a:rPr sz="1400" b="1" spc="19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Subjective,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non-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standard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screening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leads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inconsistent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decisions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high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error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rates.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662247" y="4205160"/>
            <a:ext cx="25736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Black-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Box</a:t>
            </a:r>
            <a:r>
              <a:rPr sz="1400" b="1" spc="-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ATS:</a:t>
            </a:r>
            <a:r>
              <a:rPr sz="1400" b="1" spc="19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Statistical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keyword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search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rejects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qualified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talent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without auditable</a:t>
            </a:r>
            <a:r>
              <a:rPr sz="13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justification.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042915" y="1665115"/>
            <a:ext cx="3601720" cy="3573779"/>
            <a:chOff x="8042915" y="1665115"/>
            <a:chExt cx="3601720" cy="3573779"/>
          </a:xfrm>
        </p:grpSpPr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2915" y="1665115"/>
              <a:ext cx="3601202" cy="357377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092439" y="1691639"/>
              <a:ext cx="3502660" cy="3474720"/>
            </a:xfrm>
            <a:custGeom>
              <a:avLst/>
              <a:gdLst/>
              <a:ahLst/>
              <a:cxnLst/>
              <a:rect l="l" t="t" r="r" b="b"/>
              <a:pathLst>
                <a:path w="3502659" h="3474720">
                  <a:moveTo>
                    <a:pt x="2923019" y="3474719"/>
                  </a:moveTo>
                  <a:lnTo>
                    <a:pt x="579131" y="3474719"/>
                  </a:lnTo>
                  <a:lnTo>
                    <a:pt x="531634" y="3472800"/>
                  </a:lnTo>
                  <a:lnTo>
                    <a:pt x="485193" y="3467140"/>
                  </a:lnTo>
                  <a:lnTo>
                    <a:pt x="439959" y="3457888"/>
                  </a:lnTo>
                  <a:lnTo>
                    <a:pt x="396081" y="3445195"/>
                  </a:lnTo>
                  <a:lnTo>
                    <a:pt x="353707" y="3429208"/>
                  </a:lnTo>
                  <a:lnTo>
                    <a:pt x="312987" y="3410078"/>
                  </a:lnTo>
                  <a:lnTo>
                    <a:pt x="274069" y="3387952"/>
                  </a:lnTo>
                  <a:lnTo>
                    <a:pt x="237103" y="3362981"/>
                  </a:lnTo>
                  <a:lnTo>
                    <a:pt x="202238" y="3335312"/>
                  </a:lnTo>
                  <a:lnTo>
                    <a:pt x="169623" y="3305096"/>
                  </a:lnTo>
                  <a:lnTo>
                    <a:pt x="139407" y="3272480"/>
                  </a:lnTo>
                  <a:lnTo>
                    <a:pt x="111738" y="3237615"/>
                  </a:lnTo>
                  <a:lnTo>
                    <a:pt x="86767" y="3200650"/>
                  </a:lnTo>
                  <a:lnTo>
                    <a:pt x="64641" y="3161732"/>
                  </a:lnTo>
                  <a:lnTo>
                    <a:pt x="45510" y="3121012"/>
                  </a:lnTo>
                  <a:lnTo>
                    <a:pt x="29524" y="3078638"/>
                  </a:lnTo>
                  <a:lnTo>
                    <a:pt x="16831" y="3034760"/>
                  </a:lnTo>
                  <a:lnTo>
                    <a:pt x="7579" y="2989526"/>
                  </a:lnTo>
                  <a:lnTo>
                    <a:pt x="1919" y="2943086"/>
                  </a:lnTo>
                  <a:lnTo>
                    <a:pt x="0" y="2895588"/>
                  </a:lnTo>
                  <a:lnTo>
                    <a:pt x="0" y="579131"/>
                  </a:lnTo>
                  <a:lnTo>
                    <a:pt x="1919" y="531633"/>
                  </a:lnTo>
                  <a:lnTo>
                    <a:pt x="7579" y="485193"/>
                  </a:lnTo>
                  <a:lnTo>
                    <a:pt x="16831" y="439959"/>
                  </a:lnTo>
                  <a:lnTo>
                    <a:pt x="29524" y="396081"/>
                  </a:lnTo>
                  <a:lnTo>
                    <a:pt x="45510" y="353707"/>
                  </a:lnTo>
                  <a:lnTo>
                    <a:pt x="64641" y="312987"/>
                  </a:lnTo>
                  <a:lnTo>
                    <a:pt x="86767" y="274069"/>
                  </a:lnTo>
                  <a:lnTo>
                    <a:pt x="111738" y="237104"/>
                  </a:lnTo>
                  <a:lnTo>
                    <a:pt x="139407" y="202238"/>
                  </a:lnTo>
                  <a:lnTo>
                    <a:pt x="169623" y="169623"/>
                  </a:lnTo>
                  <a:lnTo>
                    <a:pt x="202238" y="139407"/>
                  </a:lnTo>
                  <a:lnTo>
                    <a:pt x="237103" y="111738"/>
                  </a:lnTo>
                  <a:lnTo>
                    <a:pt x="274069" y="86767"/>
                  </a:lnTo>
                  <a:lnTo>
                    <a:pt x="312987" y="64641"/>
                  </a:lnTo>
                  <a:lnTo>
                    <a:pt x="353707" y="45511"/>
                  </a:lnTo>
                  <a:lnTo>
                    <a:pt x="396081" y="29524"/>
                  </a:lnTo>
                  <a:lnTo>
                    <a:pt x="439959" y="16831"/>
                  </a:lnTo>
                  <a:lnTo>
                    <a:pt x="485193" y="7579"/>
                  </a:lnTo>
                  <a:lnTo>
                    <a:pt x="531634" y="1919"/>
                  </a:lnTo>
                  <a:lnTo>
                    <a:pt x="579131" y="0"/>
                  </a:lnTo>
                  <a:lnTo>
                    <a:pt x="2923019" y="0"/>
                  </a:lnTo>
                  <a:lnTo>
                    <a:pt x="2973941" y="2241"/>
                  </a:lnTo>
                  <a:lnTo>
                    <a:pt x="3024129" y="8892"/>
                  </a:lnTo>
                  <a:lnTo>
                    <a:pt x="3073318" y="19841"/>
                  </a:lnTo>
                  <a:lnTo>
                    <a:pt x="3121241" y="34978"/>
                  </a:lnTo>
                  <a:lnTo>
                    <a:pt x="3167630" y="54194"/>
                  </a:lnTo>
                  <a:lnTo>
                    <a:pt x="3212221" y="77376"/>
                  </a:lnTo>
                  <a:lnTo>
                    <a:pt x="3254745" y="104416"/>
                  </a:lnTo>
                  <a:lnTo>
                    <a:pt x="3294936" y="135202"/>
                  </a:lnTo>
                  <a:lnTo>
                    <a:pt x="3332527" y="169623"/>
                  </a:lnTo>
                  <a:lnTo>
                    <a:pt x="3366949" y="207215"/>
                  </a:lnTo>
                  <a:lnTo>
                    <a:pt x="3397735" y="247406"/>
                  </a:lnTo>
                  <a:lnTo>
                    <a:pt x="3424775" y="289930"/>
                  </a:lnTo>
                  <a:lnTo>
                    <a:pt x="3447957" y="334520"/>
                  </a:lnTo>
                  <a:lnTo>
                    <a:pt x="3467173" y="380910"/>
                  </a:lnTo>
                  <a:lnTo>
                    <a:pt x="3482310" y="428833"/>
                  </a:lnTo>
                  <a:lnTo>
                    <a:pt x="3493260" y="478022"/>
                  </a:lnTo>
                  <a:lnTo>
                    <a:pt x="3499911" y="528210"/>
                  </a:lnTo>
                  <a:lnTo>
                    <a:pt x="3502152" y="579131"/>
                  </a:lnTo>
                  <a:lnTo>
                    <a:pt x="3502152" y="2895588"/>
                  </a:lnTo>
                  <a:lnTo>
                    <a:pt x="3500232" y="2943086"/>
                  </a:lnTo>
                  <a:lnTo>
                    <a:pt x="3494572" y="2989526"/>
                  </a:lnTo>
                  <a:lnTo>
                    <a:pt x="3485321" y="3034760"/>
                  </a:lnTo>
                  <a:lnTo>
                    <a:pt x="3472627" y="3078638"/>
                  </a:lnTo>
                  <a:lnTo>
                    <a:pt x="3456641" y="3121012"/>
                  </a:lnTo>
                  <a:lnTo>
                    <a:pt x="3437510" y="3161732"/>
                  </a:lnTo>
                  <a:lnTo>
                    <a:pt x="3415385" y="3200650"/>
                  </a:lnTo>
                  <a:lnTo>
                    <a:pt x="3390413" y="3237615"/>
                  </a:lnTo>
                  <a:lnTo>
                    <a:pt x="3362745" y="3272480"/>
                  </a:lnTo>
                  <a:lnTo>
                    <a:pt x="3332528" y="3305096"/>
                  </a:lnTo>
                  <a:lnTo>
                    <a:pt x="3299913" y="3335312"/>
                  </a:lnTo>
                  <a:lnTo>
                    <a:pt x="3265048" y="3362981"/>
                  </a:lnTo>
                  <a:lnTo>
                    <a:pt x="3228082" y="3387952"/>
                  </a:lnTo>
                  <a:lnTo>
                    <a:pt x="3189164" y="3410078"/>
                  </a:lnTo>
                  <a:lnTo>
                    <a:pt x="3148444" y="3429208"/>
                  </a:lnTo>
                  <a:lnTo>
                    <a:pt x="3106070" y="3445195"/>
                  </a:lnTo>
                  <a:lnTo>
                    <a:pt x="3062192" y="3457888"/>
                  </a:lnTo>
                  <a:lnTo>
                    <a:pt x="3016958" y="3467140"/>
                  </a:lnTo>
                  <a:lnTo>
                    <a:pt x="2970517" y="3472800"/>
                  </a:lnTo>
                  <a:lnTo>
                    <a:pt x="2923019" y="34747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092439" y="1691639"/>
              <a:ext cx="3502660" cy="3474720"/>
            </a:xfrm>
            <a:custGeom>
              <a:avLst/>
              <a:gdLst/>
              <a:ahLst/>
              <a:cxnLst/>
              <a:rect l="l" t="t" r="r" b="b"/>
              <a:pathLst>
                <a:path w="3502659" h="3474720">
                  <a:moveTo>
                    <a:pt x="0" y="579131"/>
                  </a:moveTo>
                  <a:lnTo>
                    <a:pt x="1919" y="531633"/>
                  </a:lnTo>
                  <a:lnTo>
                    <a:pt x="7579" y="485193"/>
                  </a:lnTo>
                  <a:lnTo>
                    <a:pt x="16831" y="439959"/>
                  </a:lnTo>
                  <a:lnTo>
                    <a:pt x="29524" y="396081"/>
                  </a:lnTo>
                  <a:lnTo>
                    <a:pt x="45510" y="353707"/>
                  </a:lnTo>
                  <a:lnTo>
                    <a:pt x="64641" y="312987"/>
                  </a:lnTo>
                  <a:lnTo>
                    <a:pt x="86767" y="274069"/>
                  </a:lnTo>
                  <a:lnTo>
                    <a:pt x="111738" y="237104"/>
                  </a:lnTo>
                  <a:lnTo>
                    <a:pt x="139407" y="202238"/>
                  </a:lnTo>
                  <a:lnTo>
                    <a:pt x="169623" y="169623"/>
                  </a:lnTo>
                  <a:lnTo>
                    <a:pt x="202238" y="139407"/>
                  </a:lnTo>
                  <a:lnTo>
                    <a:pt x="237103" y="111738"/>
                  </a:lnTo>
                  <a:lnTo>
                    <a:pt x="274069" y="86767"/>
                  </a:lnTo>
                  <a:lnTo>
                    <a:pt x="312987" y="64641"/>
                  </a:lnTo>
                  <a:lnTo>
                    <a:pt x="353707" y="45511"/>
                  </a:lnTo>
                  <a:lnTo>
                    <a:pt x="396081" y="29524"/>
                  </a:lnTo>
                  <a:lnTo>
                    <a:pt x="439959" y="16831"/>
                  </a:lnTo>
                  <a:lnTo>
                    <a:pt x="485193" y="7579"/>
                  </a:lnTo>
                  <a:lnTo>
                    <a:pt x="531634" y="1919"/>
                  </a:lnTo>
                  <a:lnTo>
                    <a:pt x="579131" y="0"/>
                  </a:lnTo>
                  <a:lnTo>
                    <a:pt x="2923019" y="0"/>
                  </a:lnTo>
                  <a:lnTo>
                    <a:pt x="2973941" y="2241"/>
                  </a:lnTo>
                  <a:lnTo>
                    <a:pt x="3024129" y="8892"/>
                  </a:lnTo>
                  <a:lnTo>
                    <a:pt x="3073318" y="19841"/>
                  </a:lnTo>
                  <a:lnTo>
                    <a:pt x="3121241" y="34978"/>
                  </a:lnTo>
                  <a:lnTo>
                    <a:pt x="3167630" y="54194"/>
                  </a:lnTo>
                  <a:lnTo>
                    <a:pt x="3212221" y="77376"/>
                  </a:lnTo>
                  <a:lnTo>
                    <a:pt x="3254745" y="104416"/>
                  </a:lnTo>
                  <a:lnTo>
                    <a:pt x="3294936" y="135202"/>
                  </a:lnTo>
                  <a:lnTo>
                    <a:pt x="3332527" y="169623"/>
                  </a:lnTo>
                  <a:lnTo>
                    <a:pt x="3366949" y="207215"/>
                  </a:lnTo>
                  <a:lnTo>
                    <a:pt x="3397735" y="247406"/>
                  </a:lnTo>
                  <a:lnTo>
                    <a:pt x="3424775" y="289930"/>
                  </a:lnTo>
                  <a:lnTo>
                    <a:pt x="3447957" y="334520"/>
                  </a:lnTo>
                  <a:lnTo>
                    <a:pt x="3467173" y="380910"/>
                  </a:lnTo>
                  <a:lnTo>
                    <a:pt x="3482310" y="428833"/>
                  </a:lnTo>
                  <a:lnTo>
                    <a:pt x="3493260" y="478022"/>
                  </a:lnTo>
                  <a:lnTo>
                    <a:pt x="3499911" y="528210"/>
                  </a:lnTo>
                  <a:lnTo>
                    <a:pt x="3502152" y="579131"/>
                  </a:lnTo>
                  <a:lnTo>
                    <a:pt x="3502152" y="2895588"/>
                  </a:lnTo>
                  <a:lnTo>
                    <a:pt x="3500232" y="2943086"/>
                  </a:lnTo>
                  <a:lnTo>
                    <a:pt x="3494572" y="2989526"/>
                  </a:lnTo>
                  <a:lnTo>
                    <a:pt x="3485321" y="3034760"/>
                  </a:lnTo>
                  <a:lnTo>
                    <a:pt x="3472627" y="3078638"/>
                  </a:lnTo>
                  <a:lnTo>
                    <a:pt x="3456641" y="3121012"/>
                  </a:lnTo>
                  <a:lnTo>
                    <a:pt x="3437510" y="3161732"/>
                  </a:lnTo>
                  <a:lnTo>
                    <a:pt x="3415385" y="3200650"/>
                  </a:lnTo>
                  <a:lnTo>
                    <a:pt x="3390413" y="3237615"/>
                  </a:lnTo>
                  <a:lnTo>
                    <a:pt x="3362745" y="3272480"/>
                  </a:lnTo>
                  <a:lnTo>
                    <a:pt x="3332528" y="3305096"/>
                  </a:lnTo>
                  <a:lnTo>
                    <a:pt x="3299913" y="3335312"/>
                  </a:lnTo>
                  <a:lnTo>
                    <a:pt x="3265048" y="3362981"/>
                  </a:lnTo>
                  <a:lnTo>
                    <a:pt x="3228082" y="3387952"/>
                  </a:lnTo>
                  <a:lnTo>
                    <a:pt x="3189164" y="3410078"/>
                  </a:lnTo>
                  <a:lnTo>
                    <a:pt x="3148444" y="3429208"/>
                  </a:lnTo>
                  <a:lnTo>
                    <a:pt x="3106070" y="3445195"/>
                  </a:lnTo>
                  <a:lnTo>
                    <a:pt x="3062192" y="3457888"/>
                  </a:lnTo>
                  <a:lnTo>
                    <a:pt x="3016958" y="3467140"/>
                  </a:lnTo>
                  <a:lnTo>
                    <a:pt x="2970517" y="3472800"/>
                  </a:lnTo>
                  <a:lnTo>
                    <a:pt x="2923019" y="3474719"/>
                  </a:lnTo>
                  <a:lnTo>
                    <a:pt x="579131" y="3474719"/>
                  </a:lnTo>
                  <a:lnTo>
                    <a:pt x="531634" y="3472800"/>
                  </a:lnTo>
                  <a:lnTo>
                    <a:pt x="485193" y="3467140"/>
                  </a:lnTo>
                  <a:lnTo>
                    <a:pt x="439959" y="3457888"/>
                  </a:lnTo>
                  <a:lnTo>
                    <a:pt x="396081" y="3445195"/>
                  </a:lnTo>
                  <a:lnTo>
                    <a:pt x="353707" y="3429208"/>
                  </a:lnTo>
                  <a:lnTo>
                    <a:pt x="312987" y="3410078"/>
                  </a:lnTo>
                  <a:lnTo>
                    <a:pt x="274069" y="3387952"/>
                  </a:lnTo>
                  <a:lnTo>
                    <a:pt x="237103" y="3362981"/>
                  </a:lnTo>
                  <a:lnTo>
                    <a:pt x="202238" y="3335312"/>
                  </a:lnTo>
                  <a:lnTo>
                    <a:pt x="169623" y="3305096"/>
                  </a:lnTo>
                  <a:lnTo>
                    <a:pt x="139407" y="3272480"/>
                  </a:lnTo>
                  <a:lnTo>
                    <a:pt x="111738" y="3237615"/>
                  </a:lnTo>
                  <a:lnTo>
                    <a:pt x="86767" y="3200650"/>
                  </a:lnTo>
                  <a:lnTo>
                    <a:pt x="64641" y="3161732"/>
                  </a:lnTo>
                  <a:lnTo>
                    <a:pt x="45510" y="3121012"/>
                  </a:lnTo>
                  <a:lnTo>
                    <a:pt x="29524" y="3078638"/>
                  </a:lnTo>
                  <a:lnTo>
                    <a:pt x="16831" y="3034760"/>
                  </a:lnTo>
                  <a:lnTo>
                    <a:pt x="7579" y="2989526"/>
                  </a:lnTo>
                  <a:lnTo>
                    <a:pt x="1919" y="2943086"/>
                  </a:lnTo>
                  <a:lnTo>
                    <a:pt x="0" y="2895588"/>
                  </a:lnTo>
                  <a:lnTo>
                    <a:pt x="0" y="579131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/>
          <p:cNvGrpSpPr/>
          <p:nvPr/>
        </p:nvGrpSpPr>
        <p:grpSpPr>
          <a:xfrm>
            <a:off x="8047677" y="1669877"/>
            <a:ext cx="3592195" cy="528955"/>
            <a:chOff x="8047677" y="1669877"/>
            <a:chExt cx="3592195" cy="528955"/>
          </a:xfrm>
        </p:grpSpPr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7677" y="1669877"/>
              <a:ext cx="3591677" cy="52843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8092439" y="16916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59" h="439419">
                  <a:moveTo>
                    <a:pt x="3428998" y="438911"/>
                  </a:moveTo>
                  <a:lnTo>
                    <a:pt x="73153" y="438911"/>
                  </a:lnTo>
                  <a:lnTo>
                    <a:pt x="44679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9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3" y="12290"/>
                  </a:lnTo>
                  <a:lnTo>
                    <a:pt x="3496583" y="45158"/>
                  </a:lnTo>
                  <a:lnTo>
                    <a:pt x="3502152" y="73153"/>
                  </a:lnTo>
                  <a:lnTo>
                    <a:pt x="3502152" y="365758"/>
                  </a:lnTo>
                  <a:lnTo>
                    <a:pt x="3496403" y="394233"/>
                  </a:lnTo>
                  <a:lnTo>
                    <a:pt x="3480726" y="417485"/>
                  </a:lnTo>
                  <a:lnTo>
                    <a:pt x="3457473" y="433163"/>
                  </a:lnTo>
                  <a:lnTo>
                    <a:pt x="3428998" y="438911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092439" y="16916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59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9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3" y="12290"/>
                  </a:lnTo>
                  <a:lnTo>
                    <a:pt x="3496583" y="45158"/>
                  </a:lnTo>
                  <a:lnTo>
                    <a:pt x="3502152" y="73153"/>
                  </a:lnTo>
                  <a:lnTo>
                    <a:pt x="3502152" y="365758"/>
                  </a:lnTo>
                  <a:lnTo>
                    <a:pt x="3496403" y="394233"/>
                  </a:lnTo>
                  <a:lnTo>
                    <a:pt x="3480726" y="417485"/>
                  </a:lnTo>
                  <a:lnTo>
                    <a:pt x="3457473" y="433163"/>
                  </a:lnTo>
                  <a:lnTo>
                    <a:pt x="3428998" y="438911"/>
                  </a:lnTo>
                  <a:lnTo>
                    <a:pt x="73153" y="438911"/>
                  </a:lnTo>
                  <a:lnTo>
                    <a:pt x="44679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16A34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77182" y="1815007"/>
              <a:ext cx="221258" cy="208243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9025923" y="1789366"/>
            <a:ext cx="18796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400" b="1" spc="-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HIREAI</a:t>
            </a:r>
            <a:r>
              <a:rPr sz="1400" b="1" spc="-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INNOVATION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411287" y="2782760"/>
            <a:ext cx="268351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4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Rules:</a:t>
            </a:r>
            <a:r>
              <a:rPr sz="1400" b="1" spc="19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Evaluates candidate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facts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against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explicit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IF–THEN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constraints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experience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thresholds.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411287" y="3493960"/>
            <a:ext cx="28968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Verifiable</a:t>
            </a:r>
            <a:r>
              <a:rPr sz="14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Proof</a:t>
            </a:r>
            <a:r>
              <a:rPr sz="14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Trace:</a:t>
            </a:r>
            <a:r>
              <a:rPr sz="1400" b="1" spc="2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Produces itemized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audit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logs: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matched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skills,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missing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skills,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experience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margins.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411287" y="4205160"/>
            <a:ext cx="26758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400" b="1" spc="-4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Demographic</a:t>
            </a:r>
            <a:r>
              <a:rPr sz="140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Bias:</a:t>
            </a:r>
            <a:r>
              <a:rPr sz="1400" b="1" spc="2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Evaluates strictly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verified credentials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latent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bias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hallucination.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35" dirty="0"/>
              <a:t> </a:t>
            </a:r>
            <a:r>
              <a:rPr spc="-10" dirty="0"/>
              <a:t>Statement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559890" y="155447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9597" y="1166957"/>
            <a:ext cx="3564254" cy="455295"/>
            <a:chOff x="549597" y="1166957"/>
            <a:chExt cx="3564254" cy="45529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9597" y="1166957"/>
              <a:ext cx="3564245" cy="45528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188720"/>
              <a:ext cx="3474720" cy="365760"/>
            </a:xfrm>
            <a:custGeom>
              <a:avLst/>
              <a:gdLst/>
              <a:ahLst/>
              <a:cxnLst/>
              <a:rect l="l" t="t" r="r" b="b"/>
              <a:pathLst>
                <a:path w="3474720" h="365759">
                  <a:moveTo>
                    <a:pt x="3413758" y="365759"/>
                  </a:move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3413758" y="0"/>
                  </a:lnTo>
                  <a:lnTo>
                    <a:pt x="3456864" y="17855"/>
                  </a:lnTo>
                  <a:lnTo>
                    <a:pt x="3474719" y="60961"/>
                  </a:lnTo>
                  <a:lnTo>
                    <a:pt x="3474719" y="304798"/>
                  </a:lnTo>
                  <a:lnTo>
                    <a:pt x="3469929" y="328527"/>
                  </a:lnTo>
                  <a:lnTo>
                    <a:pt x="3456864" y="347904"/>
                  </a:lnTo>
                  <a:lnTo>
                    <a:pt x="3437487" y="360969"/>
                  </a:lnTo>
                  <a:lnTo>
                    <a:pt x="3413758" y="365759"/>
                  </a:lnTo>
                  <a:close/>
                </a:path>
              </a:pathLst>
            </a:custGeom>
            <a:solidFill>
              <a:srgbClr val="991B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359" y="1188720"/>
              <a:ext cx="3474720" cy="365760"/>
            </a:xfrm>
            <a:custGeom>
              <a:avLst/>
              <a:gdLst/>
              <a:ahLst/>
              <a:cxnLst/>
              <a:rect l="l" t="t" r="r" b="b"/>
              <a:pathLst>
                <a:path w="3474720" h="365759">
                  <a:moveTo>
                    <a:pt x="0" y="60961"/>
                  </a:move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3413758" y="0"/>
                  </a:lnTo>
                  <a:lnTo>
                    <a:pt x="3456864" y="17855"/>
                  </a:lnTo>
                  <a:lnTo>
                    <a:pt x="3474719" y="60961"/>
                  </a:lnTo>
                  <a:lnTo>
                    <a:pt x="3474719" y="304798"/>
                  </a:lnTo>
                  <a:lnTo>
                    <a:pt x="3469929" y="328527"/>
                  </a:lnTo>
                  <a:lnTo>
                    <a:pt x="3456864" y="347904"/>
                  </a:lnTo>
                  <a:lnTo>
                    <a:pt x="3437487" y="360969"/>
                  </a:lnTo>
                  <a:lnTo>
                    <a:pt x="3413758" y="365759"/>
                  </a:ln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close/>
                </a:path>
              </a:pathLst>
            </a:custGeom>
            <a:ln w="9524">
              <a:solidFill>
                <a:srgbClr val="991B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73457" y="1269491"/>
            <a:ext cx="28505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75%</a:t>
            </a:r>
            <a:r>
              <a:rPr sz="11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RESUMES</a:t>
            </a:r>
            <a:r>
              <a:rPr sz="1100" b="1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SCREENED</a:t>
            </a:r>
            <a:r>
              <a:rPr sz="1100" b="1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OUT</a:t>
            </a:r>
            <a:r>
              <a:rPr sz="11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1100" b="1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KEYWORD</a:t>
            </a:r>
            <a:r>
              <a:rPr sz="1100" b="1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ATS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98637" y="1166957"/>
            <a:ext cx="3564254" cy="455295"/>
            <a:chOff x="4298637" y="1166957"/>
            <a:chExt cx="3564254" cy="455295"/>
          </a:xfrm>
        </p:grpSpPr>
        <p:pic>
          <p:nvPicPr>
            <p:cNvPr id="10" name="object 1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298637" y="1166957"/>
              <a:ext cx="3564245" cy="45528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43399" y="1188720"/>
              <a:ext cx="3474720" cy="365760"/>
            </a:xfrm>
            <a:custGeom>
              <a:avLst/>
              <a:gdLst/>
              <a:ahLst/>
              <a:cxnLst/>
              <a:rect l="l" t="t" r="r" b="b"/>
              <a:pathLst>
                <a:path w="3474720" h="365759">
                  <a:moveTo>
                    <a:pt x="3413758" y="365759"/>
                  </a:move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3413758" y="0"/>
                  </a:lnTo>
                  <a:lnTo>
                    <a:pt x="3456864" y="17855"/>
                  </a:lnTo>
                  <a:lnTo>
                    <a:pt x="3474719" y="60961"/>
                  </a:lnTo>
                  <a:lnTo>
                    <a:pt x="3474719" y="304798"/>
                  </a:lnTo>
                  <a:lnTo>
                    <a:pt x="3469929" y="328527"/>
                  </a:lnTo>
                  <a:lnTo>
                    <a:pt x="3456864" y="347904"/>
                  </a:lnTo>
                  <a:lnTo>
                    <a:pt x="3437487" y="360969"/>
                  </a:lnTo>
                  <a:lnTo>
                    <a:pt x="3413758" y="36575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43399" y="1188720"/>
              <a:ext cx="3474720" cy="365760"/>
            </a:xfrm>
            <a:custGeom>
              <a:avLst/>
              <a:gdLst/>
              <a:ahLst/>
              <a:cxnLst/>
              <a:rect l="l" t="t" r="r" b="b"/>
              <a:pathLst>
                <a:path w="3474720" h="365759">
                  <a:moveTo>
                    <a:pt x="0" y="60961"/>
                  </a:move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3413758" y="0"/>
                  </a:lnTo>
                  <a:lnTo>
                    <a:pt x="3456864" y="17855"/>
                  </a:lnTo>
                  <a:lnTo>
                    <a:pt x="3474719" y="60961"/>
                  </a:lnTo>
                  <a:lnTo>
                    <a:pt x="3474719" y="304798"/>
                  </a:lnTo>
                  <a:lnTo>
                    <a:pt x="3469929" y="328527"/>
                  </a:lnTo>
                  <a:lnTo>
                    <a:pt x="3456864" y="347904"/>
                  </a:lnTo>
                  <a:lnTo>
                    <a:pt x="3437487" y="360969"/>
                  </a:lnTo>
                  <a:lnTo>
                    <a:pt x="3413758" y="365759"/>
                  </a:ln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622078" y="1269491"/>
            <a:ext cx="2851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0%</a:t>
            </a:r>
            <a:r>
              <a:rPr sz="11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AUDITABILITY</a:t>
            </a:r>
            <a:r>
              <a:rPr sz="11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11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DEEP</a:t>
            </a:r>
            <a:r>
              <a:rPr sz="11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11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SCREENERS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47677" y="1166957"/>
            <a:ext cx="3592195" cy="455295"/>
            <a:chOff x="8047677" y="1166957"/>
            <a:chExt cx="3592195" cy="45529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7677" y="1166957"/>
              <a:ext cx="3591677" cy="45528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92439" y="1188720"/>
              <a:ext cx="3502660" cy="365760"/>
            </a:xfrm>
            <a:custGeom>
              <a:avLst/>
              <a:gdLst/>
              <a:ahLst/>
              <a:cxnLst/>
              <a:rect l="l" t="t" r="r" b="b"/>
              <a:pathLst>
                <a:path w="3502659" h="365759">
                  <a:moveTo>
                    <a:pt x="3441190" y="365759"/>
                  </a:move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3441190" y="0"/>
                  </a:lnTo>
                  <a:lnTo>
                    <a:pt x="3484296" y="17855"/>
                  </a:lnTo>
                  <a:lnTo>
                    <a:pt x="3502152" y="60961"/>
                  </a:lnTo>
                  <a:lnTo>
                    <a:pt x="3502152" y="304798"/>
                  </a:lnTo>
                  <a:lnTo>
                    <a:pt x="3497361" y="328527"/>
                  </a:lnTo>
                  <a:lnTo>
                    <a:pt x="3484296" y="347904"/>
                  </a:lnTo>
                  <a:lnTo>
                    <a:pt x="3464919" y="360969"/>
                  </a:lnTo>
                  <a:lnTo>
                    <a:pt x="3441190" y="365759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092439" y="1188720"/>
              <a:ext cx="3502660" cy="365760"/>
            </a:xfrm>
            <a:custGeom>
              <a:avLst/>
              <a:gdLst/>
              <a:ahLst/>
              <a:cxnLst/>
              <a:rect l="l" t="t" r="r" b="b"/>
              <a:pathLst>
                <a:path w="3502659" h="365759">
                  <a:moveTo>
                    <a:pt x="0" y="60961"/>
                  </a:move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3441190" y="0"/>
                  </a:lnTo>
                  <a:lnTo>
                    <a:pt x="3484296" y="17855"/>
                  </a:lnTo>
                  <a:lnTo>
                    <a:pt x="3502152" y="60961"/>
                  </a:lnTo>
                  <a:lnTo>
                    <a:pt x="3502152" y="304798"/>
                  </a:lnTo>
                  <a:lnTo>
                    <a:pt x="3497361" y="328527"/>
                  </a:lnTo>
                  <a:lnTo>
                    <a:pt x="3484296" y="347904"/>
                  </a:lnTo>
                  <a:lnTo>
                    <a:pt x="3464919" y="360969"/>
                  </a:lnTo>
                  <a:lnTo>
                    <a:pt x="3441190" y="365759"/>
                  </a:ln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477759" y="1269491"/>
            <a:ext cx="26695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100%</a:t>
            </a:r>
            <a:r>
              <a:rPr sz="11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AUDIT</a:t>
            </a:r>
            <a:r>
              <a:rPr sz="11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MANDATE</a:t>
            </a:r>
            <a:r>
              <a:rPr sz="11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UNDER</a:t>
            </a:r>
            <a:r>
              <a:rPr sz="11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NEW</a:t>
            </a:r>
            <a:r>
              <a:rPr sz="11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11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LAWS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44835" y="1665115"/>
            <a:ext cx="5448300" cy="3573779"/>
            <a:chOff x="544835" y="1665115"/>
            <a:chExt cx="5448300" cy="3573779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835" y="1665115"/>
              <a:ext cx="5448290" cy="357377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94359" y="1691639"/>
              <a:ext cx="5349240" cy="3474720"/>
            </a:xfrm>
            <a:custGeom>
              <a:avLst/>
              <a:gdLst/>
              <a:ahLst/>
              <a:cxnLst/>
              <a:rect l="l" t="t" r="r" b="b"/>
              <a:pathLst>
                <a:path w="5349240" h="3474720">
                  <a:moveTo>
                    <a:pt x="4770108" y="3474719"/>
                  </a:moveTo>
                  <a:lnTo>
                    <a:pt x="579131" y="3474719"/>
                  </a:lnTo>
                  <a:lnTo>
                    <a:pt x="531633" y="3472800"/>
                  </a:lnTo>
                  <a:lnTo>
                    <a:pt x="485193" y="3467140"/>
                  </a:lnTo>
                  <a:lnTo>
                    <a:pt x="439959" y="3457888"/>
                  </a:lnTo>
                  <a:lnTo>
                    <a:pt x="396081" y="3445195"/>
                  </a:lnTo>
                  <a:lnTo>
                    <a:pt x="353707" y="3429208"/>
                  </a:lnTo>
                  <a:lnTo>
                    <a:pt x="312987" y="3410078"/>
                  </a:lnTo>
                  <a:lnTo>
                    <a:pt x="274069" y="3387952"/>
                  </a:lnTo>
                  <a:lnTo>
                    <a:pt x="237103" y="3362981"/>
                  </a:lnTo>
                  <a:lnTo>
                    <a:pt x="202238" y="3335312"/>
                  </a:lnTo>
                  <a:lnTo>
                    <a:pt x="169623" y="3305096"/>
                  </a:lnTo>
                  <a:lnTo>
                    <a:pt x="139407" y="3272480"/>
                  </a:lnTo>
                  <a:lnTo>
                    <a:pt x="111738" y="3237615"/>
                  </a:lnTo>
                  <a:lnTo>
                    <a:pt x="86767" y="3200650"/>
                  </a:lnTo>
                  <a:lnTo>
                    <a:pt x="64641" y="3161732"/>
                  </a:lnTo>
                  <a:lnTo>
                    <a:pt x="45511" y="3121012"/>
                  </a:lnTo>
                  <a:lnTo>
                    <a:pt x="29524" y="3078638"/>
                  </a:lnTo>
                  <a:lnTo>
                    <a:pt x="16831" y="3034760"/>
                  </a:lnTo>
                  <a:lnTo>
                    <a:pt x="7579" y="2989526"/>
                  </a:lnTo>
                  <a:lnTo>
                    <a:pt x="1919" y="2943086"/>
                  </a:lnTo>
                  <a:lnTo>
                    <a:pt x="0" y="2895588"/>
                  </a:lnTo>
                  <a:lnTo>
                    <a:pt x="0" y="579131"/>
                  </a:lnTo>
                  <a:lnTo>
                    <a:pt x="1919" y="531633"/>
                  </a:lnTo>
                  <a:lnTo>
                    <a:pt x="7579" y="485193"/>
                  </a:lnTo>
                  <a:lnTo>
                    <a:pt x="16831" y="439959"/>
                  </a:lnTo>
                  <a:lnTo>
                    <a:pt x="29524" y="396081"/>
                  </a:lnTo>
                  <a:lnTo>
                    <a:pt x="45511" y="353707"/>
                  </a:lnTo>
                  <a:lnTo>
                    <a:pt x="64641" y="312987"/>
                  </a:lnTo>
                  <a:lnTo>
                    <a:pt x="86767" y="274069"/>
                  </a:lnTo>
                  <a:lnTo>
                    <a:pt x="111738" y="237104"/>
                  </a:lnTo>
                  <a:lnTo>
                    <a:pt x="139407" y="202238"/>
                  </a:lnTo>
                  <a:lnTo>
                    <a:pt x="169623" y="169623"/>
                  </a:lnTo>
                  <a:lnTo>
                    <a:pt x="202238" y="139407"/>
                  </a:lnTo>
                  <a:lnTo>
                    <a:pt x="237103" y="111738"/>
                  </a:lnTo>
                  <a:lnTo>
                    <a:pt x="274069" y="86767"/>
                  </a:lnTo>
                  <a:lnTo>
                    <a:pt x="312987" y="64641"/>
                  </a:lnTo>
                  <a:lnTo>
                    <a:pt x="353707" y="45511"/>
                  </a:lnTo>
                  <a:lnTo>
                    <a:pt x="396081" y="29524"/>
                  </a:lnTo>
                  <a:lnTo>
                    <a:pt x="439959" y="16831"/>
                  </a:lnTo>
                  <a:lnTo>
                    <a:pt x="485193" y="7579"/>
                  </a:lnTo>
                  <a:lnTo>
                    <a:pt x="531633" y="1919"/>
                  </a:lnTo>
                  <a:lnTo>
                    <a:pt x="579131" y="0"/>
                  </a:lnTo>
                  <a:lnTo>
                    <a:pt x="4770108" y="0"/>
                  </a:lnTo>
                  <a:lnTo>
                    <a:pt x="4821029" y="2241"/>
                  </a:lnTo>
                  <a:lnTo>
                    <a:pt x="4871217" y="8892"/>
                  </a:lnTo>
                  <a:lnTo>
                    <a:pt x="4920406" y="19841"/>
                  </a:lnTo>
                  <a:lnTo>
                    <a:pt x="4968329" y="34978"/>
                  </a:lnTo>
                  <a:lnTo>
                    <a:pt x="5014719" y="54194"/>
                  </a:lnTo>
                  <a:lnTo>
                    <a:pt x="5059309" y="77376"/>
                  </a:lnTo>
                  <a:lnTo>
                    <a:pt x="5101833" y="104416"/>
                  </a:lnTo>
                  <a:lnTo>
                    <a:pt x="5142024" y="135202"/>
                  </a:lnTo>
                  <a:lnTo>
                    <a:pt x="5179616" y="169623"/>
                  </a:lnTo>
                  <a:lnTo>
                    <a:pt x="5214037" y="207215"/>
                  </a:lnTo>
                  <a:lnTo>
                    <a:pt x="5244823" y="247406"/>
                  </a:lnTo>
                  <a:lnTo>
                    <a:pt x="5271863" y="289930"/>
                  </a:lnTo>
                  <a:lnTo>
                    <a:pt x="5295045" y="334520"/>
                  </a:lnTo>
                  <a:lnTo>
                    <a:pt x="5314261" y="380910"/>
                  </a:lnTo>
                  <a:lnTo>
                    <a:pt x="5329398" y="428833"/>
                  </a:lnTo>
                  <a:lnTo>
                    <a:pt x="5340347" y="478022"/>
                  </a:lnTo>
                  <a:lnTo>
                    <a:pt x="5346998" y="528210"/>
                  </a:lnTo>
                  <a:lnTo>
                    <a:pt x="5349239" y="579131"/>
                  </a:lnTo>
                  <a:lnTo>
                    <a:pt x="5349239" y="2895588"/>
                  </a:lnTo>
                  <a:lnTo>
                    <a:pt x="5347320" y="2943086"/>
                  </a:lnTo>
                  <a:lnTo>
                    <a:pt x="5341660" y="2989526"/>
                  </a:lnTo>
                  <a:lnTo>
                    <a:pt x="5332408" y="3034760"/>
                  </a:lnTo>
                  <a:lnTo>
                    <a:pt x="5319715" y="3078638"/>
                  </a:lnTo>
                  <a:lnTo>
                    <a:pt x="5303728" y="3121012"/>
                  </a:lnTo>
                  <a:lnTo>
                    <a:pt x="5284598" y="3161732"/>
                  </a:lnTo>
                  <a:lnTo>
                    <a:pt x="5262472" y="3200650"/>
                  </a:lnTo>
                  <a:lnTo>
                    <a:pt x="5237501" y="3237615"/>
                  </a:lnTo>
                  <a:lnTo>
                    <a:pt x="5209832" y="3272480"/>
                  </a:lnTo>
                  <a:lnTo>
                    <a:pt x="5179616" y="3305096"/>
                  </a:lnTo>
                  <a:lnTo>
                    <a:pt x="5147001" y="3335312"/>
                  </a:lnTo>
                  <a:lnTo>
                    <a:pt x="5112135" y="3362981"/>
                  </a:lnTo>
                  <a:lnTo>
                    <a:pt x="5075170" y="3387952"/>
                  </a:lnTo>
                  <a:lnTo>
                    <a:pt x="5036252" y="3410078"/>
                  </a:lnTo>
                  <a:lnTo>
                    <a:pt x="4995532" y="3429208"/>
                  </a:lnTo>
                  <a:lnTo>
                    <a:pt x="4953158" y="3445195"/>
                  </a:lnTo>
                  <a:lnTo>
                    <a:pt x="4909280" y="3457888"/>
                  </a:lnTo>
                  <a:lnTo>
                    <a:pt x="4864046" y="3467140"/>
                  </a:lnTo>
                  <a:lnTo>
                    <a:pt x="4817606" y="3472800"/>
                  </a:lnTo>
                  <a:lnTo>
                    <a:pt x="4770108" y="3474719"/>
                  </a:lnTo>
                  <a:close/>
                </a:path>
              </a:pathLst>
            </a:custGeom>
            <a:solidFill>
              <a:srgbClr val="FD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94359" y="1691639"/>
              <a:ext cx="5349240" cy="3474720"/>
            </a:xfrm>
            <a:custGeom>
              <a:avLst/>
              <a:gdLst/>
              <a:ahLst/>
              <a:cxnLst/>
              <a:rect l="l" t="t" r="r" b="b"/>
              <a:pathLst>
                <a:path w="5349240" h="3474720">
                  <a:moveTo>
                    <a:pt x="0" y="579131"/>
                  </a:moveTo>
                  <a:lnTo>
                    <a:pt x="1919" y="531633"/>
                  </a:lnTo>
                  <a:lnTo>
                    <a:pt x="7579" y="485193"/>
                  </a:lnTo>
                  <a:lnTo>
                    <a:pt x="16831" y="439959"/>
                  </a:lnTo>
                  <a:lnTo>
                    <a:pt x="29524" y="396081"/>
                  </a:lnTo>
                  <a:lnTo>
                    <a:pt x="45511" y="353707"/>
                  </a:lnTo>
                  <a:lnTo>
                    <a:pt x="64641" y="312987"/>
                  </a:lnTo>
                  <a:lnTo>
                    <a:pt x="86767" y="274069"/>
                  </a:lnTo>
                  <a:lnTo>
                    <a:pt x="111738" y="237104"/>
                  </a:lnTo>
                  <a:lnTo>
                    <a:pt x="139407" y="202238"/>
                  </a:lnTo>
                  <a:lnTo>
                    <a:pt x="169623" y="169623"/>
                  </a:lnTo>
                  <a:lnTo>
                    <a:pt x="202238" y="139407"/>
                  </a:lnTo>
                  <a:lnTo>
                    <a:pt x="237103" y="111738"/>
                  </a:lnTo>
                  <a:lnTo>
                    <a:pt x="274069" y="86767"/>
                  </a:lnTo>
                  <a:lnTo>
                    <a:pt x="312987" y="64641"/>
                  </a:lnTo>
                  <a:lnTo>
                    <a:pt x="353707" y="45511"/>
                  </a:lnTo>
                  <a:lnTo>
                    <a:pt x="396081" y="29524"/>
                  </a:lnTo>
                  <a:lnTo>
                    <a:pt x="439959" y="16831"/>
                  </a:lnTo>
                  <a:lnTo>
                    <a:pt x="485193" y="7579"/>
                  </a:lnTo>
                  <a:lnTo>
                    <a:pt x="531633" y="1919"/>
                  </a:lnTo>
                  <a:lnTo>
                    <a:pt x="579131" y="0"/>
                  </a:lnTo>
                  <a:lnTo>
                    <a:pt x="4770108" y="0"/>
                  </a:lnTo>
                  <a:lnTo>
                    <a:pt x="4821029" y="2241"/>
                  </a:lnTo>
                  <a:lnTo>
                    <a:pt x="4871217" y="8892"/>
                  </a:lnTo>
                  <a:lnTo>
                    <a:pt x="4920406" y="19841"/>
                  </a:lnTo>
                  <a:lnTo>
                    <a:pt x="4968329" y="34978"/>
                  </a:lnTo>
                  <a:lnTo>
                    <a:pt x="5014719" y="54194"/>
                  </a:lnTo>
                  <a:lnTo>
                    <a:pt x="5059309" y="77376"/>
                  </a:lnTo>
                  <a:lnTo>
                    <a:pt x="5101833" y="104416"/>
                  </a:lnTo>
                  <a:lnTo>
                    <a:pt x="5142024" y="135202"/>
                  </a:lnTo>
                  <a:lnTo>
                    <a:pt x="5179616" y="169623"/>
                  </a:lnTo>
                  <a:lnTo>
                    <a:pt x="5214037" y="207215"/>
                  </a:lnTo>
                  <a:lnTo>
                    <a:pt x="5244823" y="247406"/>
                  </a:lnTo>
                  <a:lnTo>
                    <a:pt x="5271863" y="289930"/>
                  </a:lnTo>
                  <a:lnTo>
                    <a:pt x="5295045" y="334520"/>
                  </a:lnTo>
                  <a:lnTo>
                    <a:pt x="5314261" y="380910"/>
                  </a:lnTo>
                  <a:lnTo>
                    <a:pt x="5329398" y="428833"/>
                  </a:lnTo>
                  <a:lnTo>
                    <a:pt x="5340347" y="478022"/>
                  </a:lnTo>
                  <a:lnTo>
                    <a:pt x="5346998" y="528210"/>
                  </a:lnTo>
                  <a:lnTo>
                    <a:pt x="5349239" y="579131"/>
                  </a:lnTo>
                  <a:lnTo>
                    <a:pt x="5349239" y="2895588"/>
                  </a:lnTo>
                  <a:lnTo>
                    <a:pt x="5347320" y="2943086"/>
                  </a:lnTo>
                  <a:lnTo>
                    <a:pt x="5341660" y="2989526"/>
                  </a:lnTo>
                  <a:lnTo>
                    <a:pt x="5332408" y="3034760"/>
                  </a:lnTo>
                  <a:lnTo>
                    <a:pt x="5319715" y="3078638"/>
                  </a:lnTo>
                  <a:lnTo>
                    <a:pt x="5303728" y="3121012"/>
                  </a:lnTo>
                  <a:lnTo>
                    <a:pt x="5284598" y="3161732"/>
                  </a:lnTo>
                  <a:lnTo>
                    <a:pt x="5262472" y="3200650"/>
                  </a:lnTo>
                  <a:lnTo>
                    <a:pt x="5237501" y="3237615"/>
                  </a:lnTo>
                  <a:lnTo>
                    <a:pt x="5209832" y="3272480"/>
                  </a:lnTo>
                  <a:lnTo>
                    <a:pt x="5179616" y="3305096"/>
                  </a:lnTo>
                  <a:lnTo>
                    <a:pt x="5147001" y="3335312"/>
                  </a:lnTo>
                  <a:lnTo>
                    <a:pt x="5112135" y="3362981"/>
                  </a:lnTo>
                  <a:lnTo>
                    <a:pt x="5075170" y="3387952"/>
                  </a:lnTo>
                  <a:lnTo>
                    <a:pt x="5036252" y="3410078"/>
                  </a:lnTo>
                  <a:lnTo>
                    <a:pt x="4995532" y="3429208"/>
                  </a:lnTo>
                  <a:lnTo>
                    <a:pt x="4953158" y="3445195"/>
                  </a:lnTo>
                  <a:lnTo>
                    <a:pt x="4909280" y="3457888"/>
                  </a:lnTo>
                  <a:lnTo>
                    <a:pt x="4864046" y="3467140"/>
                  </a:lnTo>
                  <a:lnTo>
                    <a:pt x="4817606" y="3472800"/>
                  </a:lnTo>
                  <a:lnTo>
                    <a:pt x="4770108" y="3474719"/>
                  </a:lnTo>
                  <a:lnTo>
                    <a:pt x="579131" y="3474719"/>
                  </a:lnTo>
                  <a:lnTo>
                    <a:pt x="531633" y="3472800"/>
                  </a:lnTo>
                  <a:lnTo>
                    <a:pt x="485193" y="3467140"/>
                  </a:lnTo>
                  <a:lnTo>
                    <a:pt x="439959" y="3457888"/>
                  </a:lnTo>
                  <a:lnTo>
                    <a:pt x="396081" y="3445195"/>
                  </a:lnTo>
                  <a:lnTo>
                    <a:pt x="353707" y="3429208"/>
                  </a:lnTo>
                  <a:lnTo>
                    <a:pt x="312987" y="3410078"/>
                  </a:lnTo>
                  <a:lnTo>
                    <a:pt x="274069" y="3387952"/>
                  </a:lnTo>
                  <a:lnTo>
                    <a:pt x="237103" y="3362981"/>
                  </a:lnTo>
                  <a:lnTo>
                    <a:pt x="202238" y="3335312"/>
                  </a:lnTo>
                  <a:lnTo>
                    <a:pt x="169623" y="3305096"/>
                  </a:lnTo>
                  <a:lnTo>
                    <a:pt x="139407" y="3272480"/>
                  </a:lnTo>
                  <a:lnTo>
                    <a:pt x="111738" y="3237615"/>
                  </a:lnTo>
                  <a:lnTo>
                    <a:pt x="86767" y="3200650"/>
                  </a:lnTo>
                  <a:lnTo>
                    <a:pt x="64641" y="3161732"/>
                  </a:lnTo>
                  <a:lnTo>
                    <a:pt x="45511" y="3121012"/>
                  </a:lnTo>
                  <a:lnTo>
                    <a:pt x="29524" y="3078638"/>
                  </a:lnTo>
                  <a:lnTo>
                    <a:pt x="16831" y="3034760"/>
                  </a:lnTo>
                  <a:lnTo>
                    <a:pt x="7579" y="2989526"/>
                  </a:lnTo>
                  <a:lnTo>
                    <a:pt x="1919" y="2943086"/>
                  </a:lnTo>
                  <a:lnTo>
                    <a:pt x="0" y="2895588"/>
                  </a:lnTo>
                  <a:lnTo>
                    <a:pt x="0" y="579131"/>
                  </a:lnTo>
                  <a:close/>
                </a:path>
              </a:pathLst>
            </a:custGeom>
            <a:ln w="19049">
              <a:solidFill>
                <a:srgbClr val="FC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549597" y="1669877"/>
            <a:ext cx="5438775" cy="528955"/>
            <a:chOff x="549597" y="1669877"/>
            <a:chExt cx="5438775" cy="52895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597" y="1669877"/>
              <a:ext cx="5438765" cy="52843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4359" y="16916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991B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94359" y="16916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991B1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5796" y="1815007"/>
              <a:ext cx="221258" cy="208243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444537" y="1789366"/>
            <a:ext cx="38576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CURRENT</a:t>
            </a:r>
            <a:r>
              <a:rPr sz="14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RECRUITMENT</a:t>
            </a:r>
            <a:r>
              <a:rPr sz="14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BOTTLENECKS</a:t>
            </a:r>
            <a:r>
              <a:rPr sz="1400" b="1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(THE</a:t>
            </a:r>
            <a:r>
              <a:rPr sz="14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CRISIS)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2256" y="2521458"/>
            <a:ext cx="4545965" cy="253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spc="-2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Black-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Box</a:t>
            </a:r>
            <a:r>
              <a:rPr sz="1400" b="1" spc="-35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ML</a:t>
            </a:r>
            <a:r>
              <a:rPr sz="1400" b="1" spc="-35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Opacity:</a:t>
            </a:r>
            <a:r>
              <a:rPr sz="1400" b="1" spc="215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Deep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neural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networks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LLMs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cannot provide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mathematical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proof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traces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explaining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why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applicant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was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rejected.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121285" indent="127000">
              <a:lnSpc>
                <a:spcPct val="100000"/>
              </a:lnSpc>
              <a:spcBef>
                <a:spcPts val="7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Algorithmic</a:t>
            </a:r>
            <a:r>
              <a:rPr sz="1400" b="1" spc="-5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Bias</a:t>
            </a:r>
            <a:r>
              <a:rPr sz="1400" b="1" spc="-5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Amplification:</a:t>
            </a:r>
            <a:r>
              <a:rPr sz="1400" b="1" spc="265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Statistical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models</a:t>
            </a:r>
            <a:r>
              <a:rPr sz="13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trained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on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historical</a:t>
            </a:r>
            <a:r>
              <a:rPr sz="13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hiring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inherit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amplify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demographic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disparities.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52705" indent="127000">
              <a:lnSpc>
                <a:spcPct val="100000"/>
              </a:lnSpc>
              <a:spcBef>
                <a:spcPts val="7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Recruiter</a:t>
            </a:r>
            <a:r>
              <a:rPr sz="1400" b="1" spc="-4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Fatigue</a:t>
            </a:r>
            <a:r>
              <a:rPr sz="1400" b="1" spc="-4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4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Inconsistency:</a:t>
            </a:r>
            <a:r>
              <a:rPr sz="1400" b="1" spc="32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Manual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screening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200+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resumes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varies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heavily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fatigue,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causing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high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false-negative</a:t>
            </a:r>
            <a:r>
              <a:rPr sz="13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rates.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83185" indent="127000">
              <a:lnSpc>
                <a:spcPct val="100000"/>
              </a:lnSpc>
              <a:spcBef>
                <a:spcPts val="7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Heavy</a:t>
            </a:r>
            <a:r>
              <a:rPr sz="1400" b="1" spc="-35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Infrastructure</a:t>
            </a:r>
            <a:r>
              <a:rPr sz="1400" b="1" spc="-3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Costs:</a:t>
            </a:r>
            <a:r>
              <a:rPr sz="1400" b="1" spc="26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Transformer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models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require expensive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GPU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instances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suffer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unpredictable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API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token latency.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195827" y="1665115"/>
            <a:ext cx="5448300" cy="3573779"/>
            <a:chOff x="6195827" y="1665115"/>
            <a:chExt cx="5448300" cy="3573779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5827" y="1665115"/>
              <a:ext cx="5448290" cy="357377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245352" y="1691639"/>
              <a:ext cx="5349240" cy="3474720"/>
            </a:xfrm>
            <a:custGeom>
              <a:avLst/>
              <a:gdLst/>
              <a:ahLst/>
              <a:cxnLst/>
              <a:rect l="l" t="t" r="r" b="b"/>
              <a:pathLst>
                <a:path w="5349240" h="3474720">
                  <a:moveTo>
                    <a:pt x="4770107" y="3474719"/>
                  </a:moveTo>
                  <a:lnTo>
                    <a:pt x="579131" y="3474719"/>
                  </a:lnTo>
                  <a:lnTo>
                    <a:pt x="531633" y="3472800"/>
                  </a:lnTo>
                  <a:lnTo>
                    <a:pt x="485193" y="3467140"/>
                  </a:lnTo>
                  <a:lnTo>
                    <a:pt x="439959" y="3457888"/>
                  </a:lnTo>
                  <a:lnTo>
                    <a:pt x="396081" y="3445195"/>
                  </a:lnTo>
                  <a:lnTo>
                    <a:pt x="353707" y="3429208"/>
                  </a:lnTo>
                  <a:lnTo>
                    <a:pt x="312987" y="3410078"/>
                  </a:lnTo>
                  <a:lnTo>
                    <a:pt x="274069" y="3387952"/>
                  </a:lnTo>
                  <a:lnTo>
                    <a:pt x="237103" y="3362981"/>
                  </a:lnTo>
                  <a:lnTo>
                    <a:pt x="202238" y="3335312"/>
                  </a:lnTo>
                  <a:lnTo>
                    <a:pt x="169623" y="3305096"/>
                  </a:lnTo>
                  <a:lnTo>
                    <a:pt x="139407" y="3272480"/>
                  </a:lnTo>
                  <a:lnTo>
                    <a:pt x="111738" y="3237615"/>
                  </a:lnTo>
                  <a:lnTo>
                    <a:pt x="86767" y="3200650"/>
                  </a:lnTo>
                  <a:lnTo>
                    <a:pt x="64641" y="3161732"/>
                  </a:lnTo>
                  <a:lnTo>
                    <a:pt x="45511" y="3121012"/>
                  </a:lnTo>
                  <a:lnTo>
                    <a:pt x="29524" y="3078638"/>
                  </a:lnTo>
                  <a:lnTo>
                    <a:pt x="16831" y="3034760"/>
                  </a:lnTo>
                  <a:lnTo>
                    <a:pt x="7579" y="2989526"/>
                  </a:lnTo>
                  <a:lnTo>
                    <a:pt x="1919" y="2943086"/>
                  </a:lnTo>
                  <a:lnTo>
                    <a:pt x="0" y="2895588"/>
                  </a:lnTo>
                  <a:lnTo>
                    <a:pt x="0" y="579131"/>
                  </a:lnTo>
                  <a:lnTo>
                    <a:pt x="1919" y="531633"/>
                  </a:lnTo>
                  <a:lnTo>
                    <a:pt x="7579" y="485193"/>
                  </a:lnTo>
                  <a:lnTo>
                    <a:pt x="16831" y="439959"/>
                  </a:lnTo>
                  <a:lnTo>
                    <a:pt x="29524" y="396081"/>
                  </a:lnTo>
                  <a:lnTo>
                    <a:pt x="45511" y="353707"/>
                  </a:lnTo>
                  <a:lnTo>
                    <a:pt x="64641" y="312987"/>
                  </a:lnTo>
                  <a:lnTo>
                    <a:pt x="86767" y="274069"/>
                  </a:lnTo>
                  <a:lnTo>
                    <a:pt x="111738" y="237104"/>
                  </a:lnTo>
                  <a:lnTo>
                    <a:pt x="139407" y="202238"/>
                  </a:lnTo>
                  <a:lnTo>
                    <a:pt x="169623" y="169623"/>
                  </a:lnTo>
                  <a:lnTo>
                    <a:pt x="202238" y="139407"/>
                  </a:lnTo>
                  <a:lnTo>
                    <a:pt x="237103" y="111738"/>
                  </a:lnTo>
                  <a:lnTo>
                    <a:pt x="274069" y="86767"/>
                  </a:lnTo>
                  <a:lnTo>
                    <a:pt x="312987" y="64641"/>
                  </a:lnTo>
                  <a:lnTo>
                    <a:pt x="353707" y="45511"/>
                  </a:lnTo>
                  <a:lnTo>
                    <a:pt x="396081" y="29524"/>
                  </a:lnTo>
                  <a:lnTo>
                    <a:pt x="439959" y="16831"/>
                  </a:lnTo>
                  <a:lnTo>
                    <a:pt x="485193" y="7579"/>
                  </a:lnTo>
                  <a:lnTo>
                    <a:pt x="531633" y="1919"/>
                  </a:lnTo>
                  <a:lnTo>
                    <a:pt x="579131" y="0"/>
                  </a:lnTo>
                  <a:lnTo>
                    <a:pt x="4770107" y="0"/>
                  </a:lnTo>
                  <a:lnTo>
                    <a:pt x="4821029" y="2241"/>
                  </a:lnTo>
                  <a:lnTo>
                    <a:pt x="4871217" y="8892"/>
                  </a:lnTo>
                  <a:lnTo>
                    <a:pt x="4920406" y="19841"/>
                  </a:lnTo>
                  <a:lnTo>
                    <a:pt x="4968329" y="34978"/>
                  </a:lnTo>
                  <a:lnTo>
                    <a:pt x="5014718" y="54194"/>
                  </a:lnTo>
                  <a:lnTo>
                    <a:pt x="5059309" y="77376"/>
                  </a:lnTo>
                  <a:lnTo>
                    <a:pt x="5101833" y="104416"/>
                  </a:lnTo>
                  <a:lnTo>
                    <a:pt x="5142024" y="135202"/>
                  </a:lnTo>
                  <a:lnTo>
                    <a:pt x="5179615" y="169623"/>
                  </a:lnTo>
                  <a:lnTo>
                    <a:pt x="5214037" y="207215"/>
                  </a:lnTo>
                  <a:lnTo>
                    <a:pt x="5244823" y="247406"/>
                  </a:lnTo>
                  <a:lnTo>
                    <a:pt x="5271863" y="289930"/>
                  </a:lnTo>
                  <a:lnTo>
                    <a:pt x="5295045" y="334520"/>
                  </a:lnTo>
                  <a:lnTo>
                    <a:pt x="5314261" y="380910"/>
                  </a:lnTo>
                  <a:lnTo>
                    <a:pt x="5329398" y="428833"/>
                  </a:lnTo>
                  <a:lnTo>
                    <a:pt x="5340348" y="478022"/>
                  </a:lnTo>
                  <a:lnTo>
                    <a:pt x="5346999" y="528210"/>
                  </a:lnTo>
                  <a:lnTo>
                    <a:pt x="5349240" y="579131"/>
                  </a:lnTo>
                  <a:lnTo>
                    <a:pt x="5349240" y="2895588"/>
                  </a:lnTo>
                  <a:lnTo>
                    <a:pt x="5347320" y="2943086"/>
                  </a:lnTo>
                  <a:lnTo>
                    <a:pt x="5341660" y="2989526"/>
                  </a:lnTo>
                  <a:lnTo>
                    <a:pt x="5332409" y="3034760"/>
                  </a:lnTo>
                  <a:lnTo>
                    <a:pt x="5319715" y="3078638"/>
                  </a:lnTo>
                  <a:lnTo>
                    <a:pt x="5303729" y="3121012"/>
                  </a:lnTo>
                  <a:lnTo>
                    <a:pt x="5284598" y="3161732"/>
                  </a:lnTo>
                  <a:lnTo>
                    <a:pt x="5262473" y="3200650"/>
                  </a:lnTo>
                  <a:lnTo>
                    <a:pt x="5237501" y="3237615"/>
                  </a:lnTo>
                  <a:lnTo>
                    <a:pt x="5209833" y="3272480"/>
                  </a:lnTo>
                  <a:lnTo>
                    <a:pt x="5179616" y="3305096"/>
                  </a:lnTo>
                  <a:lnTo>
                    <a:pt x="5147001" y="3335312"/>
                  </a:lnTo>
                  <a:lnTo>
                    <a:pt x="5112136" y="3362981"/>
                  </a:lnTo>
                  <a:lnTo>
                    <a:pt x="5075170" y="3387952"/>
                  </a:lnTo>
                  <a:lnTo>
                    <a:pt x="5036252" y="3410078"/>
                  </a:lnTo>
                  <a:lnTo>
                    <a:pt x="4995532" y="3429208"/>
                  </a:lnTo>
                  <a:lnTo>
                    <a:pt x="4953158" y="3445195"/>
                  </a:lnTo>
                  <a:lnTo>
                    <a:pt x="4909280" y="3457888"/>
                  </a:lnTo>
                  <a:lnTo>
                    <a:pt x="4864046" y="3467140"/>
                  </a:lnTo>
                  <a:lnTo>
                    <a:pt x="4817605" y="3472800"/>
                  </a:lnTo>
                  <a:lnTo>
                    <a:pt x="4770107" y="3474719"/>
                  </a:lnTo>
                  <a:close/>
                </a:path>
              </a:pathLst>
            </a:custGeom>
            <a:solidFill>
              <a:srgbClr val="F0FC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245352" y="1691639"/>
              <a:ext cx="5349240" cy="3474720"/>
            </a:xfrm>
            <a:custGeom>
              <a:avLst/>
              <a:gdLst/>
              <a:ahLst/>
              <a:cxnLst/>
              <a:rect l="l" t="t" r="r" b="b"/>
              <a:pathLst>
                <a:path w="5349240" h="3474720">
                  <a:moveTo>
                    <a:pt x="0" y="579131"/>
                  </a:moveTo>
                  <a:lnTo>
                    <a:pt x="1919" y="531633"/>
                  </a:lnTo>
                  <a:lnTo>
                    <a:pt x="7579" y="485193"/>
                  </a:lnTo>
                  <a:lnTo>
                    <a:pt x="16831" y="439959"/>
                  </a:lnTo>
                  <a:lnTo>
                    <a:pt x="29524" y="396081"/>
                  </a:lnTo>
                  <a:lnTo>
                    <a:pt x="45511" y="353707"/>
                  </a:lnTo>
                  <a:lnTo>
                    <a:pt x="64641" y="312987"/>
                  </a:lnTo>
                  <a:lnTo>
                    <a:pt x="86767" y="274069"/>
                  </a:lnTo>
                  <a:lnTo>
                    <a:pt x="111738" y="237104"/>
                  </a:lnTo>
                  <a:lnTo>
                    <a:pt x="139407" y="202238"/>
                  </a:lnTo>
                  <a:lnTo>
                    <a:pt x="169623" y="169623"/>
                  </a:lnTo>
                  <a:lnTo>
                    <a:pt x="202238" y="139407"/>
                  </a:lnTo>
                  <a:lnTo>
                    <a:pt x="237103" y="111738"/>
                  </a:lnTo>
                  <a:lnTo>
                    <a:pt x="274069" y="86767"/>
                  </a:lnTo>
                  <a:lnTo>
                    <a:pt x="312987" y="64641"/>
                  </a:lnTo>
                  <a:lnTo>
                    <a:pt x="353707" y="45511"/>
                  </a:lnTo>
                  <a:lnTo>
                    <a:pt x="396081" y="29524"/>
                  </a:lnTo>
                  <a:lnTo>
                    <a:pt x="439959" y="16831"/>
                  </a:lnTo>
                  <a:lnTo>
                    <a:pt x="485193" y="7579"/>
                  </a:lnTo>
                  <a:lnTo>
                    <a:pt x="531633" y="1919"/>
                  </a:lnTo>
                  <a:lnTo>
                    <a:pt x="579131" y="0"/>
                  </a:lnTo>
                  <a:lnTo>
                    <a:pt x="4770107" y="0"/>
                  </a:lnTo>
                  <a:lnTo>
                    <a:pt x="4821029" y="2241"/>
                  </a:lnTo>
                  <a:lnTo>
                    <a:pt x="4871217" y="8892"/>
                  </a:lnTo>
                  <a:lnTo>
                    <a:pt x="4920406" y="19841"/>
                  </a:lnTo>
                  <a:lnTo>
                    <a:pt x="4968329" y="34978"/>
                  </a:lnTo>
                  <a:lnTo>
                    <a:pt x="5014718" y="54194"/>
                  </a:lnTo>
                  <a:lnTo>
                    <a:pt x="5059309" y="77376"/>
                  </a:lnTo>
                  <a:lnTo>
                    <a:pt x="5101833" y="104416"/>
                  </a:lnTo>
                  <a:lnTo>
                    <a:pt x="5142024" y="135202"/>
                  </a:lnTo>
                  <a:lnTo>
                    <a:pt x="5179615" y="169623"/>
                  </a:lnTo>
                  <a:lnTo>
                    <a:pt x="5214037" y="207215"/>
                  </a:lnTo>
                  <a:lnTo>
                    <a:pt x="5244823" y="247406"/>
                  </a:lnTo>
                  <a:lnTo>
                    <a:pt x="5271863" y="289930"/>
                  </a:lnTo>
                  <a:lnTo>
                    <a:pt x="5295045" y="334520"/>
                  </a:lnTo>
                  <a:lnTo>
                    <a:pt x="5314261" y="380910"/>
                  </a:lnTo>
                  <a:lnTo>
                    <a:pt x="5329398" y="428833"/>
                  </a:lnTo>
                  <a:lnTo>
                    <a:pt x="5340348" y="478022"/>
                  </a:lnTo>
                  <a:lnTo>
                    <a:pt x="5346999" y="528210"/>
                  </a:lnTo>
                  <a:lnTo>
                    <a:pt x="5349240" y="579131"/>
                  </a:lnTo>
                  <a:lnTo>
                    <a:pt x="5349240" y="2895588"/>
                  </a:lnTo>
                  <a:lnTo>
                    <a:pt x="5347320" y="2943086"/>
                  </a:lnTo>
                  <a:lnTo>
                    <a:pt x="5341660" y="2989526"/>
                  </a:lnTo>
                  <a:lnTo>
                    <a:pt x="5332409" y="3034760"/>
                  </a:lnTo>
                  <a:lnTo>
                    <a:pt x="5319715" y="3078638"/>
                  </a:lnTo>
                  <a:lnTo>
                    <a:pt x="5303729" y="3121012"/>
                  </a:lnTo>
                  <a:lnTo>
                    <a:pt x="5284598" y="3161732"/>
                  </a:lnTo>
                  <a:lnTo>
                    <a:pt x="5262473" y="3200650"/>
                  </a:lnTo>
                  <a:lnTo>
                    <a:pt x="5237501" y="3237615"/>
                  </a:lnTo>
                  <a:lnTo>
                    <a:pt x="5209833" y="3272480"/>
                  </a:lnTo>
                  <a:lnTo>
                    <a:pt x="5179616" y="3305096"/>
                  </a:lnTo>
                  <a:lnTo>
                    <a:pt x="5147001" y="3335312"/>
                  </a:lnTo>
                  <a:lnTo>
                    <a:pt x="5112136" y="3362981"/>
                  </a:lnTo>
                  <a:lnTo>
                    <a:pt x="5075170" y="3387952"/>
                  </a:lnTo>
                  <a:lnTo>
                    <a:pt x="5036252" y="3410078"/>
                  </a:lnTo>
                  <a:lnTo>
                    <a:pt x="4995532" y="3429208"/>
                  </a:lnTo>
                  <a:lnTo>
                    <a:pt x="4953158" y="3445195"/>
                  </a:lnTo>
                  <a:lnTo>
                    <a:pt x="4909280" y="3457888"/>
                  </a:lnTo>
                  <a:lnTo>
                    <a:pt x="4864046" y="3467140"/>
                  </a:lnTo>
                  <a:lnTo>
                    <a:pt x="4817605" y="3472800"/>
                  </a:lnTo>
                  <a:lnTo>
                    <a:pt x="4770107" y="3474719"/>
                  </a:lnTo>
                  <a:lnTo>
                    <a:pt x="579131" y="3474719"/>
                  </a:lnTo>
                  <a:lnTo>
                    <a:pt x="531633" y="3472800"/>
                  </a:lnTo>
                  <a:lnTo>
                    <a:pt x="485193" y="3467140"/>
                  </a:lnTo>
                  <a:lnTo>
                    <a:pt x="439959" y="3457888"/>
                  </a:lnTo>
                  <a:lnTo>
                    <a:pt x="396081" y="3445195"/>
                  </a:lnTo>
                  <a:lnTo>
                    <a:pt x="353707" y="3429208"/>
                  </a:lnTo>
                  <a:lnTo>
                    <a:pt x="312987" y="3410078"/>
                  </a:lnTo>
                  <a:lnTo>
                    <a:pt x="274069" y="3387952"/>
                  </a:lnTo>
                  <a:lnTo>
                    <a:pt x="237103" y="3362981"/>
                  </a:lnTo>
                  <a:lnTo>
                    <a:pt x="202238" y="3335312"/>
                  </a:lnTo>
                  <a:lnTo>
                    <a:pt x="169623" y="3305096"/>
                  </a:lnTo>
                  <a:lnTo>
                    <a:pt x="139407" y="3272480"/>
                  </a:lnTo>
                  <a:lnTo>
                    <a:pt x="111738" y="3237615"/>
                  </a:lnTo>
                  <a:lnTo>
                    <a:pt x="86767" y="3200650"/>
                  </a:lnTo>
                  <a:lnTo>
                    <a:pt x="64641" y="3161732"/>
                  </a:lnTo>
                  <a:lnTo>
                    <a:pt x="45511" y="3121012"/>
                  </a:lnTo>
                  <a:lnTo>
                    <a:pt x="29524" y="3078638"/>
                  </a:lnTo>
                  <a:lnTo>
                    <a:pt x="16831" y="3034760"/>
                  </a:lnTo>
                  <a:lnTo>
                    <a:pt x="7579" y="2989526"/>
                  </a:lnTo>
                  <a:lnTo>
                    <a:pt x="1919" y="2943086"/>
                  </a:lnTo>
                  <a:lnTo>
                    <a:pt x="0" y="2895588"/>
                  </a:lnTo>
                  <a:lnTo>
                    <a:pt x="0" y="579131"/>
                  </a:lnTo>
                  <a:close/>
                </a:path>
              </a:pathLst>
            </a:custGeom>
            <a:ln w="19049">
              <a:solidFill>
                <a:srgbClr val="86EEA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6200589" y="1669877"/>
            <a:ext cx="5438775" cy="528955"/>
            <a:chOff x="6200589" y="1669877"/>
            <a:chExt cx="5438775" cy="528955"/>
          </a:xfrm>
        </p:grpSpPr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00589" y="1669877"/>
              <a:ext cx="5438765" cy="52843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245352" y="16916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245352" y="16916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16A34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6840003" y="1789366"/>
            <a:ext cx="41052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SimSun-ExtB" panose="02010609060101010101" charset="-122"/>
                <a:cs typeface="SimSun-ExtB" panose="02010609060101010101" charset="-122"/>
              </a:rPr>
              <a:t>✔</a:t>
            </a:r>
            <a:r>
              <a:rPr sz="1400" spc="-315" dirty="0">
                <a:solidFill>
                  <a:srgbClr val="FFFFFF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HIREAI</a:t>
            </a:r>
            <a:r>
              <a:rPr sz="1400" b="1" spc="-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SOLUTION</a:t>
            </a:r>
            <a:r>
              <a:rPr sz="1400" b="1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REQUIREMENTS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(THE</a:t>
            </a:r>
            <a:r>
              <a:rPr sz="1400" b="1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PARADIGM)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83249" y="2719578"/>
            <a:ext cx="4632960" cy="213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8785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400" b="1" spc="-4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Explainability:</a:t>
            </a:r>
            <a:r>
              <a:rPr sz="1400" b="1" spc="26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Every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shortlist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rejection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produces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itemized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proof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trace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verifying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exact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satisfaction.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154940" indent="127000">
              <a:lnSpc>
                <a:spcPct val="100000"/>
              </a:lnSpc>
              <a:spcBef>
                <a:spcPts val="7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Mathematical</a:t>
            </a:r>
            <a:r>
              <a:rPr sz="1400" b="1" spc="-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Fairness:</a:t>
            </a:r>
            <a:r>
              <a:rPr sz="1400" b="1" spc="25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Evaluates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strictly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verified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technical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skills,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experience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thresholds,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degree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qualification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hierarchies.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22860" indent="127000">
              <a:lnSpc>
                <a:spcPct val="100000"/>
              </a:lnSpc>
              <a:spcBef>
                <a:spcPts val="700"/>
              </a:spcBef>
              <a:buChar char="•"/>
              <a:tabLst>
                <a:tab pos="139700" algn="l"/>
              </a:tabLst>
            </a:pPr>
            <a:r>
              <a:rPr sz="14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Sub-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50ms</a:t>
            </a:r>
            <a:r>
              <a:rPr sz="1400" b="1" spc="-3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CPU</a:t>
            </a:r>
            <a:r>
              <a:rPr sz="1400" b="1" spc="-3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Execution:</a:t>
            </a:r>
            <a:r>
              <a:rPr sz="1400" b="1" spc="26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Runs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locally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commodity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servers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milliseconds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GPU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overhead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API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costs.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5080" indent="127000">
              <a:lnSpc>
                <a:spcPct val="100000"/>
              </a:lnSpc>
              <a:spcBef>
                <a:spcPts val="7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Instant</a:t>
            </a:r>
            <a:r>
              <a:rPr sz="1400" b="1" spc="-5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Policy</a:t>
            </a:r>
            <a:r>
              <a:rPr sz="1400" b="1" spc="-5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Adaptability:</a:t>
            </a:r>
            <a:r>
              <a:rPr sz="1400" b="1" spc="229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HR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recruiters</a:t>
            </a:r>
            <a:r>
              <a:rPr sz="13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adjust</a:t>
            </a:r>
            <a:r>
              <a:rPr sz="13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criteria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weights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dynamically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without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needing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retrain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complex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models.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Motivation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559890" y="155447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835" y="1207915"/>
            <a:ext cx="5448300" cy="2065020"/>
            <a:chOff x="544835" y="1207915"/>
            <a:chExt cx="5448300" cy="206502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1207915"/>
              <a:ext cx="5448290" cy="20650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234439"/>
              <a:ext cx="5349240" cy="1965960"/>
            </a:xfrm>
            <a:custGeom>
              <a:avLst/>
              <a:gdLst/>
              <a:ahLst/>
              <a:cxnLst/>
              <a:rect l="l" t="t" r="r" b="b"/>
              <a:pathLst>
                <a:path w="5349240" h="1965960">
                  <a:moveTo>
                    <a:pt x="5021573" y="1965959"/>
                  </a:moveTo>
                  <a:lnTo>
                    <a:pt x="327666" y="1965959"/>
                  </a:lnTo>
                  <a:lnTo>
                    <a:pt x="279246" y="1962407"/>
                  </a:lnTo>
                  <a:lnTo>
                    <a:pt x="233032" y="1952086"/>
                  </a:lnTo>
                  <a:lnTo>
                    <a:pt x="189530" y="1935505"/>
                  </a:lnTo>
                  <a:lnTo>
                    <a:pt x="149248" y="1913170"/>
                  </a:lnTo>
                  <a:lnTo>
                    <a:pt x="112693" y="1885588"/>
                  </a:lnTo>
                  <a:lnTo>
                    <a:pt x="80371" y="1853266"/>
                  </a:lnTo>
                  <a:lnTo>
                    <a:pt x="52789" y="1816711"/>
                  </a:lnTo>
                  <a:lnTo>
                    <a:pt x="30454" y="1776429"/>
                  </a:lnTo>
                  <a:lnTo>
                    <a:pt x="13873" y="1732927"/>
                  </a:lnTo>
                  <a:lnTo>
                    <a:pt x="3552" y="1686713"/>
                  </a:lnTo>
                  <a:lnTo>
                    <a:pt x="0" y="1638293"/>
                  </a:lnTo>
                  <a:lnTo>
                    <a:pt x="0" y="327666"/>
                  </a:ln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1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5021573" y="0"/>
                  </a:lnTo>
                  <a:lnTo>
                    <a:pt x="5073141" y="4081"/>
                  </a:lnTo>
                  <a:lnTo>
                    <a:pt x="5122974" y="16084"/>
                  </a:lnTo>
                  <a:lnTo>
                    <a:pt x="5170193" y="35643"/>
                  </a:lnTo>
                  <a:lnTo>
                    <a:pt x="5213918" y="62393"/>
                  </a:lnTo>
                  <a:lnTo>
                    <a:pt x="5253268" y="95971"/>
                  </a:lnTo>
                  <a:lnTo>
                    <a:pt x="5286846" y="135321"/>
                  </a:lnTo>
                  <a:lnTo>
                    <a:pt x="5313596" y="179046"/>
                  </a:lnTo>
                  <a:lnTo>
                    <a:pt x="5333155" y="226265"/>
                  </a:lnTo>
                  <a:lnTo>
                    <a:pt x="5345158" y="276098"/>
                  </a:lnTo>
                  <a:lnTo>
                    <a:pt x="5349239" y="327666"/>
                  </a:lnTo>
                  <a:lnTo>
                    <a:pt x="5349239" y="1638293"/>
                  </a:lnTo>
                  <a:lnTo>
                    <a:pt x="5345687" y="1686713"/>
                  </a:lnTo>
                  <a:lnTo>
                    <a:pt x="5335366" y="1732927"/>
                  </a:lnTo>
                  <a:lnTo>
                    <a:pt x="5318785" y="1776429"/>
                  </a:lnTo>
                  <a:lnTo>
                    <a:pt x="5296450" y="1816711"/>
                  </a:lnTo>
                  <a:lnTo>
                    <a:pt x="5268868" y="1853266"/>
                  </a:lnTo>
                  <a:lnTo>
                    <a:pt x="5236546" y="1885588"/>
                  </a:lnTo>
                  <a:lnTo>
                    <a:pt x="5199991" y="1913170"/>
                  </a:lnTo>
                  <a:lnTo>
                    <a:pt x="5159709" y="1935505"/>
                  </a:lnTo>
                  <a:lnTo>
                    <a:pt x="5116207" y="1952086"/>
                  </a:lnTo>
                  <a:lnTo>
                    <a:pt x="5069993" y="1962407"/>
                  </a:lnTo>
                  <a:lnTo>
                    <a:pt x="5021573" y="19659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359" y="1234439"/>
              <a:ext cx="5349240" cy="1965960"/>
            </a:xfrm>
            <a:custGeom>
              <a:avLst/>
              <a:gdLst/>
              <a:ahLst/>
              <a:cxnLst/>
              <a:rect l="l" t="t" r="r" b="b"/>
              <a:pathLst>
                <a:path w="5349240" h="1965960">
                  <a:moveTo>
                    <a:pt x="0" y="327666"/>
                  </a:move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1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5021573" y="0"/>
                  </a:lnTo>
                  <a:lnTo>
                    <a:pt x="5073141" y="4081"/>
                  </a:lnTo>
                  <a:lnTo>
                    <a:pt x="5122974" y="16084"/>
                  </a:lnTo>
                  <a:lnTo>
                    <a:pt x="5170193" y="35643"/>
                  </a:lnTo>
                  <a:lnTo>
                    <a:pt x="5213918" y="62393"/>
                  </a:lnTo>
                  <a:lnTo>
                    <a:pt x="5253268" y="95971"/>
                  </a:lnTo>
                  <a:lnTo>
                    <a:pt x="5286846" y="135321"/>
                  </a:lnTo>
                  <a:lnTo>
                    <a:pt x="5313596" y="179046"/>
                  </a:lnTo>
                  <a:lnTo>
                    <a:pt x="5333155" y="226265"/>
                  </a:lnTo>
                  <a:lnTo>
                    <a:pt x="5345158" y="276098"/>
                  </a:lnTo>
                  <a:lnTo>
                    <a:pt x="5349239" y="327666"/>
                  </a:lnTo>
                  <a:lnTo>
                    <a:pt x="5349239" y="1638293"/>
                  </a:lnTo>
                  <a:lnTo>
                    <a:pt x="5345687" y="1686713"/>
                  </a:lnTo>
                  <a:lnTo>
                    <a:pt x="5335366" y="1732927"/>
                  </a:lnTo>
                  <a:lnTo>
                    <a:pt x="5318785" y="1776429"/>
                  </a:lnTo>
                  <a:lnTo>
                    <a:pt x="5296450" y="1816711"/>
                  </a:lnTo>
                  <a:lnTo>
                    <a:pt x="5268868" y="1853266"/>
                  </a:lnTo>
                  <a:lnTo>
                    <a:pt x="5236546" y="1885588"/>
                  </a:lnTo>
                  <a:lnTo>
                    <a:pt x="5199991" y="1913170"/>
                  </a:lnTo>
                  <a:lnTo>
                    <a:pt x="5159709" y="1935505"/>
                  </a:lnTo>
                  <a:lnTo>
                    <a:pt x="5116207" y="1952086"/>
                  </a:lnTo>
                  <a:lnTo>
                    <a:pt x="5069993" y="1962407"/>
                  </a:lnTo>
                  <a:lnTo>
                    <a:pt x="5021573" y="1965959"/>
                  </a:lnTo>
                  <a:lnTo>
                    <a:pt x="327666" y="1965959"/>
                  </a:lnTo>
                  <a:lnTo>
                    <a:pt x="279246" y="1962407"/>
                  </a:lnTo>
                  <a:lnTo>
                    <a:pt x="233032" y="1952086"/>
                  </a:lnTo>
                  <a:lnTo>
                    <a:pt x="189530" y="1935505"/>
                  </a:lnTo>
                  <a:lnTo>
                    <a:pt x="149248" y="1913170"/>
                  </a:lnTo>
                  <a:lnTo>
                    <a:pt x="112693" y="1885588"/>
                  </a:lnTo>
                  <a:lnTo>
                    <a:pt x="80371" y="1853266"/>
                  </a:lnTo>
                  <a:lnTo>
                    <a:pt x="52789" y="1816711"/>
                  </a:lnTo>
                  <a:lnTo>
                    <a:pt x="30454" y="1776429"/>
                  </a:lnTo>
                  <a:lnTo>
                    <a:pt x="13873" y="1732927"/>
                  </a:lnTo>
                  <a:lnTo>
                    <a:pt x="3552" y="1686713"/>
                  </a:lnTo>
                  <a:lnTo>
                    <a:pt x="0" y="1638293"/>
                  </a:lnTo>
                  <a:lnTo>
                    <a:pt x="0" y="327666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549597" y="1212677"/>
            <a:ext cx="5438775" cy="528955"/>
            <a:chOff x="549597" y="1212677"/>
            <a:chExt cx="5438775" cy="52895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7" y="1212677"/>
              <a:ext cx="5438765" cy="5284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59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4359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698699" y="1332166"/>
            <a:ext cx="31045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Segoe UI Symbol" panose="020B0502040204020203"/>
                <a:cs typeface="Segoe UI Symbol" panose="020B0502040204020203"/>
              </a:rPr>
              <a:t>⚖</a:t>
            </a:r>
            <a:r>
              <a:rPr sz="1400" spc="-50" dirty="0">
                <a:solidFill>
                  <a:srgbClr val="FFFFFF"/>
                </a:solidFill>
                <a:latin typeface="Segoe UI Symbol" panose="020B0502040204020203"/>
                <a:cs typeface="Segoe UI Symbol" panose="020B050204020402020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GLOBAL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REGULATORY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COMPLIANCE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9555" y="2014727"/>
            <a:ext cx="49060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EU</a:t>
            </a:r>
            <a:r>
              <a:rPr sz="14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14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Act</a:t>
            </a:r>
            <a:r>
              <a:rPr sz="14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NYC</a:t>
            </a:r>
            <a:r>
              <a:rPr sz="14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Law</a:t>
            </a:r>
            <a:r>
              <a:rPr sz="14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144:</a:t>
            </a:r>
            <a:r>
              <a:rPr sz="1400" b="1" spc="254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New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global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laws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designate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recruitment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'High-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Risk',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legally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mandating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bias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audits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verifiable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decision reasoning.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159385" indent="127000">
              <a:lnSpc>
                <a:spcPct val="100000"/>
              </a:lnSpc>
              <a:spcBef>
                <a:spcPts val="6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4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Audit</a:t>
            </a:r>
            <a:r>
              <a:rPr sz="14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Risk:</a:t>
            </a:r>
            <a:r>
              <a:rPr sz="1400" b="1" spc="14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HireAI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guarantees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100%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compliance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outputting unambiguous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proof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traces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every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evaluation.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95827" y="1207915"/>
            <a:ext cx="5448300" cy="2065020"/>
            <a:chOff x="6195827" y="1207915"/>
            <a:chExt cx="5448300" cy="2065020"/>
          </a:xfrm>
        </p:grpSpPr>
        <p:pic>
          <p:nvPicPr>
            <p:cNvPr id="15" name="object 1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95827" y="1207915"/>
              <a:ext cx="5448290" cy="20650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45352" y="1234439"/>
              <a:ext cx="5349240" cy="1965960"/>
            </a:xfrm>
            <a:custGeom>
              <a:avLst/>
              <a:gdLst/>
              <a:ahLst/>
              <a:cxnLst/>
              <a:rect l="l" t="t" r="r" b="b"/>
              <a:pathLst>
                <a:path w="5349240" h="1965960">
                  <a:moveTo>
                    <a:pt x="5021573" y="1965959"/>
                  </a:moveTo>
                  <a:lnTo>
                    <a:pt x="327666" y="1965959"/>
                  </a:lnTo>
                  <a:lnTo>
                    <a:pt x="279246" y="1962407"/>
                  </a:lnTo>
                  <a:lnTo>
                    <a:pt x="233032" y="1952086"/>
                  </a:lnTo>
                  <a:lnTo>
                    <a:pt x="189530" y="1935505"/>
                  </a:lnTo>
                  <a:lnTo>
                    <a:pt x="149248" y="1913170"/>
                  </a:lnTo>
                  <a:lnTo>
                    <a:pt x="112693" y="1885588"/>
                  </a:lnTo>
                  <a:lnTo>
                    <a:pt x="80370" y="1853266"/>
                  </a:lnTo>
                  <a:lnTo>
                    <a:pt x="52789" y="1816711"/>
                  </a:lnTo>
                  <a:lnTo>
                    <a:pt x="30454" y="1776429"/>
                  </a:lnTo>
                  <a:lnTo>
                    <a:pt x="13873" y="1732927"/>
                  </a:lnTo>
                  <a:lnTo>
                    <a:pt x="3552" y="1686713"/>
                  </a:lnTo>
                  <a:lnTo>
                    <a:pt x="0" y="1638293"/>
                  </a:lnTo>
                  <a:lnTo>
                    <a:pt x="0" y="327666"/>
                  </a:ln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0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5021573" y="0"/>
                  </a:lnTo>
                  <a:lnTo>
                    <a:pt x="5073141" y="4081"/>
                  </a:lnTo>
                  <a:lnTo>
                    <a:pt x="5122974" y="16084"/>
                  </a:lnTo>
                  <a:lnTo>
                    <a:pt x="5170193" y="35643"/>
                  </a:lnTo>
                  <a:lnTo>
                    <a:pt x="5213917" y="62393"/>
                  </a:lnTo>
                  <a:lnTo>
                    <a:pt x="5253267" y="95971"/>
                  </a:lnTo>
                  <a:lnTo>
                    <a:pt x="5286845" y="135321"/>
                  </a:lnTo>
                  <a:lnTo>
                    <a:pt x="5313596" y="179046"/>
                  </a:lnTo>
                  <a:lnTo>
                    <a:pt x="5333155" y="226265"/>
                  </a:lnTo>
                  <a:lnTo>
                    <a:pt x="5345158" y="276098"/>
                  </a:lnTo>
                  <a:lnTo>
                    <a:pt x="5349240" y="327666"/>
                  </a:lnTo>
                  <a:lnTo>
                    <a:pt x="5349240" y="1638293"/>
                  </a:lnTo>
                  <a:lnTo>
                    <a:pt x="5345687" y="1686713"/>
                  </a:lnTo>
                  <a:lnTo>
                    <a:pt x="5335367" y="1732927"/>
                  </a:lnTo>
                  <a:lnTo>
                    <a:pt x="5318786" y="1776429"/>
                  </a:lnTo>
                  <a:lnTo>
                    <a:pt x="5296451" y="1816711"/>
                  </a:lnTo>
                  <a:lnTo>
                    <a:pt x="5268869" y="1853266"/>
                  </a:lnTo>
                  <a:lnTo>
                    <a:pt x="5236546" y="1885588"/>
                  </a:lnTo>
                  <a:lnTo>
                    <a:pt x="5199991" y="1913170"/>
                  </a:lnTo>
                  <a:lnTo>
                    <a:pt x="5159709" y="1935505"/>
                  </a:lnTo>
                  <a:lnTo>
                    <a:pt x="5116207" y="1952086"/>
                  </a:lnTo>
                  <a:lnTo>
                    <a:pt x="5069993" y="1962407"/>
                  </a:lnTo>
                  <a:lnTo>
                    <a:pt x="5021573" y="19659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245352" y="1234439"/>
              <a:ext cx="5349240" cy="1965960"/>
            </a:xfrm>
            <a:custGeom>
              <a:avLst/>
              <a:gdLst/>
              <a:ahLst/>
              <a:cxnLst/>
              <a:rect l="l" t="t" r="r" b="b"/>
              <a:pathLst>
                <a:path w="5349240" h="1965960">
                  <a:moveTo>
                    <a:pt x="0" y="327666"/>
                  </a:move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0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5021573" y="0"/>
                  </a:lnTo>
                  <a:lnTo>
                    <a:pt x="5073141" y="4081"/>
                  </a:lnTo>
                  <a:lnTo>
                    <a:pt x="5122974" y="16084"/>
                  </a:lnTo>
                  <a:lnTo>
                    <a:pt x="5170193" y="35643"/>
                  </a:lnTo>
                  <a:lnTo>
                    <a:pt x="5213917" y="62393"/>
                  </a:lnTo>
                  <a:lnTo>
                    <a:pt x="5253267" y="95971"/>
                  </a:lnTo>
                  <a:lnTo>
                    <a:pt x="5286845" y="135321"/>
                  </a:lnTo>
                  <a:lnTo>
                    <a:pt x="5313596" y="179046"/>
                  </a:lnTo>
                  <a:lnTo>
                    <a:pt x="5333155" y="226265"/>
                  </a:lnTo>
                  <a:lnTo>
                    <a:pt x="5345158" y="276098"/>
                  </a:lnTo>
                  <a:lnTo>
                    <a:pt x="5349240" y="327666"/>
                  </a:lnTo>
                  <a:lnTo>
                    <a:pt x="5349240" y="1638293"/>
                  </a:lnTo>
                  <a:lnTo>
                    <a:pt x="5345687" y="1686713"/>
                  </a:lnTo>
                  <a:lnTo>
                    <a:pt x="5335367" y="1732927"/>
                  </a:lnTo>
                  <a:lnTo>
                    <a:pt x="5318786" y="1776429"/>
                  </a:lnTo>
                  <a:lnTo>
                    <a:pt x="5296451" y="1816711"/>
                  </a:lnTo>
                  <a:lnTo>
                    <a:pt x="5268869" y="1853266"/>
                  </a:lnTo>
                  <a:lnTo>
                    <a:pt x="5236546" y="1885588"/>
                  </a:lnTo>
                  <a:lnTo>
                    <a:pt x="5199991" y="1913170"/>
                  </a:lnTo>
                  <a:lnTo>
                    <a:pt x="5159709" y="1935505"/>
                  </a:lnTo>
                  <a:lnTo>
                    <a:pt x="5116207" y="1952086"/>
                  </a:lnTo>
                  <a:lnTo>
                    <a:pt x="5069993" y="1962407"/>
                  </a:lnTo>
                  <a:lnTo>
                    <a:pt x="5021573" y="1965959"/>
                  </a:lnTo>
                  <a:lnTo>
                    <a:pt x="327666" y="1965959"/>
                  </a:lnTo>
                  <a:lnTo>
                    <a:pt x="279246" y="1962407"/>
                  </a:lnTo>
                  <a:lnTo>
                    <a:pt x="233032" y="1952086"/>
                  </a:lnTo>
                  <a:lnTo>
                    <a:pt x="189530" y="1935505"/>
                  </a:lnTo>
                  <a:lnTo>
                    <a:pt x="149248" y="1913170"/>
                  </a:lnTo>
                  <a:lnTo>
                    <a:pt x="112693" y="1885588"/>
                  </a:lnTo>
                  <a:lnTo>
                    <a:pt x="80370" y="1853266"/>
                  </a:lnTo>
                  <a:lnTo>
                    <a:pt x="52789" y="1816711"/>
                  </a:lnTo>
                  <a:lnTo>
                    <a:pt x="30454" y="1776429"/>
                  </a:lnTo>
                  <a:lnTo>
                    <a:pt x="13873" y="1732927"/>
                  </a:lnTo>
                  <a:lnTo>
                    <a:pt x="3552" y="1686713"/>
                  </a:lnTo>
                  <a:lnTo>
                    <a:pt x="0" y="1638293"/>
                  </a:lnTo>
                  <a:lnTo>
                    <a:pt x="0" y="327666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6200589" y="1212677"/>
            <a:ext cx="5438775" cy="528955"/>
            <a:chOff x="6200589" y="1212677"/>
            <a:chExt cx="5438775" cy="52895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0589" y="1212677"/>
              <a:ext cx="5438765" cy="52843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45352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45352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2956" y="1357807"/>
              <a:ext cx="221258" cy="208243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841698" y="1332166"/>
            <a:ext cx="23914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FOUNDATIONS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ACTION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90547" y="2014727"/>
            <a:ext cx="44786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Curriculum</a:t>
            </a:r>
            <a:r>
              <a:rPr sz="140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Realization:</a:t>
            </a:r>
            <a:r>
              <a:rPr sz="1400" b="1" spc="2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Brings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textbook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life: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implements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Goal-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Based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Agents,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Knowledge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Bases,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Heuristics,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First-Order Forward Chaining.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62230" indent="127000">
              <a:lnSpc>
                <a:spcPct val="100000"/>
              </a:lnSpc>
              <a:spcBef>
                <a:spcPts val="6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Symbolic</a:t>
            </a:r>
            <a:r>
              <a:rPr sz="140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Precision:</a:t>
            </a:r>
            <a:r>
              <a:rPr sz="1400" b="1" spc="18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Demonstrates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classical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based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AI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remains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superior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statistical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ML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when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auditability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mandatory.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44835" y="3265315"/>
            <a:ext cx="5448300" cy="2065020"/>
            <a:chOff x="544835" y="3265315"/>
            <a:chExt cx="5448300" cy="2065020"/>
          </a:xfrm>
        </p:grpSpPr>
        <p:pic>
          <p:nvPicPr>
            <p:cNvPr id="26" name="object 2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3265315"/>
              <a:ext cx="5448290" cy="206501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94359" y="3291839"/>
              <a:ext cx="5349240" cy="1965960"/>
            </a:xfrm>
            <a:custGeom>
              <a:avLst/>
              <a:gdLst/>
              <a:ahLst/>
              <a:cxnLst/>
              <a:rect l="l" t="t" r="r" b="b"/>
              <a:pathLst>
                <a:path w="5349240" h="1965960">
                  <a:moveTo>
                    <a:pt x="5021573" y="1965959"/>
                  </a:moveTo>
                  <a:lnTo>
                    <a:pt x="327666" y="1965959"/>
                  </a:lnTo>
                  <a:lnTo>
                    <a:pt x="279246" y="1962407"/>
                  </a:lnTo>
                  <a:lnTo>
                    <a:pt x="233032" y="1952086"/>
                  </a:lnTo>
                  <a:lnTo>
                    <a:pt x="189530" y="1935505"/>
                  </a:lnTo>
                  <a:lnTo>
                    <a:pt x="149248" y="1913170"/>
                  </a:lnTo>
                  <a:lnTo>
                    <a:pt x="112693" y="1885588"/>
                  </a:lnTo>
                  <a:lnTo>
                    <a:pt x="80371" y="1853266"/>
                  </a:lnTo>
                  <a:lnTo>
                    <a:pt x="52789" y="1816711"/>
                  </a:lnTo>
                  <a:lnTo>
                    <a:pt x="30454" y="1776429"/>
                  </a:lnTo>
                  <a:lnTo>
                    <a:pt x="13873" y="1732927"/>
                  </a:lnTo>
                  <a:lnTo>
                    <a:pt x="3552" y="1686713"/>
                  </a:lnTo>
                  <a:lnTo>
                    <a:pt x="0" y="1638293"/>
                  </a:lnTo>
                  <a:lnTo>
                    <a:pt x="0" y="327666"/>
                  </a:ln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1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5021573" y="0"/>
                  </a:lnTo>
                  <a:lnTo>
                    <a:pt x="5073141" y="4081"/>
                  </a:lnTo>
                  <a:lnTo>
                    <a:pt x="5122974" y="16084"/>
                  </a:lnTo>
                  <a:lnTo>
                    <a:pt x="5170193" y="35643"/>
                  </a:lnTo>
                  <a:lnTo>
                    <a:pt x="5213918" y="62393"/>
                  </a:lnTo>
                  <a:lnTo>
                    <a:pt x="5253268" y="95971"/>
                  </a:lnTo>
                  <a:lnTo>
                    <a:pt x="5286846" y="135321"/>
                  </a:lnTo>
                  <a:lnTo>
                    <a:pt x="5313596" y="179046"/>
                  </a:lnTo>
                  <a:lnTo>
                    <a:pt x="5333155" y="226265"/>
                  </a:lnTo>
                  <a:lnTo>
                    <a:pt x="5345158" y="276098"/>
                  </a:lnTo>
                  <a:lnTo>
                    <a:pt x="5349239" y="327666"/>
                  </a:lnTo>
                  <a:lnTo>
                    <a:pt x="5349239" y="1638293"/>
                  </a:lnTo>
                  <a:lnTo>
                    <a:pt x="5345687" y="1686713"/>
                  </a:lnTo>
                  <a:lnTo>
                    <a:pt x="5335366" y="1732927"/>
                  </a:lnTo>
                  <a:lnTo>
                    <a:pt x="5318785" y="1776429"/>
                  </a:lnTo>
                  <a:lnTo>
                    <a:pt x="5296450" y="1816711"/>
                  </a:lnTo>
                  <a:lnTo>
                    <a:pt x="5268868" y="1853266"/>
                  </a:lnTo>
                  <a:lnTo>
                    <a:pt x="5236546" y="1885588"/>
                  </a:lnTo>
                  <a:lnTo>
                    <a:pt x="5199991" y="1913170"/>
                  </a:lnTo>
                  <a:lnTo>
                    <a:pt x="5159709" y="1935505"/>
                  </a:lnTo>
                  <a:lnTo>
                    <a:pt x="5116207" y="1952086"/>
                  </a:lnTo>
                  <a:lnTo>
                    <a:pt x="5069993" y="1962407"/>
                  </a:lnTo>
                  <a:lnTo>
                    <a:pt x="5021573" y="19659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94359" y="3291839"/>
              <a:ext cx="5349240" cy="1965960"/>
            </a:xfrm>
            <a:custGeom>
              <a:avLst/>
              <a:gdLst/>
              <a:ahLst/>
              <a:cxnLst/>
              <a:rect l="l" t="t" r="r" b="b"/>
              <a:pathLst>
                <a:path w="5349240" h="1965960">
                  <a:moveTo>
                    <a:pt x="0" y="327666"/>
                  </a:move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1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5021573" y="0"/>
                  </a:lnTo>
                  <a:lnTo>
                    <a:pt x="5073141" y="4081"/>
                  </a:lnTo>
                  <a:lnTo>
                    <a:pt x="5122974" y="16084"/>
                  </a:lnTo>
                  <a:lnTo>
                    <a:pt x="5170193" y="35643"/>
                  </a:lnTo>
                  <a:lnTo>
                    <a:pt x="5213918" y="62393"/>
                  </a:lnTo>
                  <a:lnTo>
                    <a:pt x="5253268" y="95971"/>
                  </a:lnTo>
                  <a:lnTo>
                    <a:pt x="5286846" y="135321"/>
                  </a:lnTo>
                  <a:lnTo>
                    <a:pt x="5313596" y="179046"/>
                  </a:lnTo>
                  <a:lnTo>
                    <a:pt x="5333155" y="226265"/>
                  </a:lnTo>
                  <a:lnTo>
                    <a:pt x="5345158" y="276098"/>
                  </a:lnTo>
                  <a:lnTo>
                    <a:pt x="5349239" y="327666"/>
                  </a:lnTo>
                  <a:lnTo>
                    <a:pt x="5349239" y="1638293"/>
                  </a:lnTo>
                  <a:lnTo>
                    <a:pt x="5345687" y="1686713"/>
                  </a:lnTo>
                  <a:lnTo>
                    <a:pt x="5335366" y="1732927"/>
                  </a:lnTo>
                  <a:lnTo>
                    <a:pt x="5318785" y="1776429"/>
                  </a:lnTo>
                  <a:lnTo>
                    <a:pt x="5296450" y="1816711"/>
                  </a:lnTo>
                  <a:lnTo>
                    <a:pt x="5268868" y="1853266"/>
                  </a:lnTo>
                  <a:lnTo>
                    <a:pt x="5236546" y="1885588"/>
                  </a:lnTo>
                  <a:lnTo>
                    <a:pt x="5199991" y="1913170"/>
                  </a:lnTo>
                  <a:lnTo>
                    <a:pt x="5159709" y="1935505"/>
                  </a:lnTo>
                  <a:lnTo>
                    <a:pt x="5116207" y="1952086"/>
                  </a:lnTo>
                  <a:lnTo>
                    <a:pt x="5069993" y="1962407"/>
                  </a:lnTo>
                  <a:lnTo>
                    <a:pt x="5021573" y="1965959"/>
                  </a:lnTo>
                  <a:lnTo>
                    <a:pt x="327666" y="1965959"/>
                  </a:lnTo>
                  <a:lnTo>
                    <a:pt x="279246" y="1962407"/>
                  </a:lnTo>
                  <a:lnTo>
                    <a:pt x="233032" y="1952086"/>
                  </a:lnTo>
                  <a:lnTo>
                    <a:pt x="189530" y="1935505"/>
                  </a:lnTo>
                  <a:lnTo>
                    <a:pt x="149248" y="1913170"/>
                  </a:lnTo>
                  <a:lnTo>
                    <a:pt x="112693" y="1885588"/>
                  </a:lnTo>
                  <a:lnTo>
                    <a:pt x="80371" y="1853266"/>
                  </a:lnTo>
                  <a:lnTo>
                    <a:pt x="52789" y="1816711"/>
                  </a:lnTo>
                  <a:lnTo>
                    <a:pt x="30454" y="1776429"/>
                  </a:lnTo>
                  <a:lnTo>
                    <a:pt x="13873" y="1732927"/>
                  </a:lnTo>
                  <a:lnTo>
                    <a:pt x="3552" y="1686713"/>
                  </a:lnTo>
                  <a:lnTo>
                    <a:pt x="0" y="1638293"/>
                  </a:lnTo>
                  <a:lnTo>
                    <a:pt x="0" y="327666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549597" y="3270077"/>
            <a:ext cx="5438775" cy="528955"/>
            <a:chOff x="549597" y="3270077"/>
            <a:chExt cx="5438775" cy="528955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7" y="3270077"/>
              <a:ext cx="5438765" cy="52843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94359" y="32918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94359" y="32918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2006" y="3415207"/>
              <a:ext cx="221258" cy="208243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2040747" y="3389566"/>
            <a:ext cx="26847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ACTIONABLE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FEEDBACK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9555" y="4072128"/>
            <a:ext cx="48825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Ending</a:t>
            </a:r>
            <a:r>
              <a:rPr sz="1400" b="1" spc="-5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'Silent</a:t>
            </a:r>
            <a:r>
              <a:rPr sz="1400" b="1" spc="-5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Rejections':</a:t>
            </a:r>
            <a:r>
              <a:rPr sz="1400" b="1" spc="2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Candidates</a:t>
            </a:r>
            <a:r>
              <a:rPr sz="1300" spc="-5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receive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transparent,</a:t>
            </a:r>
            <a:r>
              <a:rPr sz="13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itemized feedback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showing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exact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matched,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missing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criteria,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experience margins.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580390" indent="127000">
              <a:lnSpc>
                <a:spcPct val="100000"/>
              </a:lnSpc>
              <a:spcBef>
                <a:spcPts val="6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Trust</a:t>
            </a:r>
            <a:r>
              <a:rPr sz="140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Transparency:</a:t>
            </a:r>
            <a:r>
              <a:rPr sz="1400" b="1" spc="2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Fosters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trust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between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applicants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through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clear,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actionable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justification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logs.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195827" y="3265315"/>
            <a:ext cx="5448300" cy="2065020"/>
            <a:chOff x="6195827" y="3265315"/>
            <a:chExt cx="5448300" cy="2065020"/>
          </a:xfrm>
        </p:grpSpPr>
        <p:pic>
          <p:nvPicPr>
            <p:cNvPr id="37" name="object 3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95827" y="3265315"/>
              <a:ext cx="5448290" cy="206501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245352" y="3291839"/>
              <a:ext cx="5349240" cy="1965960"/>
            </a:xfrm>
            <a:custGeom>
              <a:avLst/>
              <a:gdLst/>
              <a:ahLst/>
              <a:cxnLst/>
              <a:rect l="l" t="t" r="r" b="b"/>
              <a:pathLst>
                <a:path w="5349240" h="1965960">
                  <a:moveTo>
                    <a:pt x="5021573" y="1965959"/>
                  </a:moveTo>
                  <a:lnTo>
                    <a:pt x="327666" y="1965959"/>
                  </a:lnTo>
                  <a:lnTo>
                    <a:pt x="279246" y="1962407"/>
                  </a:lnTo>
                  <a:lnTo>
                    <a:pt x="233032" y="1952086"/>
                  </a:lnTo>
                  <a:lnTo>
                    <a:pt x="189530" y="1935505"/>
                  </a:lnTo>
                  <a:lnTo>
                    <a:pt x="149248" y="1913170"/>
                  </a:lnTo>
                  <a:lnTo>
                    <a:pt x="112693" y="1885588"/>
                  </a:lnTo>
                  <a:lnTo>
                    <a:pt x="80370" y="1853266"/>
                  </a:lnTo>
                  <a:lnTo>
                    <a:pt x="52789" y="1816711"/>
                  </a:lnTo>
                  <a:lnTo>
                    <a:pt x="30454" y="1776429"/>
                  </a:lnTo>
                  <a:lnTo>
                    <a:pt x="13873" y="1732927"/>
                  </a:lnTo>
                  <a:lnTo>
                    <a:pt x="3552" y="1686713"/>
                  </a:lnTo>
                  <a:lnTo>
                    <a:pt x="0" y="1638293"/>
                  </a:lnTo>
                  <a:lnTo>
                    <a:pt x="0" y="327666"/>
                  </a:ln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0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5021573" y="0"/>
                  </a:lnTo>
                  <a:lnTo>
                    <a:pt x="5073141" y="4081"/>
                  </a:lnTo>
                  <a:lnTo>
                    <a:pt x="5122974" y="16084"/>
                  </a:lnTo>
                  <a:lnTo>
                    <a:pt x="5170193" y="35643"/>
                  </a:lnTo>
                  <a:lnTo>
                    <a:pt x="5213917" y="62393"/>
                  </a:lnTo>
                  <a:lnTo>
                    <a:pt x="5253267" y="95971"/>
                  </a:lnTo>
                  <a:lnTo>
                    <a:pt x="5286845" y="135321"/>
                  </a:lnTo>
                  <a:lnTo>
                    <a:pt x="5313596" y="179046"/>
                  </a:lnTo>
                  <a:lnTo>
                    <a:pt x="5333155" y="226265"/>
                  </a:lnTo>
                  <a:lnTo>
                    <a:pt x="5345158" y="276098"/>
                  </a:lnTo>
                  <a:lnTo>
                    <a:pt x="5349240" y="327666"/>
                  </a:lnTo>
                  <a:lnTo>
                    <a:pt x="5349240" y="1638293"/>
                  </a:lnTo>
                  <a:lnTo>
                    <a:pt x="5345687" y="1686713"/>
                  </a:lnTo>
                  <a:lnTo>
                    <a:pt x="5335367" y="1732927"/>
                  </a:lnTo>
                  <a:lnTo>
                    <a:pt x="5318786" y="1776429"/>
                  </a:lnTo>
                  <a:lnTo>
                    <a:pt x="5296451" y="1816711"/>
                  </a:lnTo>
                  <a:lnTo>
                    <a:pt x="5268869" y="1853266"/>
                  </a:lnTo>
                  <a:lnTo>
                    <a:pt x="5236546" y="1885588"/>
                  </a:lnTo>
                  <a:lnTo>
                    <a:pt x="5199991" y="1913170"/>
                  </a:lnTo>
                  <a:lnTo>
                    <a:pt x="5159709" y="1935505"/>
                  </a:lnTo>
                  <a:lnTo>
                    <a:pt x="5116207" y="1952086"/>
                  </a:lnTo>
                  <a:lnTo>
                    <a:pt x="5069993" y="1962407"/>
                  </a:lnTo>
                  <a:lnTo>
                    <a:pt x="5021573" y="19659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245352" y="3291839"/>
              <a:ext cx="5349240" cy="1965960"/>
            </a:xfrm>
            <a:custGeom>
              <a:avLst/>
              <a:gdLst/>
              <a:ahLst/>
              <a:cxnLst/>
              <a:rect l="l" t="t" r="r" b="b"/>
              <a:pathLst>
                <a:path w="5349240" h="1965960">
                  <a:moveTo>
                    <a:pt x="0" y="327666"/>
                  </a:move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0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5021573" y="0"/>
                  </a:lnTo>
                  <a:lnTo>
                    <a:pt x="5073141" y="4081"/>
                  </a:lnTo>
                  <a:lnTo>
                    <a:pt x="5122974" y="16084"/>
                  </a:lnTo>
                  <a:lnTo>
                    <a:pt x="5170193" y="35643"/>
                  </a:lnTo>
                  <a:lnTo>
                    <a:pt x="5213917" y="62393"/>
                  </a:lnTo>
                  <a:lnTo>
                    <a:pt x="5253267" y="95971"/>
                  </a:lnTo>
                  <a:lnTo>
                    <a:pt x="5286845" y="135321"/>
                  </a:lnTo>
                  <a:lnTo>
                    <a:pt x="5313596" y="179046"/>
                  </a:lnTo>
                  <a:lnTo>
                    <a:pt x="5333155" y="226265"/>
                  </a:lnTo>
                  <a:lnTo>
                    <a:pt x="5345158" y="276098"/>
                  </a:lnTo>
                  <a:lnTo>
                    <a:pt x="5349240" y="327666"/>
                  </a:lnTo>
                  <a:lnTo>
                    <a:pt x="5349240" y="1638293"/>
                  </a:lnTo>
                  <a:lnTo>
                    <a:pt x="5345687" y="1686713"/>
                  </a:lnTo>
                  <a:lnTo>
                    <a:pt x="5335367" y="1732927"/>
                  </a:lnTo>
                  <a:lnTo>
                    <a:pt x="5318786" y="1776429"/>
                  </a:lnTo>
                  <a:lnTo>
                    <a:pt x="5296451" y="1816711"/>
                  </a:lnTo>
                  <a:lnTo>
                    <a:pt x="5268869" y="1853266"/>
                  </a:lnTo>
                  <a:lnTo>
                    <a:pt x="5236546" y="1885588"/>
                  </a:lnTo>
                  <a:lnTo>
                    <a:pt x="5199991" y="1913170"/>
                  </a:lnTo>
                  <a:lnTo>
                    <a:pt x="5159709" y="1935505"/>
                  </a:lnTo>
                  <a:lnTo>
                    <a:pt x="5116207" y="1952086"/>
                  </a:lnTo>
                  <a:lnTo>
                    <a:pt x="5069993" y="1962407"/>
                  </a:lnTo>
                  <a:lnTo>
                    <a:pt x="5021573" y="1965959"/>
                  </a:lnTo>
                  <a:lnTo>
                    <a:pt x="327666" y="1965959"/>
                  </a:lnTo>
                  <a:lnTo>
                    <a:pt x="279246" y="1962407"/>
                  </a:lnTo>
                  <a:lnTo>
                    <a:pt x="233032" y="1952086"/>
                  </a:lnTo>
                  <a:lnTo>
                    <a:pt x="189530" y="1935505"/>
                  </a:lnTo>
                  <a:lnTo>
                    <a:pt x="149248" y="1913170"/>
                  </a:lnTo>
                  <a:lnTo>
                    <a:pt x="112693" y="1885588"/>
                  </a:lnTo>
                  <a:lnTo>
                    <a:pt x="80370" y="1853266"/>
                  </a:lnTo>
                  <a:lnTo>
                    <a:pt x="52789" y="1816711"/>
                  </a:lnTo>
                  <a:lnTo>
                    <a:pt x="30454" y="1776429"/>
                  </a:lnTo>
                  <a:lnTo>
                    <a:pt x="13873" y="1732927"/>
                  </a:lnTo>
                  <a:lnTo>
                    <a:pt x="3552" y="1686713"/>
                  </a:lnTo>
                  <a:lnTo>
                    <a:pt x="0" y="1638293"/>
                  </a:lnTo>
                  <a:lnTo>
                    <a:pt x="0" y="327666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" name="object 41"/>
          <p:cNvGrpSpPr/>
          <p:nvPr/>
        </p:nvGrpSpPr>
        <p:grpSpPr>
          <a:xfrm>
            <a:off x="6200589" y="3270077"/>
            <a:ext cx="5438775" cy="528955"/>
            <a:chOff x="6200589" y="3270077"/>
            <a:chExt cx="5438775" cy="528955"/>
          </a:xfrm>
        </p:grpSpPr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0589" y="3270077"/>
              <a:ext cx="5438765" cy="52843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245352" y="32918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245352" y="32918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16A34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43528" y="3415207"/>
              <a:ext cx="221258" cy="208243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7692270" y="3389566"/>
            <a:ext cx="26854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EFFICIENCY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GPU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OVERHEAD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90547" y="4171188"/>
            <a:ext cx="4733290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415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Sub-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50ms</a:t>
            </a:r>
            <a:r>
              <a:rPr sz="14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Latency:</a:t>
            </a:r>
            <a:r>
              <a:rPr sz="1400" b="1" spc="2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Evaluates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resumes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milliseconds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standard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CPUs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without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requiring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expensive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GPUs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LLM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API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tokens.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5080" indent="127000">
              <a:lnSpc>
                <a:spcPct val="100000"/>
              </a:lnSpc>
              <a:spcBef>
                <a:spcPts val="6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Low</a:t>
            </a:r>
            <a:r>
              <a:rPr sz="14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Operational</a:t>
            </a:r>
            <a:r>
              <a:rPr sz="14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Cost:</a:t>
            </a:r>
            <a:r>
              <a:rPr sz="1400" b="1" spc="2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Enables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organizations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any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size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deploy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enterprise-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grade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screening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with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near-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infrastructure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expense.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559890" y="155447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835" y="1207915"/>
            <a:ext cx="6408420" cy="967740"/>
            <a:chOff x="544835" y="1207915"/>
            <a:chExt cx="6408420" cy="96774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1207915"/>
              <a:ext cx="6408410" cy="9677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234439"/>
              <a:ext cx="6309360" cy="868680"/>
            </a:xfrm>
            <a:custGeom>
              <a:avLst/>
              <a:gdLst/>
              <a:ahLst/>
              <a:cxnLst/>
              <a:rect l="l" t="t" r="r" b="b"/>
              <a:pathLst>
                <a:path w="6309359" h="868680">
                  <a:moveTo>
                    <a:pt x="6164576" y="868679"/>
                  </a:move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7"/>
                  </a:lnTo>
                  <a:lnTo>
                    <a:pt x="0" y="144782"/>
                  </a:lnTo>
                  <a:lnTo>
                    <a:pt x="7381" y="99020"/>
                  </a:lnTo>
                  <a:lnTo>
                    <a:pt x="27934" y="59275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6164576" y="0"/>
                  </a:lnTo>
                  <a:lnTo>
                    <a:pt x="6219982" y="11020"/>
                  </a:lnTo>
                  <a:lnTo>
                    <a:pt x="6266953" y="42405"/>
                  </a:lnTo>
                  <a:lnTo>
                    <a:pt x="6298339" y="89376"/>
                  </a:lnTo>
                  <a:lnTo>
                    <a:pt x="6309359" y="144782"/>
                  </a:lnTo>
                  <a:lnTo>
                    <a:pt x="6309359" y="723897"/>
                  </a:lnTo>
                  <a:lnTo>
                    <a:pt x="6301978" y="769659"/>
                  </a:lnTo>
                  <a:lnTo>
                    <a:pt x="6281425" y="809404"/>
                  </a:lnTo>
                  <a:lnTo>
                    <a:pt x="6250083" y="840745"/>
                  </a:lnTo>
                  <a:lnTo>
                    <a:pt x="6210339" y="861298"/>
                  </a:lnTo>
                  <a:lnTo>
                    <a:pt x="6164576" y="86867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359" y="1234439"/>
              <a:ext cx="6309360" cy="868680"/>
            </a:xfrm>
            <a:custGeom>
              <a:avLst/>
              <a:gdLst/>
              <a:ahLst/>
              <a:cxnLst/>
              <a:rect l="l" t="t" r="r" b="b"/>
              <a:pathLst>
                <a:path w="6309359" h="868680">
                  <a:moveTo>
                    <a:pt x="0" y="144782"/>
                  </a:moveTo>
                  <a:lnTo>
                    <a:pt x="7381" y="99020"/>
                  </a:lnTo>
                  <a:lnTo>
                    <a:pt x="27934" y="59275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6164576" y="0"/>
                  </a:lnTo>
                  <a:lnTo>
                    <a:pt x="6219982" y="11020"/>
                  </a:lnTo>
                  <a:lnTo>
                    <a:pt x="6266953" y="42405"/>
                  </a:lnTo>
                  <a:lnTo>
                    <a:pt x="6298339" y="89376"/>
                  </a:lnTo>
                  <a:lnTo>
                    <a:pt x="6309359" y="144782"/>
                  </a:lnTo>
                  <a:lnTo>
                    <a:pt x="6309359" y="723897"/>
                  </a:lnTo>
                  <a:lnTo>
                    <a:pt x="6301978" y="769659"/>
                  </a:lnTo>
                  <a:lnTo>
                    <a:pt x="6281425" y="809404"/>
                  </a:lnTo>
                  <a:lnTo>
                    <a:pt x="6250083" y="840745"/>
                  </a:lnTo>
                  <a:lnTo>
                    <a:pt x="6210339" y="861298"/>
                  </a:lnTo>
                  <a:lnTo>
                    <a:pt x="6164576" y="868679"/>
                  </a:ln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7"/>
                  </a:lnTo>
                  <a:lnTo>
                    <a:pt x="0" y="144782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757" y="1377269"/>
              <a:ext cx="729605" cy="63816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31519" y="1399031"/>
              <a:ext cx="640080" cy="548640"/>
            </a:xfrm>
            <a:custGeom>
              <a:avLst/>
              <a:gdLst/>
              <a:ahLst/>
              <a:cxnLst/>
              <a:rect l="l" t="t" r="r" b="b"/>
              <a:pathLst>
                <a:path w="640080" h="548639">
                  <a:moveTo>
                    <a:pt x="548638" y="548639"/>
                  </a:move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7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48638" y="0"/>
                  </a:lnTo>
                  <a:lnTo>
                    <a:pt x="599370" y="15363"/>
                  </a:lnTo>
                  <a:lnTo>
                    <a:pt x="633119" y="56448"/>
                  </a:lnTo>
                  <a:lnTo>
                    <a:pt x="640079" y="91441"/>
                  </a:lnTo>
                  <a:lnTo>
                    <a:pt x="640079" y="457197"/>
                  </a:lnTo>
                  <a:lnTo>
                    <a:pt x="632894" y="492791"/>
                  </a:lnTo>
                  <a:lnTo>
                    <a:pt x="613297" y="521857"/>
                  </a:lnTo>
                  <a:lnTo>
                    <a:pt x="584231" y="541454"/>
                  </a:lnTo>
                  <a:lnTo>
                    <a:pt x="548638" y="54863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31519" y="1399031"/>
              <a:ext cx="640080" cy="548640"/>
            </a:xfrm>
            <a:custGeom>
              <a:avLst/>
              <a:gdLst/>
              <a:ahLst/>
              <a:cxnLst/>
              <a:rect l="l" t="t" r="r" b="b"/>
              <a:pathLst>
                <a:path w="640080" h="548639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48638" y="0"/>
                  </a:lnTo>
                  <a:lnTo>
                    <a:pt x="599370" y="15363"/>
                  </a:lnTo>
                  <a:lnTo>
                    <a:pt x="633119" y="56448"/>
                  </a:lnTo>
                  <a:lnTo>
                    <a:pt x="640079" y="91441"/>
                  </a:lnTo>
                  <a:lnTo>
                    <a:pt x="640079" y="457197"/>
                  </a:lnTo>
                  <a:lnTo>
                    <a:pt x="632894" y="492791"/>
                  </a:lnTo>
                  <a:lnTo>
                    <a:pt x="613297" y="521857"/>
                  </a:lnTo>
                  <a:lnTo>
                    <a:pt x="584231" y="541454"/>
                  </a:lnTo>
                  <a:lnTo>
                    <a:pt x="548638" y="548639"/>
                  </a:ln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7"/>
                  </a:lnTo>
                  <a:lnTo>
                    <a:pt x="0" y="9144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47135" y="1546860"/>
            <a:ext cx="205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01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0340" y="1237011"/>
            <a:ext cx="4998720" cy="67119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Design</a:t>
            </a:r>
            <a:r>
              <a:rPr sz="145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Knowledge-</a:t>
            </a: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Based</a:t>
            </a:r>
            <a:r>
              <a:rPr sz="14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Expert</a:t>
            </a:r>
            <a:r>
              <a:rPr sz="14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System</a:t>
            </a:r>
            <a:endParaRPr sz="145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210"/>
              </a:spcBef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Develop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HireAI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automated,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objective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screener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replacing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subjective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manual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review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rules.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4835" y="2168035"/>
            <a:ext cx="6408420" cy="967740"/>
            <a:chOff x="544835" y="2168035"/>
            <a:chExt cx="6408420" cy="967740"/>
          </a:xfrm>
        </p:grpSpPr>
        <p:pic>
          <p:nvPicPr>
            <p:cNvPr id="14" name="object 1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2168035"/>
              <a:ext cx="6408410" cy="96773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94359" y="2194560"/>
              <a:ext cx="6309360" cy="868680"/>
            </a:xfrm>
            <a:custGeom>
              <a:avLst/>
              <a:gdLst/>
              <a:ahLst/>
              <a:cxnLst/>
              <a:rect l="l" t="t" r="r" b="b"/>
              <a:pathLst>
                <a:path w="6309359" h="868680">
                  <a:moveTo>
                    <a:pt x="6164576" y="868679"/>
                  </a:move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3"/>
                  </a:lnTo>
                  <a:lnTo>
                    <a:pt x="7381" y="769659"/>
                  </a:lnTo>
                  <a:lnTo>
                    <a:pt x="0" y="723896"/>
                  </a:lnTo>
                  <a:lnTo>
                    <a:pt x="0" y="144782"/>
                  </a:lnTo>
                  <a:lnTo>
                    <a:pt x="7381" y="99020"/>
                  </a:lnTo>
                  <a:lnTo>
                    <a:pt x="27934" y="59276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6164576" y="0"/>
                  </a:lnTo>
                  <a:lnTo>
                    <a:pt x="6219982" y="11020"/>
                  </a:lnTo>
                  <a:lnTo>
                    <a:pt x="6266953" y="42405"/>
                  </a:lnTo>
                  <a:lnTo>
                    <a:pt x="6298339" y="89376"/>
                  </a:lnTo>
                  <a:lnTo>
                    <a:pt x="6309359" y="144782"/>
                  </a:lnTo>
                  <a:lnTo>
                    <a:pt x="6309359" y="723896"/>
                  </a:lnTo>
                  <a:lnTo>
                    <a:pt x="6301978" y="769659"/>
                  </a:lnTo>
                  <a:lnTo>
                    <a:pt x="6281425" y="809403"/>
                  </a:lnTo>
                  <a:lnTo>
                    <a:pt x="6250083" y="840745"/>
                  </a:lnTo>
                  <a:lnTo>
                    <a:pt x="6210339" y="861298"/>
                  </a:lnTo>
                  <a:lnTo>
                    <a:pt x="6164576" y="86867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94359" y="2194560"/>
              <a:ext cx="6309360" cy="868680"/>
            </a:xfrm>
            <a:custGeom>
              <a:avLst/>
              <a:gdLst/>
              <a:ahLst/>
              <a:cxnLst/>
              <a:rect l="l" t="t" r="r" b="b"/>
              <a:pathLst>
                <a:path w="6309359" h="868680">
                  <a:moveTo>
                    <a:pt x="0" y="144782"/>
                  </a:moveTo>
                  <a:lnTo>
                    <a:pt x="7381" y="99020"/>
                  </a:lnTo>
                  <a:lnTo>
                    <a:pt x="27934" y="59276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6164576" y="0"/>
                  </a:lnTo>
                  <a:lnTo>
                    <a:pt x="6219982" y="11020"/>
                  </a:lnTo>
                  <a:lnTo>
                    <a:pt x="6266953" y="42405"/>
                  </a:lnTo>
                  <a:lnTo>
                    <a:pt x="6298339" y="89376"/>
                  </a:lnTo>
                  <a:lnTo>
                    <a:pt x="6309359" y="144782"/>
                  </a:lnTo>
                  <a:lnTo>
                    <a:pt x="6309359" y="723896"/>
                  </a:lnTo>
                  <a:lnTo>
                    <a:pt x="6301978" y="769659"/>
                  </a:lnTo>
                  <a:lnTo>
                    <a:pt x="6281425" y="809403"/>
                  </a:lnTo>
                  <a:lnTo>
                    <a:pt x="6250083" y="840745"/>
                  </a:lnTo>
                  <a:lnTo>
                    <a:pt x="6210339" y="861298"/>
                  </a:lnTo>
                  <a:lnTo>
                    <a:pt x="6164576" y="868679"/>
                  </a:ln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3"/>
                  </a:lnTo>
                  <a:lnTo>
                    <a:pt x="7381" y="769659"/>
                  </a:lnTo>
                  <a:lnTo>
                    <a:pt x="0" y="723896"/>
                  </a:lnTo>
                  <a:lnTo>
                    <a:pt x="0" y="144782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757" y="2337389"/>
              <a:ext cx="729605" cy="63816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31519" y="2359152"/>
              <a:ext cx="640080" cy="548640"/>
            </a:xfrm>
            <a:custGeom>
              <a:avLst/>
              <a:gdLst/>
              <a:ahLst/>
              <a:cxnLst/>
              <a:rect l="l" t="t" r="r" b="b"/>
              <a:pathLst>
                <a:path w="640080" h="548639">
                  <a:moveTo>
                    <a:pt x="548638" y="548639"/>
                  </a:move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8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48638" y="0"/>
                  </a:lnTo>
                  <a:lnTo>
                    <a:pt x="599370" y="15363"/>
                  </a:lnTo>
                  <a:lnTo>
                    <a:pt x="633119" y="56448"/>
                  </a:lnTo>
                  <a:lnTo>
                    <a:pt x="640079" y="91441"/>
                  </a:lnTo>
                  <a:lnTo>
                    <a:pt x="640079" y="457198"/>
                  </a:lnTo>
                  <a:lnTo>
                    <a:pt x="632894" y="492791"/>
                  </a:lnTo>
                  <a:lnTo>
                    <a:pt x="613297" y="521857"/>
                  </a:lnTo>
                  <a:lnTo>
                    <a:pt x="584231" y="541454"/>
                  </a:lnTo>
                  <a:lnTo>
                    <a:pt x="548638" y="54863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31519" y="2359152"/>
              <a:ext cx="640080" cy="548640"/>
            </a:xfrm>
            <a:custGeom>
              <a:avLst/>
              <a:gdLst/>
              <a:ahLst/>
              <a:cxnLst/>
              <a:rect l="l" t="t" r="r" b="b"/>
              <a:pathLst>
                <a:path w="640080" h="548639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48638" y="0"/>
                  </a:lnTo>
                  <a:lnTo>
                    <a:pt x="599370" y="15363"/>
                  </a:lnTo>
                  <a:lnTo>
                    <a:pt x="633119" y="56448"/>
                  </a:lnTo>
                  <a:lnTo>
                    <a:pt x="640079" y="91441"/>
                  </a:lnTo>
                  <a:lnTo>
                    <a:pt x="640079" y="457198"/>
                  </a:lnTo>
                  <a:lnTo>
                    <a:pt x="632894" y="492791"/>
                  </a:lnTo>
                  <a:lnTo>
                    <a:pt x="613297" y="521857"/>
                  </a:lnTo>
                  <a:lnTo>
                    <a:pt x="584231" y="541454"/>
                  </a:lnTo>
                  <a:lnTo>
                    <a:pt x="548638" y="548639"/>
                  </a:ln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8"/>
                  </a:lnTo>
                  <a:lnTo>
                    <a:pt x="0" y="9144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47135" y="2506979"/>
            <a:ext cx="205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02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50340" y="2197131"/>
            <a:ext cx="5167630" cy="67119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Engineer</a:t>
            </a:r>
            <a:r>
              <a:rPr sz="14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Forward-</a:t>
            </a: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Chaining</a:t>
            </a:r>
            <a:r>
              <a:rPr sz="145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Rule</a:t>
            </a:r>
            <a:r>
              <a:rPr sz="145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Engine</a:t>
            </a:r>
            <a:endParaRPr sz="145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210"/>
              </a:spcBef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Implement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First-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Order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Logic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IF–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THEN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production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over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facts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job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criteria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constraints.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4835" y="3128155"/>
            <a:ext cx="6408420" cy="967740"/>
            <a:chOff x="544835" y="3128155"/>
            <a:chExt cx="6408420" cy="967740"/>
          </a:xfrm>
        </p:grpSpPr>
        <p:pic>
          <p:nvPicPr>
            <p:cNvPr id="23" name="object 2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3128155"/>
              <a:ext cx="6408410" cy="96773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94359" y="3154680"/>
              <a:ext cx="6309360" cy="868680"/>
            </a:xfrm>
            <a:custGeom>
              <a:avLst/>
              <a:gdLst/>
              <a:ahLst/>
              <a:cxnLst/>
              <a:rect l="l" t="t" r="r" b="b"/>
              <a:pathLst>
                <a:path w="6309359" h="868679">
                  <a:moveTo>
                    <a:pt x="6164576" y="868679"/>
                  </a:move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6"/>
                  </a:lnTo>
                  <a:lnTo>
                    <a:pt x="0" y="144782"/>
                  </a:lnTo>
                  <a:lnTo>
                    <a:pt x="7381" y="99020"/>
                  </a:lnTo>
                  <a:lnTo>
                    <a:pt x="27934" y="59276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6164576" y="0"/>
                  </a:lnTo>
                  <a:lnTo>
                    <a:pt x="6219982" y="11020"/>
                  </a:lnTo>
                  <a:lnTo>
                    <a:pt x="6266953" y="42405"/>
                  </a:lnTo>
                  <a:lnTo>
                    <a:pt x="6298339" y="89376"/>
                  </a:lnTo>
                  <a:lnTo>
                    <a:pt x="6309359" y="144782"/>
                  </a:lnTo>
                  <a:lnTo>
                    <a:pt x="6309359" y="723896"/>
                  </a:lnTo>
                  <a:lnTo>
                    <a:pt x="6301978" y="769659"/>
                  </a:lnTo>
                  <a:lnTo>
                    <a:pt x="6281425" y="809404"/>
                  </a:lnTo>
                  <a:lnTo>
                    <a:pt x="6250083" y="840745"/>
                  </a:lnTo>
                  <a:lnTo>
                    <a:pt x="6210339" y="861298"/>
                  </a:lnTo>
                  <a:lnTo>
                    <a:pt x="6164576" y="86867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94359" y="3154680"/>
              <a:ext cx="6309360" cy="868680"/>
            </a:xfrm>
            <a:custGeom>
              <a:avLst/>
              <a:gdLst/>
              <a:ahLst/>
              <a:cxnLst/>
              <a:rect l="l" t="t" r="r" b="b"/>
              <a:pathLst>
                <a:path w="6309359" h="868679">
                  <a:moveTo>
                    <a:pt x="0" y="144782"/>
                  </a:moveTo>
                  <a:lnTo>
                    <a:pt x="7381" y="99020"/>
                  </a:lnTo>
                  <a:lnTo>
                    <a:pt x="27934" y="59276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6164576" y="0"/>
                  </a:lnTo>
                  <a:lnTo>
                    <a:pt x="6219982" y="11020"/>
                  </a:lnTo>
                  <a:lnTo>
                    <a:pt x="6266953" y="42405"/>
                  </a:lnTo>
                  <a:lnTo>
                    <a:pt x="6298339" y="89376"/>
                  </a:lnTo>
                  <a:lnTo>
                    <a:pt x="6309359" y="144782"/>
                  </a:lnTo>
                  <a:lnTo>
                    <a:pt x="6309359" y="723896"/>
                  </a:lnTo>
                  <a:lnTo>
                    <a:pt x="6301978" y="769659"/>
                  </a:lnTo>
                  <a:lnTo>
                    <a:pt x="6281425" y="809404"/>
                  </a:lnTo>
                  <a:lnTo>
                    <a:pt x="6250083" y="840745"/>
                  </a:lnTo>
                  <a:lnTo>
                    <a:pt x="6210339" y="861298"/>
                  </a:lnTo>
                  <a:lnTo>
                    <a:pt x="6164576" y="868679"/>
                  </a:ln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6"/>
                  </a:lnTo>
                  <a:lnTo>
                    <a:pt x="0" y="144782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757" y="3297509"/>
              <a:ext cx="729605" cy="63816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31519" y="3319272"/>
              <a:ext cx="640080" cy="548640"/>
            </a:xfrm>
            <a:custGeom>
              <a:avLst/>
              <a:gdLst/>
              <a:ahLst/>
              <a:cxnLst/>
              <a:rect l="l" t="t" r="r" b="b"/>
              <a:pathLst>
                <a:path w="640080" h="548639">
                  <a:moveTo>
                    <a:pt x="548638" y="548639"/>
                  </a:move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8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48638" y="0"/>
                  </a:lnTo>
                  <a:lnTo>
                    <a:pt x="599370" y="15363"/>
                  </a:lnTo>
                  <a:lnTo>
                    <a:pt x="633119" y="56448"/>
                  </a:lnTo>
                  <a:lnTo>
                    <a:pt x="640079" y="91441"/>
                  </a:lnTo>
                  <a:lnTo>
                    <a:pt x="640079" y="457198"/>
                  </a:lnTo>
                  <a:lnTo>
                    <a:pt x="632894" y="492791"/>
                  </a:lnTo>
                  <a:lnTo>
                    <a:pt x="613297" y="521857"/>
                  </a:lnTo>
                  <a:lnTo>
                    <a:pt x="584231" y="541454"/>
                  </a:lnTo>
                  <a:lnTo>
                    <a:pt x="548638" y="54863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31519" y="3319272"/>
              <a:ext cx="640080" cy="548640"/>
            </a:xfrm>
            <a:custGeom>
              <a:avLst/>
              <a:gdLst/>
              <a:ahLst/>
              <a:cxnLst/>
              <a:rect l="l" t="t" r="r" b="b"/>
              <a:pathLst>
                <a:path w="640080" h="548639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48638" y="0"/>
                  </a:lnTo>
                  <a:lnTo>
                    <a:pt x="599370" y="15363"/>
                  </a:lnTo>
                  <a:lnTo>
                    <a:pt x="633119" y="56448"/>
                  </a:lnTo>
                  <a:lnTo>
                    <a:pt x="640079" y="91441"/>
                  </a:lnTo>
                  <a:lnTo>
                    <a:pt x="640079" y="457198"/>
                  </a:lnTo>
                  <a:lnTo>
                    <a:pt x="632894" y="492791"/>
                  </a:lnTo>
                  <a:lnTo>
                    <a:pt x="613297" y="521857"/>
                  </a:lnTo>
                  <a:lnTo>
                    <a:pt x="584231" y="541454"/>
                  </a:lnTo>
                  <a:lnTo>
                    <a:pt x="548638" y="548639"/>
                  </a:ln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8"/>
                  </a:lnTo>
                  <a:lnTo>
                    <a:pt x="0" y="9144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947135" y="3467100"/>
            <a:ext cx="205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03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50340" y="3157251"/>
            <a:ext cx="5183505" cy="67119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Formulate</a:t>
            </a:r>
            <a:r>
              <a:rPr sz="145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Multi-</a:t>
            </a: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Criteria</a:t>
            </a:r>
            <a:r>
              <a:rPr sz="145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Heuristic</a:t>
            </a:r>
            <a:r>
              <a:rPr sz="14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Model</a:t>
            </a:r>
            <a:endParaRPr sz="145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210"/>
              </a:spcBef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Calculate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composite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rank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scores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balancing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(50%),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experience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(25%),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education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(15%),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certifications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(10%).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44835" y="4088275"/>
            <a:ext cx="6408420" cy="967740"/>
            <a:chOff x="544835" y="4088275"/>
            <a:chExt cx="6408420" cy="967740"/>
          </a:xfrm>
        </p:grpSpPr>
        <p:pic>
          <p:nvPicPr>
            <p:cNvPr id="32" name="object 3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4088275"/>
              <a:ext cx="6408410" cy="9677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94359" y="4114800"/>
              <a:ext cx="6309360" cy="868680"/>
            </a:xfrm>
            <a:custGeom>
              <a:avLst/>
              <a:gdLst/>
              <a:ahLst/>
              <a:cxnLst/>
              <a:rect l="l" t="t" r="r" b="b"/>
              <a:pathLst>
                <a:path w="6309359" h="868679">
                  <a:moveTo>
                    <a:pt x="6164576" y="868679"/>
                  </a:move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7"/>
                  </a:lnTo>
                  <a:lnTo>
                    <a:pt x="0" y="144782"/>
                  </a:lnTo>
                  <a:lnTo>
                    <a:pt x="7381" y="99020"/>
                  </a:lnTo>
                  <a:lnTo>
                    <a:pt x="27934" y="59275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6164576" y="0"/>
                  </a:lnTo>
                  <a:lnTo>
                    <a:pt x="6219982" y="11020"/>
                  </a:lnTo>
                  <a:lnTo>
                    <a:pt x="6266953" y="42405"/>
                  </a:lnTo>
                  <a:lnTo>
                    <a:pt x="6298339" y="89376"/>
                  </a:lnTo>
                  <a:lnTo>
                    <a:pt x="6309359" y="144782"/>
                  </a:lnTo>
                  <a:lnTo>
                    <a:pt x="6309359" y="723897"/>
                  </a:lnTo>
                  <a:lnTo>
                    <a:pt x="6301978" y="769659"/>
                  </a:lnTo>
                  <a:lnTo>
                    <a:pt x="6281425" y="809404"/>
                  </a:lnTo>
                  <a:lnTo>
                    <a:pt x="6250083" y="840745"/>
                  </a:lnTo>
                  <a:lnTo>
                    <a:pt x="6210339" y="861298"/>
                  </a:lnTo>
                  <a:lnTo>
                    <a:pt x="6164576" y="86867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94359" y="4114800"/>
              <a:ext cx="6309360" cy="868680"/>
            </a:xfrm>
            <a:custGeom>
              <a:avLst/>
              <a:gdLst/>
              <a:ahLst/>
              <a:cxnLst/>
              <a:rect l="l" t="t" r="r" b="b"/>
              <a:pathLst>
                <a:path w="6309359" h="868679">
                  <a:moveTo>
                    <a:pt x="0" y="144782"/>
                  </a:moveTo>
                  <a:lnTo>
                    <a:pt x="7381" y="99020"/>
                  </a:lnTo>
                  <a:lnTo>
                    <a:pt x="27934" y="59275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6164576" y="0"/>
                  </a:lnTo>
                  <a:lnTo>
                    <a:pt x="6219982" y="11020"/>
                  </a:lnTo>
                  <a:lnTo>
                    <a:pt x="6266953" y="42405"/>
                  </a:lnTo>
                  <a:lnTo>
                    <a:pt x="6298339" y="89376"/>
                  </a:lnTo>
                  <a:lnTo>
                    <a:pt x="6309359" y="144782"/>
                  </a:lnTo>
                  <a:lnTo>
                    <a:pt x="6309359" y="723897"/>
                  </a:lnTo>
                  <a:lnTo>
                    <a:pt x="6301978" y="769659"/>
                  </a:lnTo>
                  <a:lnTo>
                    <a:pt x="6281425" y="809404"/>
                  </a:lnTo>
                  <a:lnTo>
                    <a:pt x="6250083" y="840745"/>
                  </a:lnTo>
                  <a:lnTo>
                    <a:pt x="6210339" y="861298"/>
                  </a:lnTo>
                  <a:lnTo>
                    <a:pt x="6164576" y="868679"/>
                  </a:ln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7"/>
                  </a:lnTo>
                  <a:lnTo>
                    <a:pt x="0" y="144782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757" y="4257629"/>
              <a:ext cx="729605" cy="63816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31519" y="4279392"/>
              <a:ext cx="640080" cy="548640"/>
            </a:xfrm>
            <a:custGeom>
              <a:avLst/>
              <a:gdLst/>
              <a:ahLst/>
              <a:cxnLst/>
              <a:rect l="l" t="t" r="r" b="b"/>
              <a:pathLst>
                <a:path w="640080" h="548639">
                  <a:moveTo>
                    <a:pt x="548638" y="548639"/>
                  </a:moveTo>
                  <a:lnTo>
                    <a:pt x="91441" y="548639"/>
                  </a:lnTo>
                  <a:lnTo>
                    <a:pt x="55848" y="541453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7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48638" y="0"/>
                  </a:lnTo>
                  <a:lnTo>
                    <a:pt x="599370" y="15363"/>
                  </a:lnTo>
                  <a:lnTo>
                    <a:pt x="633119" y="56448"/>
                  </a:lnTo>
                  <a:lnTo>
                    <a:pt x="640079" y="91441"/>
                  </a:lnTo>
                  <a:lnTo>
                    <a:pt x="640079" y="457197"/>
                  </a:lnTo>
                  <a:lnTo>
                    <a:pt x="632894" y="492791"/>
                  </a:lnTo>
                  <a:lnTo>
                    <a:pt x="613297" y="521857"/>
                  </a:lnTo>
                  <a:lnTo>
                    <a:pt x="584231" y="541453"/>
                  </a:lnTo>
                  <a:lnTo>
                    <a:pt x="548638" y="54863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31519" y="4279392"/>
              <a:ext cx="640080" cy="548640"/>
            </a:xfrm>
            <a:custGeom>
              <a:avLst/>
              <a:gdLst/>
              <a:ahLst/>
              <a:cxnLst/>
              <a:rect l="l" t="t" r="r" b="b"/>
              <a:pathLst>
                <a:path w="640080" h="548639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48638" y="0"/>
                  </a:lnTo>
                  <a:lnTo>
                    <a:pt x="599370" y="15363"/>
                  </a:lnTo>
                  <a:lnTo>
                    <a:pt x="633119" y="56448"/>
                  </a:lnTo>
                  <a:lnTo>
                    <a:pt x="640079" y="91441"/>
                  </a:lnTo>
                  <a:lnTo>
                    <a:pt x="640079" y="457197"/>
                  </a:lnTo>
                  <a:lnTo>
                    <a:pt x="632894" y="492791"/>
                  </a:lnTo>
                  <a:lnTo>
                    <a:pt x="613297" y="521857"/>
                  </a:lnTo>
                  <a:lnTo>
                    <a:pt x="584231" y="541453"/>
                  </a:lnTo>
                  <a:lnTo>
                    <a:pt x="548638" y="548639"/>
                  </a:lnTo>
                  <a:lnTo>
                    <a:pt x="91441" y="548639"/>
                  </a:lnTo>
                  <a:lnTo>
                    <a:pt x="55848" y="541453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7"/>
                  </a:lnTo>
                  <a:lnTo>
                    <a:pt x="0" y="9144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947135" y="4427220"/>
            <a:ext cx="205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04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50340" y="4117371"/>
            <a:ext cx="4701540" cy="67119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Build</a:t>
            </a:r>
            <a:r>
              <a:rPr sz="14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Explainable</a:t>
            </a:r>
            <a:r>
              <a:rPr sz="14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Decision</a:t>
            </a:r>
            <a:r>
              <a:rPr sz="14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Support</a:t>
            </a:r>
            <a:r>
              <a:rPr sz="145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(XAI)</a:t>
            </a:r>
            <a:endParaRPr sz="145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210"/>
              </a:spcBef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Synthesize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granular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satisfaction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proofs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(matched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skills,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missing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criteria, experience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margins)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every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evaluation.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44835" y="5048395"/>
            <a:ext cx="6408420" cy="967740"/>
            <a:chOff x="544835" y="5048395"/>
            <a:chExt cx="6408420" cy="967740"/>
          </a:xfrm>
        </p:grpSpPr>
        <p:pic>
          <p:nvPicPr>
            <p:cNvPr id="41" name="object 4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5048395"/>
              <a:ext cx="6408410" cy="96773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94359" y="5074920"/>
              <a:ext cx="6309360" cy="868680"/>
            </a:xfrm>
            <a:custGeom>
              <a:avLst/>
              <a:gdLst/>
              <a:ahLst/>
              <a:cxnLst/>
              <a:rect l="l" t="t" r="r" b="b"/>
              <a:pathLst>
                <a:path w="6309359" h="868679">
                  <a:moveTo>
                    <a:pt x="6164576" y="868679"/>
                  </a:move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7"/>
                  </a:lnTo>
                  <a:lnTo>
                    <a:pt x="0" y="144782"/>
                  </a:lnTo>
                  <a:lnTo>
                    <a:pt x="7381" y="99020"/>
                  </a:lnTo>
                  <a:lnTo>
                    <a:pt x="27934" y="59275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6164576" y="0"/>
                  </a:lnTo>
                  <a:lnTo>
                    <a:pt x="6219982" y="11020"/>
                  </a:lnTo>
                  <a:lnTo>
                    <a:pt x="6266953" y="42405"/>
                  </a:lnTo>
                  <a:lnTo>
                    <a:pt x="6298339" y="89376"/>
                  </a:lnTo>
                  <a:lnTo>
                    <a:pt x="6309359" y="144782"/>
                  </a:lnTo>
                  <a:lnTo>
                    <a:pt x="6309359" y="723897"/>
                  </a:lnTo>
                  <a:lnTo>
                    <a:pt x="6301978" y="769659"/>
                  </a:lnTo>
                  <a:lnTo>
                    <a:pt x="6281425" y="809404"/>
                  </a:lnTo>
                  <a:lnTo>
                    <a:pt x="6250083" y="840745"/>
                  </a:lnTo>
                  <a:lnTo>
                    <a:pt x="6210339" y="861298"/>
                  </a:lnTo>
                  <a:lnTo>
                    <a:pt x="6164576" y="86867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94359" y="5074920"/>
              <a:ext cx="6309360" cy="868680"/>
            </a:xfrm>
            <a:custGeom>
              <a:avLst/>
              <a:gdLst/>
              <a:ahLst/>
              <a:cxnLst/>
              <a:rect l="l" t="t" r="r" b="b"/>
              <a:pathLst>
                <a:path w="6309359" h="868679">
                  <a:moveTo>
                    <a:pt x="0" y="144782"/>
                  </a:moveTo>
                  <a:lnTo>
                    <a:pt x="7381" y="99020"/>
                  </a:lnTo>
                  <a:lnTo>
                    <a:pt x="27934" y="59275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6164576" y="0"/>
                  </a:lnTo>
                  <a:lnTo>
                    <a:pt x="6219982" y="11020"/>
                  </a:lnTo>
                  <a:lnTo>
                    <a:pt x="6266953" y="42405"/>
                  </a:lnTo>
                  <a:lnTo>
                    <a:pt x="6298339" y="89376"/>
                  </a:lnTo>
                  <a:lnTo>
                    <a:pt x="6309359" y="144782"/>
                  </a:lnTo>
                  <a:lnTo>
                    <a:pt x="6309359" y="723897"/>
                  </a:lnTo>
                  <a:lnTo>
                    <a:pt x="6301978" y="769659"/>
                  </a:lnTo>
                  <a:lnTo>
                    <a:pt x="6281425" y="809404"/>
                  </a:lnTo>
                  <a:lnTo>
                    <a:pt x="6250083" y="840745"/>
                  </a:lnTo>
                  <a:lnTo>
                    <a:pt x="6210339" y="861298"/>
                  </a:lnTo>
                  <a:lnTo>
                    <a:pt x="6164576" y="868679"/>
                  </a:ln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7"/>
                  </a:lnTo>
                  <a:lnTo>
                    <a:pt x="0" y="144782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757" y="5217749"/>
              <a:ext cx="729605" cy="63816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31519" y="5239512"/>
              <a:ext cx="640080" cy="548640"/>
            </a:xfrm>
            <a:custGeom>
              <a:avLst/>
              <a:gdLst/>
              <a:ahLst/>
              <a:cxnLst/>
              <a:rect l="l" t="t" r="r" b="b"/>
              <a:pathLst>
                <a:path w="640080" h="548639">
                  <a:moveTo>
                    <a:pt x="548638" y="548639"/>
                  </a:move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7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48638" y="0"/>
                  </a:lnTo>
                  <a:lnTo>
                    <a:pt x="599370" y="15363"/>
                  </a:lnTo>
                  <a:lnTo>
                    <a:pt x="633119" y="56448"/>
                  </a:lnTo>
                  <a:lnTo>
                    <a:pt x="640079" y="91441"/>
                  </a:lnTo>
                  <a:lnTo>
                    <a:pt x="640079" y="457197"/>
                  </a:lnTo>
                  <a:lnTo>
                    <a:pt x="632894" y="492791"/>
                  </a:lnTo>
                  <a:lnTo>
                    <a:pt x="613297" y="521857"/>
                  </a:lnTo>
                  <a:lnTo>
                    <a:pt x="584231" y="541454"/>
                  </a:lnTo>
                  <a:lnTo>
                    <a:pt x="548638" y="54863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731519" y="5239512"/>
              <a:ext cx="640080" cy="548640"/>
            </a:xfrm>
            <a:custGeom>
              <a:avLst/>
              <a:gdLst/>
              <a:ahLst/>
              <a:cxnLst/>
              <a:rect l="l" t="t" r="r" b="b"/>
              <a:pathLst>
                <a:path w="640080" h="548639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48638" y="0"/>
                  </a:lnTo>
                  <a:lnTo>
                    <a:pt x="599370" y="15363"/>
                  </a:lnTo>
                  <a:lnTo>
                    <a:pt x="633119" y="56448"/>
                  </a:lnTo>
                  <a:lnTo>
                    <a:pt x="640079" y="91441"/>
                  </a:lnTo>
                  <a:lnTo>
                    <a:pt x="640079" y="457197"/>
                  </a:lnTo>
                  <a:lnTo>
                    <a:pt x="632894" y="492791"/>
                  </a:lnTo>
                  <a:lnTo>
                    <a:pt x="613297" y="521857"/>
                  </a:lnTo>
                  <a:lnTo>
                    <a:pt x="584231" y="541454"/>
                  </a:lnTo>
                  <a:lnTo>
                    <a:pt x="548638" y="548639"/>
                  </a:ln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7"/>
                  </a:lnTo>
                  <a:lnTo>
                    <a:pt x="0" y="9144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947135" y="5387340"/>
            <a:ext cx="205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05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50340" y="5077492"/>
            <a:ext cx="5147945" cy="67119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Deploy</a:t>
            </a:r>
            <a:r>
              <a:rPr sz="145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Full-</a:t>
            </a: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Stack</a:t>
            </a:r>
            <a:r>
              <a:rPr sz="145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Dual</a:t>
            </a:r>
            <a:r>
              <a:rPr sz="145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Portals</a:t>
            </a:r>
            <a:endParaRPr sz="145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210"/>
              </a:spcBef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Deliver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high-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performance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FastAPI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backend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services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paired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dedicated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React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18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SPAs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Candidates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HR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Recruiters.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037075" y="1207915"/>
            <a:ext cx="4607560" cy="5036820"/>
            <a:chOff x="7037075" y="1207915"/>
            <a:chExt cx="4607560" cy="5036820"/>
          </a:xfrm>
        </p:grpSpPr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7075" y="1207915"/>
              <a:ext cx="4607042" cy="503681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7086599" y="1234439"/>
              <a:ext cx="4508500" cy="4937760"/>
            </a:xfrm>
            <a:custGeom>
              <a:avLst/>
              <a:gdLst/>
              <a:ahLst/>
              <a:cxnLst/>
              <a:rect l="l" t="t" r="r" b="b"/>
              <a:pathLst>
                <a:path w="4508500" h="4937760">
                  <a:moveTo>
                    <a:pt x="3756644" y="4937759"/>
                  </a:moveTo>
                  <a:lnTo>
                    <a:pt x="751346" y="4937759"/>
                  </a:lnTo>
                  <a:lnTo>
                    <a:pt x="703830" y="4936281"/>
                  </a:lnTo>
                  <a:lnTo>
                    <a:pt x="657099" y="4931905"/>
                  </a:lnTo>
                  <a:lnTo>
                    <a:pt x="611242" y="4924720"/>
                  </a:lnTo>
                  <a:lnTo>
                    <a:pt x="566345" y="4914813"/>
                  </a:lnTo>
                  <a:lnTo>
                    <a:pt x="522499" y="4902272"/>
                  </a:lnTo>
                  <a:lnTo>
                    <a:pt x="479789" y="4887185"/>
                  </a:lnTo>
                  <a:lnTo>
                    <a:pt x="438305" y="4869641"/>
                  </a:lnTo>
                  <a:lnTo>
                    <a:pt x="398135" y="4849727"/>
                  </a:lnTo>
                  <a:lnTo>
                    <a:pt x="359366" y="4827532"/>
                  </a:lnTo>
                  <a:lnTo>
                    <a:pt x="322086" y="4803143"/>
                  </a:lnTo>
                  <a:lnTo>
                    <a:pt x="286384" y="4776649"/>
                  </a:lnTo>
                  <a:lnTo>
                    <a:pt x="252347" y="4748137"/>
                  </a:lnTo>
                  <a:lnTo>
                    <a:pt x="220064" y="4717695"/>
                  </a:lnTo>
                  <a:lnTo>
                    <a:pt x="189623" y="4685412"/>
                  </a:lnTo>
                  <a:lnTo>
                    <a:pt x="161110" y="4651375"/>
                  </a:lnTo>
                  <a:lnTo>
                    <a:pt x="134616" y="4615673"/>
                  </a:lnTo>
                  <a:lnTo>
                    <a:pt x="110227" y="4578394"/>
                  </a:lnTo>
                  <a:lnTo>
                    <a:pt x="88032" y="4539625"/>
                  </a:lnTo>
                  <a:lnTo>
                    <a:pt x="68118" y="4499454"/>
                  </a:lnTo>
                  <a:lnTo>
                    <a:pt x="50574" y="4457970"/>
                  </a:lnTo>
                  <a:lnTo>
                    <a:pt x="35487" y="4415261"/>
                  </a:lnTo>
                  <a:lnTo>
                    <a:pt x="22946" y="4371414"/>
                  </a:lnTo>
                  <a:lnTo>
                    <a:pt x="13039" y="4326517"/>
                  </a:lnTo>
                  <a:lnTo>
                    <a:pt x="5854" y="4280660"/>
                  </a:lnTo>
                  <a:lnTo>
                    <a:pt x="1478" y="4233929"/>
                  </a:lnTo>
                  <a:lnTo>
                    <a:pt x="0" y="4186412"/>
                  </a:lnTo>
                  <a:lnTo>
                    <a:pt x="0" y="751347"/>
                  </a:lnTo>
                  <a:lnTo>
                    <a:pt x="1478" y="703830"/>
                  </a:lnTo>
                  <a:lnTo>
                    <a:pt x="5854" y="657099"/>
                  </a:lnTo>
                  <a:lnTo>
                    <a:pt x="13039" y="611242"/>
                  </a:lnTo>
                  <a:lnTo>
                    <a:pt x="22946" y="566345"/>
                  </a:lnTo>
                  <a:lnTo>
                    <a:pt x="35487" y="522498"/>
                  </a:lnTo>
                  <a:lnTo>
                    <a:pt x="50574" y="479789"/>
                  </a:lnTo>
                  <a:lnTo>
                    <a:pt x="68118" y="438305"/>
                  </a:lnTo>
                  <a:lnTo>
                    <a:pt x="88032" y="398135"/>
                  </a:lnTo>
                  <a:lnTo>
                    <a:pt x="110227" y="359365"/>
                  </a:lnTo>
                  <a:lnTo>
                    <a:pt x="134616" y="322086"/>
                  </a:lnTo>
                  <a:lnTo>
                    <a:pt x="161110" y="286384"/>
                  </a:lnTo>
                  <a:lnTo>
                    <a:pt x="189623" y="252347"/>
                  </a:lnTo>
                  <a:lnTo>
                    <a:pt x="220064" y="220064"/>
                  </a:lnTo>
                  <a:lnTo>
                    <a:pt x="252347" y="189622"/>
                  </a:lnTo>
                  <a:lnTo>
                    <a:pt x="286384" y="161110"/>
                  </a:lnTo>
                  <a:lnTo>
                    <a:pt x="322086" y="134616"/>
                  </a:lnTo>
                  <a:lnTo>
                    <a:pt x="359366" y="110227"/>
                  </a:lnTo>
                  <a:lnTo>
                    <a:pt x="398135" y="88032"/>
                  </a:lnTo>
                  <a:lnTo>
                    <a:pt x="438305" y="68118"/>
                  </a:lnTo>
                  <a:lnTo>
                    <a:pt x="479789" y="50574"/>
                  </a:lnTo>
                  <a:lnTo>
                    <a:pt x="522499" y="35487"/>
                  </a:lnTo>
                  <a:lnTo>
                    <a:pt x="566345" y="22946"/>
                  </a:lnTo>
                  <a:lnTo>
                    <a:pt x="611242" y="13039"/>
                  </a:lnTo>
                  <a:lnTo>
                    <a:pt x="657099" y="5854"/>
                  </a:lnTo>
                  <a:lnTo>
                    <a:pt x="703830" y="1478"/>
                  </a:lnTo>
                  <a:lnTo>
                    <a:pt x="751346" y="0"/>
                  </a:lnTo>
                  <a:lnTo>
                    <a:pt x="3756644" y="0"/>
                  </a:lnTo>
                  <a:lnTo>
                    <a:pt x="3806268" y="1639"/>
                  </a:lnTo>
                  <a:lnTo>
                    <a:pt x="3855405" y="6516"/>
                  </a:lnTo>
                  <a:lnTo>
                    <a:pt x="3903910" y="14570"/>
                  </a:lnTo>
                  <a:lnTo>
                    <a:pt x="3951637" y="25741"/>
                  </a:lnTo>
                  <a:lnTo>
                    <a:pt x="3998440" y="39969"/>
                  </a:lnTo>
                  <a:lnTo>
                    <a:pt x="4044173" y="57192"/>
                  </a:lnTo>
                  <a:lnTo>
                    <a:pt x="4088690" y="77352"/>
                  </a:lnTo>
                  <a:lnTo>
                    <a:pt x="4131845" y="100386"/>
                  </a:lnTo>
                  <a:lnTo>
                    <a:pt x="4173492" y="126235"/>
                  </a:lnTo>
                  <a:lnTo>
                    <a:pt x="4213486" y="154838"/>
                  </a:lnTo>
                  <a:lnTo>
                    <a:pt x="4251679" y="186134"/>
                  </a:lnTo>
                  <a:lnTo>
                    <a:pt x="4287927" y="220064"/>
                  </a:lnTo>
                  <a:lnTo>
                    <a:pt x="4321857" y="256312"/>
                  </a:lnTo>
                  <a:lnTo>
                    <a:pt x="4353153" y="294505"/>
                  </a:lnTo>
                  <a:lnTo>
                    <a:pt x="4381756" y="334499"/>
                  </a:lnTo>
                  <a:lnTo>
                    <a:pt x="4407605" y="376146"/>
                  </a:lnTo>
                  <a:lnTo>
                    <a:pt x="4430640" y="419301"/>
                  </a:lnTo>
                  <a:lnTo>
                    <a:pt x="4450799" y="463818"/>
                  </a:lnTo>
                  <a:lnTo>
                    <a:pt x="4468023" y="509552"/>
                  </a:lnTo>
                  <a:lnTo>
                    <a:pt x="4482250" y="556355"/>
                  </a:lnTo>
                  <a:lnTo>
                    <a:pt x="4493422" y="604082"/>
                  </a:lnTo>
                  <a:lnTo>
                    <a:pt x="4501476" y="652587"/>
                  </a:lnTo>
                  <a:lnTo>
                    <a:pt x="4506353" y="701724"/>
                  </a:lnTo>
                  <a:lnTo>
                    <a:pt x="4507992" y="751347"/>
                  </a:lnTo>
                  <a:lnTo>
                    <a:pt x="4507992" y="4186412"/>
                  </a:lnTo>
                  <a:lnTo>
                    <a:pt x="4506514" y="4233929"/>
                  </a:lnTo>
                  <a:lnTo>
                    <a:pt x="4502138" y="4280660"/>
                  </a:lnTo>
                  <a:lnTo>
                    <a:pt x="4494952" y="4326517"/>
                  </a:lnTo>
                  <a:lnTo>
                    <a:pt x="4485045" y="4371414"/>
                  </a:lnTo>
                  <a:lnTo>
                    <a:pt x="4472504" y="4415261"/>
                  </a:lnTo>
                  <a:lnTo>
                    <a:pt x="4457418" y="4457970"/>
                  </a:lnTo>
                  <a:lnTo>
                    <a:pt x="4439874" y="4499454"/>
                  </a:lnTo>
                  <a:lnTo>
                    <a:pt x="4419960" y="4539625"/>
                  </a:lnTo>
                  <a:lnTo>
                    <a:pt x="4397764" y="4578394"/>
                  </a:lnTo>
                  <a:lnTo>
                    <a:pt x="4373375" y="4615673"/>
                  </a:lnTo>
                  <a:lnTo>
                    <a:pt x="4346881" y="4651375"/>
                  </a:lnTo>
                  <a:lnTo>
                    <a:pt x="4318369" y="4685412"/>
                  </a:lnTo>
                  <a:lnTo>
                    <a:pt x="4287927" y="4717695"/>
                  </a:lnTo>
                  <a:lnTo>
                    <a:pt x="4255644" y="4748137"/>
                  </a:lnTo>
                  <a:lnTo>
                    <a:pt x="4221608" y="4776649"/>
                  </a:lnTo>
                  <a:lnTo>
                    <a:pt x="4185905" y="4803143"/>
                  </a:lnTo>
                  <a:lnTo>
                    <a:pt x="4148626" y="4827532"/>
                  </a:lnTo>
                  <a:lnTo>
                    <a:pt x="4109857" y="4849727"/>
                  </a:lnTo>
                  <a:lnTo>
                    <a:pt x="4069686" y="4869641"/>
                  </a:lnTo>
                  <a:lnTo>
                    <a:pt x="4028202" y="4887185"/>
                  </a:lnTo>
                  <a:lnTo>
                    <a:pt x="3985493" y="4902272"/>
                  </a:lnTo>
                  <a:lnTo>
                    <a:pt x="3941646" y="4914813"/>
                  </a:lnTo>
                  <a:lnTo>
                    <a:pt x="3896750" y="4924720"/>
                  </a:lnTo>
                  <a:lnTo>
                    <a:pt x="3850892" y="4931905"/>
                  </a:lnTo>
                  <a:lnTo>
                    <a:pt x="3804161" y="4936281"/>
                  </a:lnTo>
                  <a:lnTo>
                    <a:pt x="3756644" y="493775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086599" y="1234439"/>
              <a:ext cx="4508500" cy="4937760"/>
            </a:xfrm>
            <a:custGeom>
              <a:avLst/>
              <a:gdLst/>
              <a:ahLst/>
              <a:cxnLst/>
              <a:rect l="l" t="t" r="r" b="b"/>
              <a:pathLst>
                <a:path w="4508500" h="4937760">
                  <a:moveTo>
                    <a:pt x="0" y="751347"/>
                  </a:moveTo>
                  <a:lnTo>
                    <a:pt x="1478" y="703830"/>
                  </a:lnTo>
                  <a:lnTo>
                    <a:pt x="5854" y="657099"/>
                  </a:lnTo>
                  <a:lnTo>
                    <a:pt x="13039" y="611242"/>
                  </a:lnTo>
                  <a:lnTo>
                    <a:pt x="22946" y="566345"/>
                  </a:lnTo>
                  <a:lnTo>
                    <a:pt x="35487" y="522498"/>
                  </a:lnTo>
                  <a:lnTo>
                    <a:pt x="50574" y="479789"/>
                  </a:lnTo>
                  <a:lnTo>
                    <a:pt x="68118" y="438305"/>
                  </a:lnTo>
                  <a:lnTo>
                    <a:pt x="88032" y="398135"/>
                  </a:lnTo>
                  <a:lnTo>
                    <a:pt x="110227" y="359365"/>
                  </a:lnTo>
                  <a:lnTo>
                    <a:pt x="134616" y="322086"/>
                  </a:lnTo>
                  <a:lnTo>
                    <a:pt x="161110" y="286384"/>
                  </a:lnTo>
                  <a:lnTo>
                    <a:pt x="189623" y="252347"/>
                  </a:lnTo>
                  <a:lnTo>
                    <a:pt x="220064" y="220064"/>
                  </a:lnTo>
                  <a:lnTo>
                    <a:pt x="252347" y="189622"/>
                  </a:lnTo>
                  <a:lnTo>
                    <a:pt x="286384" y="161110"/>
                  </a:lnTo>
                  <a:lnTo>
                    <a:pt x="322086" y="134616"/>
                  </a:lnTo>
                  <a:lnTo>
                    <a:pt x="359366" y="110227"/>
                  </a:lnTo>
                  <a:lnTo>
                    <a:pt x="398135" y="88032"/>
                  </a:lnTo>
                  <a:lnTo>
                    <a:pt x="438305" y="68118"/>
                  </a:lnTo>
                  <a:lnTo>
                    <a:pt x="479789" y="50574"/>
                  </a:lnTo>
                  <a:lnTo>
                    <a:pt x="522499" y="35487"/>
                  </a:lnTo>
                  <a:lnTo>
                    <a:pt x="566345" y="22946"/>
                  </a:lnTo>
                  <a:lnTo>
                    <a:pt x="611242" y="13039"/>
                  </a:lnTo>
                  <a:lnTo>
                    <a:pt x="657099" y="5854"/>
                  </a:lnTo>
                  <a:lnTo>
                    <a:pt x="703830" y="1478"/>
                  </a:lnTo>
                  <a:lnTo>
                    <a:pt x="751346" y="0"/>
                  </a:lnTo>
                  <a:lnTo>
                    <a:pt x="3756644" y="0"/>
                  </a:lnTo>
                  <a:lnTo>
                    <a:pt x="3806268" y="1639"/>
                  </a:lnTo>
                  <a:lnTo>
                    <a:pt x="3855405" y="6516"/>
                  </a:lnTo>
                  <a:lnTo>
                    <a:pt x="3903910" y="14570"/>
                  </a:lnTo>
                  <a:lnTo>
                    <a:pt x="3951637" y="25741"/>
                  </a:lnTo>
                  <a:lnTo>
                    <a:pt x="3998440" y="39969"/>
                  </a:lnTo>
                  <a:lnTo>
                    <a:pt x="4044173" y="57192"/>
                  </a:lnTo>
                  <a:lnTo>
                    <a:pt x="4088690" y="77352"/>
                  </a:lnTo>
                  <a:lnTo>
                    <a:pt x="4131845" y="100386"/>
                  </a:lnTo>
                  <a:lnTo>
                    <a:pt x="4173492" y="126235"/>
                  </a:lnTo>
                  <a:lnTo>
                    <a:pt x="4213486" y="154838"/>
                  </a:lnTo>
                  <a:lnTo>
                    <a:pt x="4251679" y="186134"/>
                  </a:lnTo>
                  <a:lnTo>
                    <a:pt x="4287927" y="220064"/>
                  </a:lnTo>
                  <a:lnTo>
                    <a:pt x="4321857" y="256312"/>
                  </a:lnTo>
                  <a:lnTo>
                    <a:pt x="4353153" y="294505"/>
                  </a:lnTo>
                  <a:lnTo>
                    <a:pt x="4381756" y="334499"/>
                  </a:lnTo>
                  <a:lnTo>
                    <a:pt x="4407605" y="376146"/>
                  </a:lnTo>
                  <a:lnTo>
                    <a:pt x="4430640" y="419301"/>
                  </a:lnTo>
                  <a:lnTo>
                    <a:pt x="4450799" y="463818"/>
                  </a:lnTo>
                  <a:lnTo>
                    <a:pt x="4468023" y="509552"/>
                  </a:lnTo>
                  <a:lnTo>
                    <a:pt x="4482250" y="556355"/>
                  </a:lnTo>
                  <a:lnTo>
                    <a:pt x="4493422" y="604082"/>
                  </a:lnTo>
                  <a:lnTo>
                    <a:pt x="4501476" y="652587"/>
                  </a:lnTo>
                  <a:lnTo>
                    <a:pt x="4506353" y="701724"/>
                  </a:lnTo>
                  <a:lnTo>
                    <a:pt x="4507992" y="751347"/>
                  </a:lnTo>
                  <a:lnTo>
                    <a:pt x="4507992" y="4186412"/>
                  </a:lnTo>
                  <a:lnTo>
                    <a:pt x="4506514" y="4233929"/>
                  </a:lnTo>
                  <a:lnTo>
                    <a:pt x="4502138" y="4280660"/>
                  </a:lnTo>
                  <a:lnTo>
                    <a:pt x="4494952" y="4326517"/>
                  </a:lnTo>
                  <a:lnTo>
                    <a:pt x="4485045" y="4371414"/>
                  </a:lnTo>
                  <a:lnTo>
                    <a:pt x="4472504" y="4415261"/>
                  </a:lnTo>
                  <a:lnTo>
                    <a:pt x="4457418" y="4457970"/>
                  </a:lnTo>
                  <a:lnTo>
                    <a:pt x="4439874" y="4499454"/>
                  </a:lnTo>
                  <a:lnTo>
                    <a:pt x="4419960" y="4539625"/>
                  </a:lnTo>
                  <a:lnTo>
                    <a:pt x="4397764" y="4578394"/>
                  </a:lnTo>
                  <a:lnTo>
                    <a:pt x="4373375" y="4615673"/>
                  </a:lnTo>
                  <a:lnTo>
                    <a:pt x="4346881" y="4651375"/>
                  </a:lnTo>
                  <a:lnTo>
                    <a:pt x="4318369" y="4685412"/>
                  </a:lnTo>
                  <a:lnTo>
                    <a:pt x="4287927" y="4717695"/>
                  </a:lnTo>
                  <a:lnTo>
                    <a:pt x="4255644" y="4748137"/>
                  </a:lnTo>
                  <a:lnTo>
                    <a:pt x="4221608" y="4776649"/>
                  </a:lnTo>
                  <a:lnTo>
                    <a:pt x="4185905" y="4803143"/>
                  </a:lnTo>
                  <a:lnTo>
                    <a:pt x="4148626" y="4827532"/>
                  </a:lnTo>
                  <a:lnTo>
                    <a:pt x="4109857" y="4849727"/>
                  </a:lnTo>
                  <a:lnTo>
                    <a:pt x="4069686" y="4869641"/>
                  </a:lnTo>
                  <a:lnTo>
                    <a:pt x="4028202" y="4887185"/>
                  </a:lnTo>
                  <a:lnTo>
                    <a:pt x="3985493" y="4902272"/>
                  </a:lnTo>
                  <a:lnTo>
                    <a:pt x="3941646" y="4914813"/>
                  </a:lnTo>
                  <a:lnTo>
                    <a:pt x="3896750" y="4924720"/>
                  </a:lnTo>
                  <a:lnTo>
                    <a:pt x="3850892" y="4931905"/>
                  </a:lnTo>
                  <a:lnTo>
                    <a:pt x="3804161" y="4936281"/>
                  </a:lnTo>
                  <a:lnTo>
                    <a:pt x="3756644" y="4937759"/>
                  </a:lnTo>
                  <a:lnTo>
                    <a:pt x="751346" y="4937759"/>
                  </a:lnTo>
                  <a:lnTo>
                    <a:pt x="703830" y="4936281"/>
                  </a:lnTo>
                  <a:lnTo>
                    <a:pt x="657099" y="4931905"/>
                  </a:lnTo>
                  <a:lnTo>
                    <a:pt x="611242" y="4924720"/>
                  </a:lnTo>
                  <a:lnTo>
                    <a:pt x="566345" y="4914813"/>
                  </a:lnTo>
                  <a:lnTo>
                    <a:pt x="522499" y="4902272"/>
                  </a:lnTo>
                  <a:lnTo>
                    <a:pt x="479789" y="4887185"/>
                  </a:lnTo>
                  <a:lnTo>
                    <a:pt x="438305" y="4869641"/>
                  </a:lnTo>
                  <a:lnTo>
                    <a:pt x="398135" y="4849727"/>
                  </a:lnTo>
                  <a:lnTo>
                    <a:pt x="359366" y="4827532"/>
                  </a:lnTo>
                  <a:lnTo>
                    <a:pt x="322086" y="4803143"/>
                  </a:lnTo>
                  <a:lnTo>
                    <a:pt x="286384" y="4776649"/>
                  </a:lnTo>
                  <a:lnTo>
                    <a:pt x="252347" y="4748137"/>
                  </a:lnTo>
                  <a:lnTo>
                    <a:pt x="220064" y="4717695"/>
                  </a:lnTo>
                  <a:lnTo>
                    <a:pt x="189623" y="4685412"/>
                  </a:lnTo>
                  <a:lnTo>
                    <a:pt x="161110" y="4651375"/>
                  </a:lnTo>
                  <a:lnTo>
                    <a:pt x="134616" y="4615673"/>
                  </a:lnTo>
                  <a:lnTo>
                    <a:pt x="110227" y="4578394"/>
                  </a:lnTo>
                  <a:lnTo>
                    <a:pt x="88032" y="4539625"/>
                  </a:lnTo>
                  <a:lnTo>
                    <a:pt x="68118" y="4499454"/>
                  </a:lnTo>
                  <a:lnTo>
                    <a:pt x="50574" y="4457970"/>
                  </a:lnTo>
                  <a:lnTo>
                    <a:pt x="35487" y="4415261"/>
                  </a:lnTo>
                  <a:lnTo>
                    <a:pt x="22946" y="4371414"/>
                  </a:lnTo>
                  <a:lnTo>
                    <a:pt x="13039" y="4326517"/>
                  </a:lnTo>
                  <a:lnTo>
                    <a:pt x="5854" y="4280660"/>
                  </a:lnTo>
                  <a:lnTo>
                    <a:pt x="1478" y="4233929"/>
                  </a:lnTo>
                  <a:lnTo>
                    <a:pt x="0" y="4186412"/>
                  </a:lnTo>
                  <a:lnTo>
                    <a:pt x="0" y="751347"/>
                  </a:lnTo>
                  <a:close/>
                </a:path>
              </a:pathLst>
            </a:custGeom>
            <a:ln w="19049">
              <a:solidFill>
                <a:srgbClr val="1E39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/>
          <p:cNvGrpSpPr/>
          <p:nvPr/>
        </p:nvGrpSpPr>
        <p:grpSpPr>
          <a:xfrm>
            <a:off x="7041837" y="1212677"/>
            <a:ext cx="4598035" cy="528955"/>
            <a:chOff x="7041837" y="1212677"/>
            <a:chExt cx="4598035" cy="528955"/>
          </a:xfrm>
        </p:grpSpPr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1837" y="1212677"/>
              <a:ext cx="4597517" cy="52843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086599" y="1234439"/>
              <a:ext cx="4508500" cy="439420"/>
            </a:xfrm>
            <a:custGeom>
              <a:avLst/>
              <a:gdLst/>
              <a:ahLst/>
              <a:cxnLst/>
              <a:rect l="l" t="t" r="r" b="b"/>
              <a:pathLst>
                <a:path w="4508500" h="439419">
                  <a:moveTo>
                    <a:pt x="4434838" y="438911"/>
                  </a:moveTo>
                  <a:lnTo>
                    <a:pt x="73152" y="438911"/>
                  </a:lnTo>
                  <a:lnTo>
                    <a:pt x="44678" y="433163"/>
                  </a:lnTo>
                  <a:lnTo>
                    <a:pt x="21425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5" y="21426"/>
                  </a:lnTo>
                  <a:lnTo>
                    <a:pt x="44678" y="5748"/>
                  </a:lnTo>
                  <a:lnTo>
                    <a:pt x="73152" y="0"/>
                  </a:lnTo>
                  <a:lnTo>
                    <a:pt x="4434838" y="0"/>
                  </a:lnTo>
                  <a:lnTo>
                    <a:pt x="4475423" y="12290"/>
                  </a:lnTo>
                  <a:lnTo>
                    <a:pt x="4502423" y="45158"/>
                  </a:lnTo>
                  <a:lnTo>
                    <a:pt x="4507992" y="73153"/>
                  </a:lnTo>
                  <a:lnTo>
                    <a:pt x="4507992" y="365758"/>
                  </a:lnTo>
                  <a:lnTo>
                    <a:pt x="4502243" y="394233"/>
                  </a:lnTo>
                  <a:lnTo>
                    <a:pt x="4486566" y="417485"/>
                  </a:lnTo>
                  <a:lnTo>
                    <a:pt x="4463313" y="433163"/>
                  </a:lnTo>
                  <a:lnTo>
                    <a:pt x="4434838" y="438911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7086599" y="1234439"/>
              <a:ext cx="4508500" cy="439420"/>
            </a:xfrm>
            <a:custGeom>
              <a:avLst/>
              <a:gdLst/>
              <a:ahLst/>
              <a:cxnLst/>
              <a:rect l="l" t="t" r="r" b="b"/>
              <a:pathLst>
                <a:path w="450850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5" y="21426"/>
                  </a:lnTo>
                  <a:lnTo>
                    <a:pt x="44678" y="5748"/>
                  </a:lnTo>
                  <a:lnTo>
                    <a:pt x="73152" y="0"/>
                  </a:lnTo>
                  <a:lnTo>
                    <a:pt x="4434838" y="0"/>
                  </a:lnTo>
                  <a:lnTo>
                    <a:pt x="4475423" y="12290"/>
                  </a:lnTo>
                  <a:lnTo>
                    <a:pt x="4502423" y="45158"/>
                  </a:lnTo>
                  <a:lnTo>
                    <a:pt x="4507992" y="73153"/>
                  </a:lnTo>
                  <a:lnTo>
                    <a:pt x="4507992" y="365758"/>
                  </a:lnTo>
                  <a:lnTo>
                    <a:pt x="4502243" y="394233"/>
                  </a:lnTo>
                  <a:lnTo>
                    <a:pt x="4486566" y="417485"/>
                  </a:lnTo>
                  <a:lnTo>
                    <a:pt x="4463313" y="433163"/>
                  </a:lnTo>
                  <a:lnTo>
                    <a:pt x="4434838" y="438911"/>
                  </a:lnTo>
                  <a:lnTo>
                    <a:pt x="73152" y="438911"/>
                  </a:lnTo>
                  <a:lnTo>
                    <a:pt x="44678" y="433163"/>
                  </a:lnTo>
                  <a:lnTo>
                    <a:pt x="21425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64329" y="1357807"/>
              <a:ext cx="221258" cy="208243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8113070" y="1332166"/>
            <a:ext cx="26854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HEURISTIC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SCORING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FORMULATION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474937" y="2685224"/>
            <a:ext cx="3711575" cy="280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8370" marR="560070" indent="-342265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Score</a:t>
            </a:r>
            <a:r>
              <a:rPr sz="16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16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(0.50</a:t>
            </a:r>
            <a:r>
              <a:rPr sz="16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×</a:t>
            </a:r>
            <a:r>
              <a:rPr sz="16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S)</a:t>
            </a:r>
            <a:r>
              <a:rPr sz="16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16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(0.25</a:t>
            </a:r>
            <a:r>
              <a:rPr sz="16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×</a:t>
            </a:r>
            <a:r>
              <a:rPr sz="16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E)</a:t>
            </a:r>
            <a:r>
              <a:rPr sz="16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5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+ </a:t>
            </a:r>
            <a:r>
              <a:rPr sz="16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(0.15</a:t>
            </a:r>
            <a:r>
              <a:rPr sz="16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×</a:t>
            </a:r>
            <a:r>
              <a:rPr sz="16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Ed)</a:t>
            </a:r>
            <a:r>
              <a:rPr sz="16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16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(0.10</a:t>
            </a:r>
            <a:r>
              <a:rPr sz="16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×</a:t>
            </a:r>
            <a:r>
              <a:rPr sz="16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C)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" marR="89535" indent="119380">
              <a:lnSpc>
                <a:spcPct val="100000"/>
              </a:lnSpc>
              <a:spcBef>
                <a:spcPts val="101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Technical</a:t>
            </a: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Skills</a:t>
            </a:r>
            <a:r>
              <a:rPr sz="130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(S</a:t>
            </a:r>
            <a:r>
              <a:rPr sz="130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30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50%):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Ratio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matched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mandatory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skills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preferred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skills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bonus.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5080" indent="119380">
              <a:lnSpc>
                <a:spcPct val="100000"/>
              </a:lnSpc>
              <a:spcBef>
                <a:spcPts val="5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Experience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Ratio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(E</a:t>
            </a:r>
            <a:r>
              <a:rPr sz="1300" b="1" spc="-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25%):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 experience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vs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job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minimum</a:t>
            </a:r>
            <a:r>
              <a:rPr sz="12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threshold</a:t>
            </a:r>
            <a:r>
              <a:rPr sz="12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ratio:</a:t>
            </a:r>
            <a:r>
              <a:rPr sz="12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min(Exp/Req,</a:t>
            </a:r>
            <a:r>
              <a:rPr sz="12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1.5).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277495" indent="119380">
              <a:lnSpc>
                <a:spcPct val="100000"/>
              </a:lnSpc>
              <a:spcBef>
                <a:spcPts val="5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Education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Level</a:t>
            </a:r>
            <a:r>
              <a:rPr sz="1300" b="1" spc="-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(Ed</a:t>
            </a:r>
            <a:r>
              <a:rPr sz="1300" b="1" spc="-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300" b="1" spc="-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15%):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Hierarchical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degree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tier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evaluation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(Ph.D.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&gt;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Master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&gt;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Bachelor).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301625" indent="119380">
              <a:lnSpc>
                <a:spcPct val="100000"/>
              </a:lnSpc>
              <a:spcBef>
                <a:spcPts val="5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Certifications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(C</a:t>
            </a: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10%):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Verification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professional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cloud,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security,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domain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credentials.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36195" indent="119380">
              <a:lnSpc>
                <a:spcPct val="100000"/>
              </a:lnSpc>
              <a:spcBef>
                <a:spcPts val="5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300" b="1" spc="-5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Property: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100%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reproducible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results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random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seeds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statistical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drift.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Literature</a:t>
            </a:r>
            <a:r>
              <a:rPr spc="-50" dirty="0"/>
              <a:t> </a:t>
            </a:r>
            <a:r>
              <a:rPr spc="-10" dirty="0"/>
              <a:t>Survey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559890" y="155447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8009" y="1228089"/>
          <a:ext cx="11089640" cy="3977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4360"/>
                <a:gridCol w="2011679"/>
                <a:gridCol w="2834640"/>
                <a:gridCol w="2926079"/>
                <a:gridCol w="2633345"/>
              </a:tblGrid>
              <a:tr h="662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S.No.</a:t>
                      </a:r>
                      <a:endParaRPr sz="13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23875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Author</a:t>
                      </a:r>
                      <a:r>
                        <a:rPr sz="1300" b="1" spc="-4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1300" b="1" spc="-3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Year</a:t>
                      </a:r>
                      <a:endParaRPr sz="13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Methodology</a:t>
                      </a:r>
                      <a:r>
                        <a:rPr sz="1300" b="1" spc="-1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/</a:t>
                      </a:r>
                      <a:r>
                        <a:rPr sz="1300" b="1" spc="-1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Technique</a:t>
                      </a:r>
                      <a:endParaRPr sz="13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55625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Key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Findings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1300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Advantages</a:t>
                      </a:r>
                      <a:endParaRPr sz="13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89610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Critical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Limitations</a:t>
                      </a:r>
                      <a:endParaRPr sz="13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F2547"/>
                    </a:solidFill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12331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1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Faliagka</a:t>
                      </a:r>
                      <a:r>
                        <a:rPr sz="1100" b="1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et</a:t>
                      </a:r>
                      <a:r>
                        <a:rPr sz="1100" b="1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al. </a:t>
                      </a:r>
                      <a:r>
                        <a:rPr sz="11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(2012)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22415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Candidate</a:t>
                      </a:r>
                      <a:r>
                        <a:rPr sz="1100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ranking</a:t>
                      </a:r>
                      <a:r>
                        <a:rPr sz="1100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via</a:t>
                      </a:r>
                      <a:r>
                        <a:rPr sz="1100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NLP</a:t>
                      </a:r>
                      <a:r>
                        <a:rPr sz="1100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1100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LinkedIn</a:t>
                      </a:r>
                      <a:r>
                        <a:rPr sz="1100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profile </a:t>
                      </a:r>
                      <a:r>
                        <a:rPr sz="1100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0637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Automated</a:t>
                      </a:r>
                      <a:r>
                        <a:rPr sz="1100" spc="-6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candidate</a:t>
                      </a:r>
                      <a:r>
                        <a:rPr sz="1100" spc="-4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assessment</a:t>
                      </a:r>
                      <a:r>
                        <a:rPr sz="1100" spc="-4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significantly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reduces</a:t>
                      </a:r>
                      <a:r>
                        <a:rPr sz="1100" spc="-4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manual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screening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time.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2479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Lacks</a:t>
                      </a:r>
                      <a:r>
                        <a:rPr sz="1100" spc="-1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explainable</a:t>
                      </a:r>
                      <a:r>
                        <a:rPr sz="1100" spc="-1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rule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auditability;</a:t>
                      </a:r>
                      <a:r>
                        <a:rPr sz="1100" spc="-1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prone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100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social</a:t>
                      </a:r>
                      <a:r>
                        <a:rPr sz="1100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profile</a:t>
                      </a:r>
                      <a:r>
                        <a:rPr sz="1100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noise</a:t>
                      </a:r>
                      <a:r>
                        <a:rPr sz="1100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1100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bias.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656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37604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1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Roy</a:t>
                      </a:r>
                      <a:r>
                        <a:rPr sz="1100" b="1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et</a:t>
                      </a:r>
                      <a:r>
                        <a:rPr sz="11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al. </a:t>
                      </a:r>
                      <a:r>
                        <a:rPr sz="11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(2020)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55308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Deep</a:t>
                      </a:r>
                      <a:r>
                        <a:rPr sz="1100" spc="-4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Learning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BERT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embeddings</a:t>
                      </a:r>
                      <a:r>
                        <a:rPr sz="1100" spc="-4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for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resume</a:t>
                      </a:r>
                      <a:r>
                        <a:rPr sz="1100" spc="-4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matching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4767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High</a:t>
                      </a:r>
                      <a:r>
                        <a:rPr sz="1100" spc="-4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contextual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semantic</a:t>
                      </a:r>
                      <a:r>
                        <a:rPr sz="1100" spc="-4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matching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across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unstructured</a:t>
                      </a:r>
                      <a:r>
                        <a:rPr sz="1100" spc="-4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job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descriptions.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0322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'Black-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box'</a:t>
                      </a:r>
                      <a:r>
                        <a:rPr sz="1100" spc="-1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opacity</a:t>
                      </a:r>
                      <a:r>
                        <a:rPr sz="1100" spc="-1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fails</a:t>
                      </a:r>
                      <a:r>
                        <a:rPr sz="1100" spc="-1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explainability;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heavy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cloud</a:t>
                      </a:r>
                      <a:r>
                        <a:rPr sz="1100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GPU</a:t>
                      </a:r>
                      <a:r>
                        <a:rPr sz="1100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compute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overhead.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1F4F9"/>
                    </a:solidFill>
                  </a:tcPr>
                </a:tc>
              </a:tr>
              <a:tr h="669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91313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1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Al-</a:t>
                      </a:r>
                      <a:r>
                        <a:rPr sz="11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Mansoor</a:t>
                      </a:r>
                      <a:r>
                        <a:rPr sz="11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et</a:t>
                      </a:r>
                      <a:r>
                        <a:rPr sz="11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al. </a:t>
                      </a:r>
                      <a:r>
                        <a:rPr sz="11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(2021)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73596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Neural</a:t>
                      </a:r>
                      <a:r>
                        <a:rPr sz="1100" spc="-1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ATS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with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transformer-based extraction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61849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High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parsing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throughput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across</a:t>
                      </a:r>
                      <a:r>
                        <a:rPr sz="1100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diverse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unstructured</a:t>
                      </a:r>
                      <a:r>
                        <a:rPr sz="1100" spc="-4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resume</a:t>
                      </a:r>
                      <a:r>
                        <a:rPr sz="1100" spc="-4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layouts.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61849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Prone</a:t>
                      </a:r>
                      <a:r>
                        <a:rPr sz="1100" spc="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100" spc="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hallucinations</a:t>
                      </a:r>
                      <a:r>
                        <a:rPr sz="1100" spc="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latent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historical</a:t>
                      </a:r>
                      <a:r>
                        <a:rPr sz="1100" spc="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gender/racial</a:t>
                      </a:r>
                      <a:r>
                        <a:rPr sz="1100" spc="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bias.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656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96964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1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Russell</a:t>
                      </a:r>
                      <a:r>
                        <a:rPr sz="1100" b="1" spc="-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&amp; </a:t>
                      </a:r>
                      <a:r>
                        <a:rPr sz="11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Norvig (2020)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582930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Classical</a:t>
                      </a:r>
                      <a:r>
                        <a:rPr sz="1100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Rule-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Based</a:t>
                      </a:r>
                      <a:r>
                        <a:rPr sz="1100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Expert</a:t>
                      </a:r>
                      <a:r>
                        <a:rPr sz="1100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Systems</a:t>
                      </a:r>
                      <a:r>
                        <a:rPr sz="1100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Forward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Chaining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61950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Guarantees</a:t>
                      </a:r>
                      <a:r>
                        <a:rPr sz="1100" spc="-4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logical</a:t>
                      </a:r>
                      <a:r>
                        <a:rPr sz="1100" spc="-4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deduction,</a:t>
                      </a:r>
                      <a:r>
                        <a:rPr sz="1100" spc="-4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deterministic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consistency,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proof</a:t>
                      </a:r>
                      <a:r>
                        <a:rPr sz="1100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trees.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60375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Requires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curated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domain</a:t>
                      </a:r>
                      <a:r>
                        <a:rPr sz="110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knowledge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bases</a:t>
                      </a:r>
                      <a:r>
                        <a:rPr sz="1100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100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taxonomy</a:t>
                      </a:r>
                      <a:r>
                        <a:rPr sz="1100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maintenance.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11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spc="-50" dirty="0">
                          <a:solidFill>
                            <a:srgbClr val="166534"/>
                          </a:solidFill>
                          <a:latin typeface="SimSun-ExtB" panose="02010609060101010101" charset="-122"/>
                          <a:cs typeface="SimSun-ExtB" panose="02010609060101010101" charset="-122"/>
                        </a:rPr>
                        <a:t>★</a:t>
                      </a:r>
                      <a:endParaRPr sz="1150">
                        <a:latin typeface="SimSun-ExtB" panose="02010609060101010101" charset="-122"/>
                        <a:cs typeface="SimSun-ExtB" panose="02010609060101010101" charset="-122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23253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150" b="1" spc="-10" dirty="0">
                          <a:solidFill>
                            <a:srgbClr val="166534"/>
                          </a:solidFill>
                          <a:latin typeface="Calibri" panose="020F0502020204030204"/>
                          <a:cs typeface="Calibri" panose="020F0502020204030204"/>
                        </a:rPr>
                        <a:t>HireAI</a:t>
                      </a:r>
                      <a:r>
                        <a:rPr sz="1150" b="1" spc="500" dirty="0">
                          <a:solidFill>
                            <a:srgbClr val="166534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b="1" dirty="0">
                          <a:solidFill>
                            <a:srgbClr val="166534"/>
                          </a:solidFill>
                          <a:latin typeface="Calibri" panose="020F0502020204030204"/>
                          <a:cs typeface="Calibri" panose="020F0502020204030204"/>
                        </a:rPr>
                        <a:t>(Our</a:t>
                      </a:r>
                      <a:r>
                        <a:rPr sz="1150" b="1" spc="-45" dirty="0">
                          <a:solidFill>
                            <a:srgbClr val="166534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166534"/>
                          </a:solidFill>
                          <a:latin typeface="Calibri" panose="020F0502020204030204"/>
                          <a:cs typeface="Calibri" panose="020F0502020204030204"/>
                        </a:rPr>
                        <a:t>Work)</a:t>
                      </a:r>
                      <a:endParaRPr sz="11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50165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15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Knowledge-</a:t>
                      </a: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Based</a:t>
                      </a:r>
                      <a:r>
                        <a:rPr sz="1150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Forward</a:t>
                      </a:r>
                      <a:r>
                        <a:rPr sz="1150" spc="-1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Chaining</a:t>
                      </a:r>
                      <a:r>
                        <a:rPr sz="1150" spc="-1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spc="-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+ </a:t>
                      </a:r>
                      <a:r>
                        <a:rPr sz="115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Zero-</a:t>
                      </a: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ML</a:t>
                      </a:r>
                      <a:r>
                        <a:rPr sz="1150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Parser</a:t>
                      </a:r>
                      <a:endParaRPr sz="11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7272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100%</a:t>
                      </a:r>
                      <a:r>
                        <a:rPr sz="1150" spc="-4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explainable</a:t>
                      </a:r>
                      <a:r>
                        <a:rPr sz="1150" spc="-4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proof</a:t>
                      </a:r>
                      <a:r>
                        <a:rPr sz="1150" spc="-4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trace,</a:t>
                      </a:r>
                      <a:r>
                        <a:rPr sz="1150" spc="-4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sub-</a:t>
                      </a: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50ms</a:t>
                      </a:r>
                      <a:r>
                        <a:rPr sz="1150" spc="-4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CPU </a:t>
                      </a:r>
                      <a:r>
                        <a:rPr sz="115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execution,</a:t>
                      </a:r>
                      <a:r>
                        <a:rPr sz="1150" spc="-3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zero</a:t>
                      </a:r>
                      <a:r>
                        <a:rPr sz="1150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demographic</a:t>
                      </a:r>
                      <a:r>
                        <a:rPr sz="1150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bias.</a:t>
                      </a:r>
                      <a:endParaRPr sz="11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953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Curated</a:t>
                      </a:r>
                      <a:r>
                        <a:rPr sz="1150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ontology</a:t>
                      </a:r>
                      <a:r>
                        <a:rPr sz="1150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required</a:t>
                      </a:r>
                      <a:r>
                        <a:rPr sz="1150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(solved</a:t>
                      </a:r>
                      <a:r>
                        <a:rPr sz="1150" spc="-1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via</a:t>
                      </a:r>
                      <a:r>
                        <a:rPr sz="1150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40+ </a:t>
                      </a:r>
                      <a:r>
                        <a:rPr sz="115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built-</a:t>
                      </a: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in</a:t>
                      </a:r>
                      <a:r>
                        <a:rPr sz="1150" spc="-1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5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tech</a:t>
                      </a:r>
                      <a:r>
                        <a:rPr sz="1150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taxonomies).</a:t>
                      </a:r>
                      <a:endParaRPr sz="11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0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</a:t>
            </a:r>
            <a:r>
              <a:rPr spc="-12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559890" y="155447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835" y="1207915"/>
            <a:ext cx="5448300" cy="4030979"/>
            <a:chOff x="544835" y="1207915"/>
            <a:chExt cx="5448300" cy="4030979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1207915"/>
              <a:ext cx="5448290" cy="40309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234439"/>
              <a:ext cx="5349240" cy="3931920"/>
            </a:xfrm>
            <a:custGeom>
              <a:avLst/>
              <a:gdLst/>
              <a:ahLst/>
              <a:cxnLst/>
              <a:rect l="l" t="t" r="r" b="b"/>
              <a:pathLst>
                <a:path w="5349240" h="3931920">
                  <a:moveTo>
                    <a:pt x="4693906" y="3931919"/>
                  </a:moveTo>
                  <a:lnTo>
                    <a:pt x="655333" y="3931919"/>
                  </a:lnTo>
                  <a:lnTo>
                    <a:pt x="606424" y="3930122"/>
                  </a:lnTo>
                  <a:lnTo>
                    <a:pt x="558492" y="3924814"/>
                  </a:lnTo>
                  <a:lnTo>
                    <a:pt x="511663" y="3916122"/>
                  </a:lnTo>
                  <a:lnTo>
                    <a:pt x="466064" y="3904173"/>
                  </a:lnTo>
                  <a:lnTo>
                    <a:pt x="421821" y="3889094"/>
                  </a:lnTo>
                  <a:lnTo>
                    <a:pt x="379061" y="3871011"/>
                  </a:lnTo>
                  <a:lnTo>
                    <a:pt x="337911" y="3850051"/>
                  </a:lnTo>
                  <a:lnTo>
                    <a:pt x="298497" y="3826341"/>
                  </a:lnTo>
                  <a:lnTo>
                    <a:pt x="260946" y="3800008"/>
                  </a:lnTo>
                  <a:lnTo>
                    <a:pt x="225386" y="3771177"/>
                  </a:lnTo>
                  <a:lnTo>
                    <a:pt x="191942" y="3739977"/>
                  </a:lnTo>
                  <a:lnTo>
                    <a:pt x="160742" y="3706533"/>
                  </a:lnTo>
                  <a:lnTo>
                    <a:pt x="131911" y="3670973"/>
                  </a:lnTo>
                  <a:lnTo>
                    <a:pt x="105578" y="3633422"/>
                  </a:lnTo>
                  <a:lnTo>
                    <a:pt x="81868" y="3594009"/>
                  </a:lnTo>
                  <a:lnTo>
                    <a:pt x="60908" y="3552858"/>
                  </a:lnTo>
                  <a:lnTo>
                    <a:pt x="42825" y="3510098"/>
                  </a:lnTo>
                  <a:lnTo>
                    <a:pt x="27746" y="3465855"/>
                  </a:lnTo>
                  <a:lnTo>
                    <a:pt x="15797" y="3420256"/>
                  </a:lnTo>
                  <a:lnTo>
                    <a:pt x="7105" y="3373427"/>
                  </a:lnTo>
                  <a:lnTo>
                    <a:pt x="1797" y="3325495"/>
                  </a:lnTo>
                  <a:lnTo>
                    <a:pt x="0" y="3276586"/>
                  </a:lnTo>
                  <a:lnTo>
                    <a:pt x="0" y="655332"/>
                  </a:lnTo>
                  <a:lnTo>
                    <a:pt x="1797" y="606424"/>
                  </a:lnTo>
                  <a:lnTo>
                    <a:pt x="7105" y="558492"/>
                  </a:lnTo>
                  <a:lnTo>
                    <a:pt x="15797" y="511663"/>
                  </a:lnTo>
                  <a:lnTo>
                    <a:pt x="27746" y="466064"/>
                  </a:lnTo>
                  <a:lnTo>
                    <a:pt x="42825" y="421821"/>
                  </a:lnTo>
                  <a:lnTo>
                    <a:pt x="60908" y="379061"/>
                  </a:lnTo>
                  <a:lnTo>
                    <a:pt x="81868" y="337910"/>
                  </a:lnTo>
                  <a:lnTo>
                    <a:pt x="105578" y="298497"/>
                  </a:lnTo>
                  <a:lnTo>
                    <a:pt x="131911" y="260946"/>
                  </a:lnTo>
                  <a:lnTo>
                    <a:pt x="160742" y="225386"/>
                  </a:lnTo>
                  <a:lnTo>
                    <a:pt x="191942" y="191942"/>
                  </a:lnTo>
                  <a:lnTo>
                    <a:pt x="225386" y="160742"/>
                  </a:lnTo>
                  <a:lnTo>
                    <a:pt x="260946" y="131911"/>
                  </a:lnTo>
                  <a:lnTo>
                    <a:pt x="298497" y="105578"/>
                  </a:lnTo>
                  <a:lnTo>
                    <a:pt x="337911" y="81868"/>
                  </a:lnTo>
                  <a:lnTo>
                    <a:pt x="379061" y="60908"/>
                  </a:lnTo>
                  <a:lnTo>
                    <a:pt x="421821" y="42825"/>
                  </a:lnTo>
                  <a:lnTo>
                    <a:pt x="466064" y="27746"/>
                  </a:lnTo>
                  <a:lnTo>
                    <a:pt x="511663" y="15797"/>
                  </a:lnTo>
                  <a:lnTo>
                    <a:pt x="558492" y="7105"/>
                  </a:lnTo>
                  <a:lnTo>
                    <a:pt x="606424" y="1797"/>
                  </a:lnTo>
                  <a:lnTo>
                    <a:pt x="655333" y="0"/>
                  </a:lnTo>
                  <a:lnTo>
                    <a:pt x="4693906" y="0"/>
                  </a:lnTo>
                  <a:lnTo>
                    <a:pt x="4745798" y="2056"/>
                  </a:lnTo>
                  <a:lnTo>
                    <a:pt x="4797042" y="8163"/>
                  </a:lnTo>
                  <a:lnTo>
                    <a:pt x="4847419" y="18231"/>
                  </a:lnTo>
                  <a:lnTo>
                    <a:pt x="4896709" y="32168"/>
                  </a:lnTo>
                  <a:lnTo>
                    <a:pt x="4944691" y="49884"/>
                  </a:lnTo>
                  <a:lnTo>
                    <a:pt x="4991147" y="71286"/>
                  </a:lnTo>
                  <a:lnTo>
                    <a:pt x="5035855" y="96284"/>
                  </a:lnTo>
                  <a:lnTo>
                    <a:pt x="5078596" y="124787"/>
                  </a:lnTo>
                  <a:lnTo>
                    <a:pt x="5119150" y="156703"/>
                  </a:lnTo>
                  <a:lnTo>
                    <a:pt x="5157297" y="191942"/>
                  </a:lnTo>
                  <a:lnTo>
                    <a:pt x="5192536" y="230089"/>
                  </a:lnTo>
                  <a:lnTo>
                    <a:pt x="5224452" y="270643"/>
                  </a:lnTo>
                  <a:lnTo>
                    <a:pt x="5252955" y="313384"/>
                  </a:lnTo>
                  <a:lnTo>
                    <a:pt x="5277953" y="358092"/>
                  </a:lnTo>
                  <a:lnTo>
                    <a:pt x="5299355" y="404547"/>
                  </a:lnTo>
                  <a:lnTo>
                    <a:pt x="5317071" y="452530"/>
                  </a:lnTo>
                  <a:lnTo>
                    <a:pt x="5331008" y="501820"/>
                  </a:lnTo>
                  <a:lnTo>
                    <a:pt x="5341076" y="552197"/>
                  </a:lnTo>
                  <a:lnTo>
                    <a:pt x="5347183" y="603441"/>
                  </a:lnTo>
                  <a:lnTo>
                    <a:pt x="5349239" y="655332"/>
                  </a:lnTo>
                  <a:lnTo>
                    <a:pt x="5349239" y="3276586"/>
                  </a:lnTo>
                  <a:lnTo>
                    <a:pt x="5347442" y="3325495"/>
                  </a:lnTo>
                  <a:lnTo>
                    <a:pt x="5342134" y="3373427"/>
                  </a:lnTo>
                  <a:lnTo>
                    <a:pt x="5333442" y="3420256"/>
                  </a:lnTo>
                  <a:lnTo>
                    <a:pt x="5321493" y="3465855"/>
                  </a:lnTo>
                  <a:lnTo>
                    <a:pt x="5306414" y="3510098"/>
                  </a:lnTo>
                  <a:lnTo>
                    <a:pt x="5288331" y="3552858"/>
                  </a:lnTo>
                  <a:lnTo>
                    <a:pt x="5267371" y="3594009"/>
                  </a:lnTo>
                  <a:lnTo>
                    <a:pt x="5243661" y="3633422"/>
                  </a:lnTo>
                  <a:lnTo>
                    <a:pt x="5217328" y="3670973"/>
                  </a:lnTo>
                  <a:lnTo>
                    <a:pt x="5188497" y="3706533"/>
                  </a:lnTo>
                  <a:lnTo>
                    <a:pt x="5157297" y="3739977"/>
                  </a:lnTo>
                  <a:lnTo>
                    <a:pt x="5123853" y="3771177"/>
                  </a:lnTo>
                  <a:lnTo>
                    <a:pt x="5088292" y="3800008"/>
                  </a:lnTo>
                  <a:lnTo>
                    <a:pt x="5050742" y="3826341"/>
                  </a:lnTo>
                  <a:lnTo>
                    <a:pt x="5011328" y="3850051"/>
                  </a:lnTo>
                  <a:lnTo>
                    <a:pt x="4970178" y="3871011"/>
                  </a:lnTo>
                  <a:lnTo>
                    <a:pt x="4927418" y="3889094"/>
                  </a:lnTo>
                  <a:lnTo>
                    <a:pt x="4883175" y="3904173"/>
                  </a:lnTo>
                  <a:lnTo>
                    <a:pt x="4837576" y="3916122"/>
                  </a:lnTo>
                  <a:lnTo>
                    <a:pt x="4790747" y="3924814"/>
                  </a:lnTo>
                  <a:lnTo>
                    <a:pt x="4742815" y="3930122"/>
                  </a:lnTo>
                  <a:lnTo>
                    <a:pt x="4693906" y="3931919"/>
                  </a:lnTo>
                  <a:close/>
                </a:path>
              </a:pathLst>
            </a:custGeom>
            <a:solidFill>
              <a:srgbClr val="FD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359" y="1234439"/>
              <a:ext cx="5349240" cy="3931920"/>
            </a:xfrm>
            <a:custGeom>
              <a:avLst/>
              <a:gdLst/>
              <a:ahLst/>
              <a:cxnLst/>
              <a:rect l="l" t="t" r="r" b="b"/>
              <a:pathLst>
                <a:path w="5349240" h="3931920">
                  <a:moveTo>
                    <a:pt x="0" y="655332"/>
                  </a:moveTo>
                  <a:lnTo>
                    <a:pt x="1797" y="606424"/>
                  </a:lnTo>
                  <a:lnTo>
                    <a:pt x="7105" y="558492"/>
                  </a:lnTo>
                  <a:lnTo>
                    <a:pt x="15797" y="511663"/>
                  </a:lnTo>
                  <a:lnTo>
                    <a:pt x="27746" y="466064"/>
                  </a:lnTo>
                  <a:lnTo>
                    <a:pt x="42825" y="421821"/>
                  </a:lnTo>
                  <a:lnTo>
                    <a:pt x="60908" y="379061"/>
                  </a:lnTo>
                  <a:lnTo>
                    <a:pt x="81868" y="337910"/>
                  </a:lnTo>
                  <a:lnTo>
                    <a:pt x="105578" y="298497"/>
                  </a:lnTo>
                  <a:lnTo>
                    <a:pt x="131911" y="260946"/>
                  </a:lnTo>
                  <a:lnTo>
                    <a:pt x="160742" y="225386"/>
                  </a:lnTo>
                  <a:lnTo>
                    <a:pt x="191942" y="191942"/>
                  </a:lnTo>
                  <a:lnTo>
                    <a:pt x="225386" y="160742"/>
                  </a:lnTo>
                  <a:lnTo>
                    <a:pt x="260946" y="131911"/>
                  </a:lnTo>
                  <a:lnTo>
                    <a:pt x="298497" y="105578"/>
                  </a:lnTo>
                  <a:lnTo>
                    <a:pt x="337911" y="81868"/>
                  </a:lnTo>
                  <a:lnTo>
                    <a:pt x="379061" y="60908"/>
                  </a:lnTo>
                  <a:lnTo>
                    <a:pt x="421821" y="42825"/>
                  </a:lnTo>
                  <a:lnTo>
                    <a:pt x="466064" y="27746"/>
                  </a:lnTo>
                  <a:lnTo>
                    <a:pt x="511663" y="15797"/>
                  </a:lnTo>
                  <a:lnTo>
                    <a:pt x="558492" y="7105"/>
                  </a:lnTo>
                  <a:lnTo>
                    <a:pt x="606424" y="1797"/>
                  </a:lnTo>
                  <a:lnTo>
                    <a:pt x="655333" y="0"/>
                  </a:lnTo>
                  <a:lnTo>
                    <a:pt x="4693906" y="0"/>
                  </a:lnTo>
                  <a:lnTo>
                    <a:pt x="4745798" y="2056"/>
                  </a:lnTo>
                  <a:lnTo>
                    <a:pt x="4797042" y="8163"/>
                  </a:lnTo>
                  <a:lnTo>
                    <a:pt x="4847419" y="18231"/>
                  </a:lnTo>
                  <a:lnTo>
                    <a:pt x="4896709" y="32168"/>
                  </a:lnTo>
                  <a:lnTo>
                    <a:pt x="4944691" y="49884"/>
                  </a:lnTo>
                  <a:lnTo>
                    <a:pt x="4991147" y="71286"/>
                  </a:lnTo>
                  <a:lnTo>
                    <a:pt x="5035855" y="96284"/>
                  </a:lnTo>
                  <a:lnTo>
                    <a:pt x="5078596" y="124787"/>
                  </a:lnTo>
                  <a:lnTo>
                    <a:pt x="5119150" y="156703"/>
                  </a:lnTo>
                  <a:lnTo>
                    <a:pt x="5157297" y="191942"/>
                  </a:lnTo>
                  <a:lnTo>
                    <a:pt x="5192536" y="230089"/>
                  </a:lnTo>
                  <a:lnTo>
                    <a:pt x="5224452" y="270643"/>
                  </a:lnTo>
                  <a:lnTo>
                    <a:pt x="5252955" y="313384"/>
                  </a:lnTo>
                  <a:lnTo>
                    <a:pt x="5277953" y="358092"/>
                  </a:lnTo>
                  <a:lnTo>
                    <a:pt x="5299355" y="404547"/>
                  </a:lnTo>
                  <a:lnTo>
                    <a:pt x="5317071" y="452530"/>
                  </a:lnTo>
                  <a:lnTo>
                    <a:pt x="5331008" y="501820"/>
                  </a:lnTo>
                  <a:lnTo>
                    <a:pt x="5341076" y="552197"/>
                  </a:lnTo>
                  <a:lnTo>
                    <a:pt x="5347183" y="603441"/>
                  </a:lnTo>
                  <a:lnTo>
                    <a:pt x="5349239" y="655332"/>
                  </a:lnTo>
                  <a:lnTo>
                    <a:pt x="5349239" y="3276586"/>
                  </a:lnTo>
                  <a:lnTo>
                    <a:pt x="5347442" y="3325495"/>
                  </a:lnTo>
                  <a:lnTo>
                    <a:pt x="5342134" y="3373427"/>
                  </a:lnTo>
                  <a:lnTo>
                    <a:pt x="5333442" y="3420256"/>
                  </a:lnTo>
                  <a:lnTo>
                    <a:pt x="5321493" y="3465855"/>
                  </a:lnTo>
                  <a:lnTo>
                    <a:pt x="5306414" y="3510098"/>
                  </a:lnTo>
                  <a:lnTo>
                    <a:pt x="5288331" y="3552858"/>
                  </a:lnTo>
                  <a:lnTo>
                    <a:pt x="5267371" y="3594009"/>
                  </a:lnTo>
                  <a:lnTo>
                    <a:pt x="5243661" y="3633422"/>
                  </a:lnTo>
                  <a:lnTo>
                    <a:pt x="5217328" y="3670973"/>
                  </a:lnTo>
                  <a:lnTo>
                    <a:pt x="5188497" y="3706533"/>
                  </a:lnTo>
                  <a:lnTo>
                    <a:pt x="5157297" y="3739977"/>
                  </a:lnTo>
                  <a:lnTo>
                    <a:pt x="5123853" y="3771177"/>
                  </a:lnTo>
                  <a:lnTo>
                    <a:pt x="5088292" y="3800008"/>
                  </a:lnTo>
                  <a:lnTo>
                    <a:pt x="5050742" y="3826341"/>
                  </a:lnTo>
                  <a:lnTo>
                    <a:pt x="5011328" y="3850051"/>
                  </a:lnTo>
                  <a:lnTo>
                    <a:pt x="4970178" y="3871011"/>
                  </a:lnTo>
                  <a:lnTo>
                    <a:pt x="4927418" y="3889094"/>
                  </a:lnTo>
                  <a:lnTo>
                    <a:pt x="4883175" y="3904173"/>
                  </a:lnTo>
                  <a:lnTo>
                    <a:pt x="4837576" y="3916122"/>
                  </a:lnTo>
                  <a:lnTo>
                    <a:pt x="4790747" y="3924814"/>
                  </a:lnTo>
                  <a:lnTo>
                    <a:pt x="4742815" y="3930122"/>
                  </a:lnTo>
                  <a:lnTo>
                    <a:pt x="4693906" y="3931919"/>
                  </a:lnTo>
                  <a:lnTo>
                    <a:pt x="655333" y="3931919"/>
                  </a:lnTo>
                  <a:lnTo>
                    <a:pt x="606424" y="3930122"/>
                  </a:lnTo>
                  <a:lnTo>
                    <a:pt x="558492" y="3924814"/>
                  </a:lnTo>
                  <a:lnTo>
                    <a:pt x="511663" y="3916122"/>
                  </a:lnTo>
                  <a:lnTo>
                    <a:pt x="466064" y="3904173"/>
                  </a:lnTo>
                  <a:lnTo>
                    <a:pt x="421821" y="3889094"/>
                  </a:lnTo>
                  <a:lnTo>
                    <a:pt x="379061" y="3871011"/>
                  </a:lnTo>
                  <a:lnTo>
                    <a:pt x="337911" y="3850051"/>
                  </a:lnTo>
                  <a:lnTo>
                    <a:pt x="298497" y="3826341"/>
                  </a:lnTo>
                  <a:lnTo>
                    <a:pt x="260946" y="3800008"/>
                  </a:lnTo>
                  <a:lnTo>
                    <a:pt x="225386" y="3771177"/>
                  </a:lnTo>
                  <a:lnTo>
                    <a:pt x="191942" y="3739977"/>
                  </a:lnTo>
                  <a:lnTo>
                    <a:pt x="160742" y="3706533"/>
                  </a:lnTo>
                  <a:lnTo>
                    <a:pt x="131911" y="3670973"/>
                  </a:lnTo>
                  <a:lnTo>
                    <a:pt x="105578" y="3633422"/>
                  </a:lnTo>
                  <a:lnTo>
                    <a:pt x="81868" y="3594009"/>
                  </a:lnTo>
                  <a:lnTo>
                    <a:pt x="60908" y="3552858"/>
                  </a:lnTo>
                  <a:lnTo>
                    <a:pt x="42825" y="3510098"/>
                  </a:lnTo>
                  <a:lnTo>
                    <a:pt x="27746" y="3465855"/>
                  </a:lnTo>
                  <a:lnTo>
                    <a:pt x="15797" y="3420256"/>
                  </a:lnTo>
                  <a:lnTo>
                    <a:pt x="7105" y="3373427"/>
                  </a:lnTo>
                  <a:lnTo>
                    <a:pt x="1797" y="3325495"/>
                  </a:lnTo>
                  <a:lnTo>
                    <a:pt x="0" y="3276586"/>
                  </a:lnTo>
                  <a:lnTo>
                    <a:pt x="0" y="655332"/>
                  </a:lnTo>
                  <a:close/>
                </a:path>
              </a:pathLst>
            </a:custGeom>
            <a:ln w="19049">
              <a:solidFill>
                <a:srgbClr val="FCA5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549597" y="1212677"/>
            <a:ext cx="5438775" cy="528955"/>
            <a:chOff x="549597" y="1212677"/>
            <a:chExt cx="5438775" cy="52895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7" y="1212677"/>
              <a:ext cx="5438765" cy="5284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59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991B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4359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991B1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5533" y="1357807"/>
              <a:ext cx="221258" cy="20824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594274" y="1332166"/>
            <a:ext cx="35623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TRADITIONAL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ATS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BLACK-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BOX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ML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SCREENING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4575" y="2372867"/>
            <a:ext cx="4639945" cy="2372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Opaque</a:t>
            </a:r>
            <a:r>
              <a:rPr sz="1400" b="1" spc="-4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Neural</a:t>
            </a:r>
            <a:r>
              <a:rPr sz="1400" b="1" spc="-4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Screening:</a:t>
            </a:r>
            <a:r>
              <a:rPr sz="1400" b="1" spc="235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Deep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models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hide</a:t>
            </a:r>
            <a:r>
              <a:rPr sz="1300" spc="5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evaluation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criteria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millions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mathematical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weights.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inspect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why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rejection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occurred.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5080" indent="127000">
              <a:lnSpc>
                <a:spcPct val="100000"/>
              </a:lnSpc>
              <a:spcBef>
                <a:spcPts val="8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Recruiter</a:t>
            </a:r>
            <a:r>
              <a:rPr sz="1400" b="1" spc="-4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Fatigue</a:t>
            </a:r>
            <a:r>
              <a:rPr sz="1400" b="1" spc="-4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4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Subjectivity:</a:t>
            </a:r>
            <a:r>
              <a:rPr sz="1400" b="1" spc="295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Human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spend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only 6–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8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seconds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per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resume,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leading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high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error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rates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unconscious demographic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bias.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114935" indent="127000">
              <a:lnSpc>
                <a:spcPct val="100000"/>
              </a:lnSpc>
              <a:spcBef>
                <a:spcPts val="8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Bias</a:t>
            </a:r>
            <a:r>
              <a:rPr sz="1400" b="1" spc="-25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Inheritance:</a:t>
            </a:r>
            <a:r>
              <a:rPr sz="1400" b="1" spc="17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Statistical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algorithms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train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historical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data, perpetuating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past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discrimination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against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underrepresented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groups.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28575" indent="127000">
              <a:lnSpc>
                <a:spcPct val="100000"/>
              </a:lnSpc>
              <a:spcBef>
                <a:spcPts val="8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Prohibitive</a:t>
            </a:r>
            <a:r>
              <a:rPr sz="1400" b="1" spc="-25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GPU</a:t>
            </a:r>
            <a:r>
              <a:rPr sz="1400" b="1" spc="-20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Costs:</a:t>
            </a:r>
            <a:r>
              <a:rPr sz="1400" b="1" spc="235" dirty="0">
                <a:solidFill>
                  <a:srgbClr val="DC262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Transformer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ATS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architectures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require dedicated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GPU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instances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expensive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per-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query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token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fees.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95827" y="1207915"/>
            <a:ext cx="5448300" cy="4030979"/>
            <a:chOff x="6195827" y="1207915"/>
            <a:chExt cx="5448300" cy="4030979"/>
          </a:xfrm>
        </p:grpSpPr>
        <p:pic>
          <p:nvPicPr>
            <p:cNvPr id="16" name="object 1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95827" y="1207915"/>
              <a:ext cx="5448290" cy="403097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45352" y="1234439"/>
              <a:ext cx="5349240" cy="3931920"/>
            </a:xfrm>
            <a:custGeom>
              <a:avLst/>
              <a:gdLst/>
              <a:ahLst/>
              <a:cxnLst/>
              <a:rect l="l" t="t" r="r" b="b"/>
              <a:pathLst>
                <a:path w="5349240" h="3931920">
                  <a:moveTo>
                    <a:pt x="4693906" y="3931919"/>
                  </a:moveTo>
                  <a:lnTo>
                    <a:pt x="655332" y="3931919"/>
                  </a:lnTo>
                  <a:lnTo>
                    <a:pt x="606424" y="3930122"/>
                  </a:lnTo>
                  <a:lnTo>
                    <a:pt x="558492" y="3924814"/>
                  </a:lnTo>
                  <a:lnTo>
                    <a:pt x="511663" y="3916122"/>
                  </a:lnTo>
                  <a:lnTo>
                    <a:pt x="466064" y="3904173"/>
                  </a:lnTo>
                  <a:lnTo>
                    <a:pt x="421821" y="3889094"/>
                  </a:lnTo>
                  <a:lnTo>
                    <a:pt x="379061" y="3871011"/>
                  </a:lnTo>
                  <a:lnTo>
                    <a:pt x="337911" y="3850051"/>
                  </a:lnTo>
                  <a:lnTo>
                    <a:pt x="298497" y="3826341"/>
                  </a:lnTo>
                  <a:lnTo>
                    <a:pt x="260946" y="3800008"/>
                  </a:lnTo>
                  <a:lnTo>
                    <a:pt x="225386" y="3771177"/>
                  </a:lnTo>
                  <a:lnTo>
                    <a:pt x="191942" y="3739977"/>
                  </a:lnTo>
                  <a:lnTo>
                    <a:pt x="160742" y="3706533"/>
                  </a:lnTo>
                  <a:lnTo>
                    <a:pt x="131911" y="3670973"/>
                  </a:lnTo>
                  <a:lnTo>
                    <a:pt x="105578" y="3633422"/>
                  </a:lnTo>
                  <a:lnTo>
                    <a:pt x="81868" y="3594009"/>
                  </a:lnTo>
                  <a:lnTo>
                    <a:pt x="60908" y="3552858"/>
                  </a:lnTo>
                  <a:lnTo>
                    <a:pt x="42825" y="3510098"/>
                  </a:lnTo>
                  <a:lnTo>
                    <a:pt x="27746" y="3465855"/>
                  </a:lnTo>
                  <a:lnTo>
                    <a:pt x="15797" y="3420256"/>
                  </a:lnTo>
                  <a:lnTo>
                    <a:pt x="7105" y="3373427"/>
                  </a:lnTo>
                  <a:lnTo>
                    <a:pt x="1797" y="3325495"/>
                  </a:lnTo>
                  <a:lnTo>
                    <a:pt x="0" y="3276586"/>
                  </a:lnTo>
                  <a:lnTo>
                    <a:pt x="0" y="655332"/>
                  </a:lnTo>
                  <a:lnTo>
                    <a:pt x="1797" y="606424"/>
                  </a:lnTo>
                  <a:lnTo>
                    <a:pt x="7105" y="558492"/>
                  </a:lnTo>
                  <a:lnTo>
                    <a:pt x="15797" y="511663"/>
                  </a:lnTo>
                  <a:lnTo>
                    <a:pt x="27746" y="466064"/>
                  </a:lnTo>
                  <a:lnTo>
                    <a:pt x="42825" y="421821"/>
                  </a:lnTo>
                  <a:lnTo>
                    <a:pt x="60908" y="379061"/>
                  </a:lnTo>
                  <a:lnTo>
                    <a:pt x="81868" y="337910"/>
                  </a:lnTo>
                  <a:lnTo>
                    <a:pt x="105578" y="298497"/>
                  </a:lnTo>
                  <a:lnTo>
                    <a:pt x="131911" y="260946"/>
                  </a:lnTo>
                  <a:lnTo>
                    <a:pt x="160742" y="225386"/>
                  </a:lnTo>
                  <a:lnTo>
                    <a:pt x="191942" y="191942"/>
                  </a:lnTo>
                  <a:lnTo>
                    <a:pt x="225386" y="160742"/>
                  </a:lnTo>
                  <a:lnTo>
                    <a:pt x="260946" y="131911"/>
                  </a:lnTo>
                  <a:lnTo>
                    <a:pt x="298497" y="105578"/>
                  </a:lnTo>
                  <a:lnTo>
                    <a:pt x="337911" y="81868"/>
                  </a:lnTo>
                  <a:lnTo>
                    <a:pt x="379061" y="60908"/>
                  </a:lnTo>
                  <a:lnTo>
                    <a:pt x="421821" y="42825"/>
                  </a:lnTo>
                  <a:lnTo>
                    <a:pt x="466064" y="27746"/>
                  </a:lnTo>
                  <a:lnTo>
                    <a:pt x="511663" y="15797"/>
                  </a:lnTo>
                  <a:lnTo>
                    <a:pt x="558492" y="7105"/>
                  </a:lnTo>
                  <a:lnTo>
                    <a:pt x="606424" y="1797"/>
                  </a:lnTo>
                  <a:lnTo>
                    <a:pt x="655332" y="0"/>
                  </a:lnTo>
                  <a:lnTo>
                    <a:pt x="4693906" y="0"/>
                  </a:lnTo>
                  <a:lnTo>
                    <a:pt x="4745797" y="2056"/>
                  </a:lnTo>
                  <a:lnTo>
                    <a:pt x="4797042" y="8163"/>
                  </a:lnTo>
                  <a:lnTo>
                    <a:pt x="4847419" y="18231"/>
                  </a:lnTo>
                  <a:lnTo>
                    <a:pt x="4896709" y="32168"/>
                  </a:lnTo>
                  <a:lnTo>
                    <a:pt x="4944691" y="49884"/>
                  </a:lnTo>
                  <a:lnTo>
                    <a:pt x="4991147" y="71286"/>
                  </a:lnTo>
                  <a:lnTo>
                    <a:pt x="5035855" y="96284"/>
                  </a:lnTo>
                  <a:lnTo>
                    <a:pt x="5078596" y="124787"/>
                  </a:lnTo>
                  <a:lnTo>
                    <a:pt x="5119150" y="156703"/>
                  </a:lnTo>
                  <a:lnTo>
                    <a:pt x="5157297" y="191942"/>
                  </a:lnTo>
                  <a:lnTo>
                    <a:pt x="5192536" y="230089"/>
                  </a:lnTo>
                  <a:lnTo>
                    <a:pt x="5224452" y="270643"/>
                  </a:lnTo>
                  <a:lnTo>
                    <a:pt x="5252955" y="313384"/>
                  </a:lnTo>
                  <a:lnTo>
                    <a:pt x="5277953" y="358092"/>
                  </a:lnTo>
                  <a:lnTo>
                    <a:pt x="5299356" y="404547"/>
                  </a:lnTo>
                  <a:lnTo>
                    <a:pt x="5317071" y="452530"/>
                  </a:lnTo>
                  <a:lnTo>
                    <a:pt x="5331008" y="501820"/>
                  </a:lnTo>
                  <a:lnTo>
                    <a:pt x="5341076" y="552197"/>
                  </a:lnTo>
                  <a:lnTo>
                    <a:pt x="5347184" y="603441"/>
                  </a:lnTo>
                  <a:lnTo>
                    <a:pt x="5349240" y="655332"/>
                  </a:lnTo>
                  <a:lnTo>
                    <a:pt x="5349240" y="3276586"/>
                  </a:lnTo>
                  <a:lnTo>
                    <a:pt x="5347442" y="3325495"/>
                  </a:lnTo>
                  <a:lnTo>
                    <a:pt x="5342134" y="3373427"/>
                  </a:lnTo>
                  <a:lnTo>
                    <a:pt x="5333443" y="3420256"/>
                  </a:lnTo>
                  <a:lnTo>
                    <a:pt x="5321494" y="3465855"/>
                  </a:lnTo>
                  <a:lnTo>
                    <a:pt x="5306414" y="3510098"/>
                  </a:lnTo>
                  <a:lnTo>
                    <a:pt x="5288332" y="3552858"/>
                  </a:lnTo>
                  <a:lnTo>
                    <a:pt x="5267372" y="3594009"/>
                  </a:lnTo>
                  <a:lnTo>
                    <a:pt x="5243662" y="3633422"/>
                  </a:lnTo>
                  <a:lnTo>
                    <a:pt x="5217328" y="3670973"/>
                  </a:lnTo>
                  <a:lnTo>
                    <a:pt x="5188497" y="3706533"/>
                  </a:lnTo>
                  <a:lnTo>
                    <a:pt x="5157297" y="3739977"/>
                  </a:lnTo>
                  <a:lnTo>
                    <a:pt x="5123853" y="3771177"/>
                  </a:lnTo>
                  <a:lnTo>
                    <a:pt x="5088292" y="3800008"/>
                  </a:lnTo>
                  <a:lnTo>
                    <a:pt x="5050742" y="3826341"/>
                  </a:lnTo>
                  <a:lnTo>
                    <a:pt x="5011328" y="3850051"/>
                  </a:lnTo>
                  <a:lnTo>
                    <a:pt x="4970178" y="3871011"/>
                  </a:lnTo>
                  <a:lnTo>
                    <a:pt x="4927418" y="3889094"/>
                  </a:lnTo>
                  <a:lnTo>
                    <a:pt x="4883175" y="3904173"/>
                  </a:lnTo>
                  <a:lnTo>
                    <a:pt x="4837575" y="3916122"/>
                  </a:lnTo>
                  <a:lnTo>
                    <a:pt x="4790746" y="3924814"/>
                  </a:lnTo>
                  <a:lnTo>
                    <a:pt x="4742814" y="3930122"/>
                  </a:lnTo>
                  <a:lnTo>
                    <a:pt x="4693906" y="3931919"/>
                  </a:lnTo>
                  <a:close/>
                </a:path>
              </a:pathLst>
            </a:custGeom>
            <a:solidFill>
              <a:srgbClr val="F0FC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45352" y="1234439"/>
              <a:ext cx="5349240" cy="3931920"/>
            </a:xfrm>
            <a:custGeom>
              <a:avLst/>
              <a:gdLst/>
              <a:ahLst/>
              <a:cxnLst/>
              <a:rect l="l" t="t" r="r" b="b"/>
              <a:pathLst>
                <a:path w="5349240" h="3931920">
                  <a:moveTo>
                    <a:pt x="0" y="655332"/>
                  </a:moveTo>
                  <a:lnTo>
                    <a:pt x="1797" y="606424"/>
                  </a:lnTo>
                  <a:lnTo>
                    <a:pt x="7105" y="558492"/>
                  </a:lnTo>
                  <a:lnTo>
                    <a:pt x="15797" y="511663"/>
                  </a:lnTo>
                  <a:lnTo>
                    <a:pt x="27746" y="466064"/>
                  </a:lnTo>
                  <a:lnTo>
                    <a:pt x="42825" y="421821"/>
                  </a:lnTo>
                  <a:lnTo>
                    <a:pt x="60908" y="379061"/>
                  </a:lnTo>
                  <a:lnTo>
                    <a:pt x="81868" y="337910"/>
                  </a:lnTo>
                  <a:lnTo>
                    <a:pt x="105578" y="298497"/>
                  </a:lnTo>
                  <a:lnTo>
                    <a:pt x="131911" y="260946"/>
                  </a:lnTo>
                  <a:lnTo>
                    <a:pt x="160742" y="225386"/>
                  </a:lnTo>
                  <a:lnTo>
                    <a:pt x="191942" y="191942"/>
                  </a:lnTo>
                  <a:lnTo>
                    <a:pt x="225386" y="160742"/>
                  </a:lnTo>
                  <a:lnTo>
                    <a:pt x="260946" y="131911"/>
                  </a:lnTo>
                  <a:lnTo>
                    <a:pt x="298497" y="105578"/>
                  </a:lnTo>
                  <a:lnTo>
                    <a:pt x="337911" y="81868"/>
                  </a:lnTo>
                  <a:lnTo>
                    <a:pt x="379061" y="60908"/>
                  </a:lnTo>
                  <a:lnTo>
                    <a:pt x="421821" y="42825"/>
                  </a:lnTo>
                  <a:lnTo>
                    <a:pt x="466064" y="27746"/>
                  </a:lnTo>
                  <a:lnTo>
                    <a:pt x="511663" y="15797"/>
                  </a:lnTo>
                  <a:lnTo>
                    <a:pt x="558492" y="7105"/>
                  </a:lnTo>
                  <a:lnTo>
                    <a:pt x="606424" y="1797"/>
                  </a:lnTo>
                  <a:lnTo>
                    <a:pt x="655332" y="0"/>
                  </a:lnTo>
                  <a:lnTo>
                    <a:pt x="4693906" y="0"/>
                  </a:lnTo>
                  <a:lnTo>
                    <a:pt x="4745797" y="2056"/>
                  </a:lnTo>
                  <a:lnTo>
                    <a:pt x="4797042" y="8163"/>
                  </a:lnTo>
                  <a:lnTo>
                    <a:pt x="4847419" y="18231"/>
                  </a:lnTo>
                  <a:lnTo>
                    <a:pt x="4896709" y="32168"/>
                  </a:lnTo>
                  <a:lnTo>
                    <a:pt x="4944691" y="49884"/>
                  </a:lnTo>
                  <a:lnTo>
                    <a:pt x="4991147" y="71286"/>
                  </a:lnTo>
                  <a:lnTo>
                    <a:pt x="5035855" y="96284"/>
                  </a:lnTo>
                  <a:lnTo>
                    <a:pt x="5078596" y="124787"/>
                  </a:lnTo>
                  <a:lnTo>
                    <a:pt x="5119150" y="156703"/>
                  </a:lnTo>
                  <a:lnTo>
                    <a:pt x="5157297" y="191942"/>
                  </a:lnTo>
                  <a:lnTo>
                    <a:pt x="5192536" y="230089"/>
                  </a:lnTo>
                  <a:lnTo>
                    <a:pt x="5224452" y="270643"/>
                  </a:lnTo>
                  <a:lnTo>
                    <a:pt x="5252955" y="313384"/>
                  </a:lnTo>
                  <a:lnTo>
                    <a:pt x="5277953" y="358092"/>
                  </a:lnTo>
                  <a:lnTo>
                    <a:pt x="5299356" y="404547"/>
                  </a:lnTo>
                  <a:lnTo>
                    <a:pt x="5317071" y="452530"/>
                  </a:lnTo>
                  <a:lnTo>
                    <a:pt x="5331008" y="501820"/>
                  </a:lnTo>
                  <a:lnTo>
                    <a:pt x="5341076" y="552197"/>
                  </a:lnTo>
                  <a:lnTo>
                    <a:pt x="5347184" y="603441"/>
                  </a:lnTo>
                  <a:lnTo>
                    <a:pt x="5349240" y="655332"/>
                  </a:lnTo>
                  <a:lnTo>
                    <a:pt x="5349240" y="3276586"/>
                  </a:lnTo>
                  <a:lnTo>
                    <a:pt x="5347442" y="3325495"/>
                  </a:lnTo>
                  <a:lnTo>
                    <a:pt x="5342134" y="3373427"/>
                  </a:lnTo>
                  <a:lnTo>
                    <a:pt x="5333443" y="3420256"/>
                  </a:lnTo>
                  <a:lnTo>
                    <a:pt x="5321494" y="3465855"/>
                  </a:lnTo>
                  <a:lnTo>
                    <a:pt x="5306414" y="3510098"/>
                  </a:lnTo>
                  <a:lnTo>
                    <a:pt x="5288332" y="3552858"/>
                  </a:lnTo>
                  <a:lnTo>
                    <a:pt x="5267372" y="3594009"/>
                  </a:lnTo>
                  <a:lnTo>
                    <a:pt x="5243662" y="3633422"/>
                  </a:lnTo>
                  <a:lnTo>
                    <a:pt x="5217328" y="3670973"/>
                  </a:lnTo>
                  <a:lnTo>
                    <a:pt x="5188497" y="3706533"/>
                  </a:lnTo>
                  <a:lnTo>
                    <a:pt x="5157297" y="3739977"/>
                  </a:lnTo>
                  <a:lnTo>
                    <a:pt x="5123853" y="3771177"/>
                  </a:lnTo>
                  <a:lnTo>
                    <a:pt x="5088292" y="3800008"/>
                  </a:lnTo>
                  <a:lnTo>
                    <a:pt x="5050742" y="3826341"/>
                  </a:lnTo>
                  <a:lnTo>
                    <a:pt x="5011328" y="3850051"/>
                  </a:lnTo>
                  <a:lnTo>
                    <a:pt x="4970178" y="3871011"/>
                  </a:lnTo>
                  <a:lnTo>
                    <a:pt x="4927418" y="3889094"/>
                  </a:lnTo>
                  <a:lnTo>
                    <a:pt x="4883175" y="3904173"/>
                  </a:lnTo>
                  <a:lnTo>
                    <a:pt x="4837575" y="3916122"/>
                  </a:lnTo>
                  <a:lnTo>
                    <a:pt x="4790746" y="3924814"/>
                  </a:lnTo>
                  <a:lnTo>
                    <a:pt x="4742814" y="3930122"/>
                  </a:lnTo>
                  <a:lnTo>
                    <a:pt x="4693906" y="3931919"/>
                  </a:lnTo>
                  <a:lnTo>
                    <a:pt x="655332" y="3931919"/>
                  </a:lnTo>
                  <a:lnTo>
                    <a:pt x="606424" y="3930122"/>
                  </a:lnTo>
                  <a:lnTo>
                    <a:pt x="558492" y="3924814"/>
                  </a:lnTo>
                  <a:lnTo>
                    <a:pt x="511663" y="3916122"/>
                  </a:lnTo>
                  <a:lnTo>
                    <a:pt x="466064" y="3904173"/>
                  </a:lnTo>
                  <a:lnTo>
                    <a:pt x="421821" y="3889094"/>
                  </a:lnTo>
                  <a:lnTo>
                    <a:pt x="379061" y="3871011"/>
                  </a:lnTo>
                  <a:lnTo>
                    <a:pt x="337911" y="3850051"/>
                  </a:lnTo>
                  <a:lnTo>
                    <a:pt x="298497" y="3826341"/>
                  </a:lnTo>
                  <a:lnTo>
                    <a:pt x="260946" y="3800008"/>
                  </a:lnTo>
                  <a:lnTo>
                    <a:pt x="225386" y="3771177"/>
                  </a:lnTo>
                  <a:lnTo>
                    <a:pt x="191942" y="3739977"/>
                  </a:lnTo>
                  <a:lnTo>
                    <a:pt x="160742" y="3706533"/>
                  </a:lnTo>
                  <a:lnTo>
                    <a:pt x="131911" y="3670973"/>
                  </a:lnTo>
                  <a:lnTo>
                    <a:pt x="105578" y="3633422"/>
                  </a:lnTo>
                  <a:lnTo>
                    <a:pt x="81868" y="3594009"/>
                  </a:lnTo>
                  <a:lnTo>
                    <a:pt x="60908" y="3552858"/>
                  </a:lnTo>
                  <a:lnTo>
                    <a:pt x="42825" y="3510098"/>
                  </a:lnTo>
                  <a:lnTo>
                    <a:pt x="27746" y="3465855"/>
                  </a:lnTo>
                  <a:lnTo>
                    <a:pt x="15797" y="3420256"/>
                  </a:lnTo>
                  <a:lnTo>
                    <a:pt x="7105" y="3373427"/>
                  </a:lnTo>
                  <a:lnTo>
                    <a:pt x="1797" y="3325495"/>
                  </a:lnTo>
                  <a:lnTo>
                    <a:pt x="0" y="3276586"/>
                  </a:lnTo>
                  <a:lnTo>
                    <a:pt x="0" y="655332"/>
                  </a:lnTo>
                  <a:close/>
                </a:path>
              </a:pathLst>
            </a:custGeom>
            <a:ln w="19049">
              <a:solidFill>
                <a:srgbClr val="86EEA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6200589" y="1212677"/>
            <a:ext cx="5438775" cy="528955"/>
            <a:chOff x="6200589" y="1212677"/>
            <a:chExt cx="5438775" cy="52895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0589" y="1212677"/>
              <a:ext cx="5438765" cy="52843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245352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45352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16A34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395255" y="1332166"/>
            <a:ext cx="30162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SimSun-ExtB" panose="02010609060101010101" charset="-122"/>
                <a:cs typeface="SimSun-ExtB" panose="02010609060101010101" charset="-122"/>
              </a:rPr>
              <a:t>✔</a:t>
            </a:r>
            <a:r>
              <a:rPr sz="1400" spc="-315" dirty="0">
                <a:solidFill>
                  <a:srgbClr val="FFFFFF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HIREAI</a:t>
            </a:r>
            <a:r>
              <a:rPr sz="1400" b="1" spc="-6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ADVANTAGES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5568" y="2372867"/>
            <a:ext cx="4662805" cy="2372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51485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100%</a:t>
            </a:r>
            <a:r>
              <a:rPr sz="1400" b="1" spc="-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Explainable</a:t>
            </a:r>
            <a:r>
              <a:rPr sz="14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Proof</a:t>
            </a:r>
            <a:r>
              <a:rPr sz="14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Traces:</a:t>
            </a:r>
            <a:r>
              <a:rPr sz="1400" b="1" spc="3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Produces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itemized,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human-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readable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justification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logs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detailing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exact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matches,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missing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requirements,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experience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deltas.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102235" indent="127000" algn="just">
              <a:lnSpc>
                <a:spcPct val="100000"/>
              </a:lnSpc>
              <a:spcBef>
                <a:spcPts val="8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400" b="1" spc="-3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Consistency:</a:t>
            </a:r>
            <a:r>
              <a:rPr sz="1400" b="1" spc="26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Identical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resumes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always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receive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identical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scores;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completely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eliminates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fatigue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mood</a:t>
            </a:r>
            <a:r>
              <a:rPr sz="1300" spc="-5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variance.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130810" indent="127000" algn="just">
              <a:lnSpc>
                <a:spcPct val="100000"/>
              </a:lnSpc>
              <a:spcBef>
                <a:spcPts val="8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400" b="1" spc="-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Demographic</a:t>
            </a:r>
            <a:r>
              <a:rPr sz="1400" b="1" spc="-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Bias:</a:t>
            </a:r>
            <a:r>
              <a:rPr sz="1400" b="1" spc="24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Strictly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evaluates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verified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qualification constraints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without ingesting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age,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gender,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demographic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proxies.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5080" indent="127000">
              <a:lnSpc>
                <a:spcPct val="100000"/>
              </a:lnSpc>
              <a:spcBef>
                <a:spcPts val="800"/>
              </a:spcBef>
              <a:buChar char="•"/>
              <a:tabLst>
                <a:tab pos="139700" algn="l"/>
              </a:tabLst>
            </a:pPr>
            <a:r>
              <a:rPr sz="14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Sub-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50ms</a:t>
            </a:r>
            <a:r>
              <a:rPr sz="14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CPU</a:t>
            </a:r>
            <a:r>
              <a:rPr sz="14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Inference:</a:t>
            </a:r>
            <a:r>
              <a:rPr sz="1400" b="1" spc="27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Operates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instantaneously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on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commodity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servers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external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API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fees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GPU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dependencies.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559890" y="155447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8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835" y="1207914"/>
            <a:ext cx="3601720" cy="1988185"/>
            <a:chOff x="544835" y="1207914"/>
            <a:chExt cx="3601720" cy="198818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1207914"/>
              <a:ext cx="3601202" cy="19878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234440"/>
              <a:ext cx="3502660" cy="1874520"/>
            </a:xfrm>
            <a:custGeom>
              <a:avLst/>
              <a:gdLst/>
              <a:ahLst/>
              <a:cxnLst/>
              <a:rect l="l" t="t" r="r" b="b"/>
              <a:pathLst>
                <a:path w="3502660" h="1874520">
                  <a:moveTo>
                    <a:pt x="3189725" y="1874518"/>
                  </a:moveTo>
                  <a:lnTo>
                    <a:pt x="312425" y="1874518"/>
                  </a:lnTo>
                  <a:lnTo>
                    <a:pt x="266257" y="1871131"/>
                  </a:lnTo>
                  <a:lnTo>
                    <a:pt x="222193" y="1861291"/>
                  </a:lnTo>
                  <a:lnTo>
                    <a:pt x="180715" y="1845481"/>
                  </a:lnTo>
                  <a:lnTo>
                    <a:pt x="142306" y="1824185"/>
                  </a:lnTo>
                  <a:lnTo>
                    <a:pt x="107451" y="1797886"/>
                  </a:lnTo>
                  <a:lnTo>
                    <a:pt x="76632" y="1767067"/>
                  </a:lnTo>
                  <a:lnTo>
                    <a:pt x="50333" y="1732212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6"/>
                  </a:ln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7" y="3387"/>
                  </a:lnTo>
                  <a:lnTo>
                    <a:pt x="312425" y="0"/>
                  </a:lnTo>
                  <a:lnTo>
                    <a:pt x="3189725" y="0"/>
                  </a:lnTo>
                  <a:lnTo>
                    <a:pt x="3238895" y="3892"/>
                  </a:lnTo>
                  <a:lnTo>
                    <a:pt x="3286410" y="15336"/>
                  </a:lnTo>
                  <a:lnTo>
                    <a:pt x="3331433" y="33985"/>
                  </a:lnTo>
                  <a:lnTo>
                    <a:pt x="3373124" y="59491"/>
                  </a:lnTo>
                  <a:lnTo>
                    <a:pt x="3410644" y="91507"/>
                  </a:lnTo>
                  <a:lnTo>
                    <a:pt x="3442660" y="129027"/>
                  </a:lnTo>
                  <a:lnTo>
                    <a:pt x="3468166" y="170718"/>
                  </a:lnTo>
                  <a:lnTo>
                    <a:pt x="3486815" y="215741"/>
                  </a:lnTo>
                  <a:lnTo>
                    <a:pt x="3498259" y="263256"/>
                  </a:lnTo>
                  <a:lnTo>
                    <a:pt x="3502151" y="312426"/>
                  </a:lnTo>
                  <a:lnTo>
                    <a:pt x="3502151" y="1562092"/>
                  </a:lnTo>
                  <a:lnTo>
                    <a:pt x="3498764" y="1608260"/>
                  </a:lnTo>
                  <a:lnTo>
                    <a:pt x="3488924" y="1652325"/>
                  </a:lnTo>
                  <a:lnTo>
                    <a:pt x="3473114" y="1693803"/>
                  </a:lnTo>
                  <a:lnTo>
                    <a:pt x="3451818" y="1732212"/>
                  </a:lnTo>
                  <a:lnTo>
                    <a:pt x="3425519" y="1767067"/>
                  </a:lnTo>
                  <a:lnTo>
                    <a:pt x="3394700" y="1797886"/>
                  </a:lnTo>
                  <a:lnTo>
                    <a:pt x="3359845" y="1824185"/>
                  </a:lnTo>
                  <a:lnTo>
                    <a:pt x="3321436" y="1845481"/>
                  </a:lnTo>
                  <a:lnTo>
                    <a:pt x="3279958" y="1861291"/>
                  </a:lnTo>
                  <a:lnTo>
                    <a:pt x="3235893" y="1871131"/>
                  </a:lnTo>
                  <a:lnTo>
                    <a:pt x="3189725" y="1874518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359" y="1234440"/>
              <a:ext cx="3502660" cy="1874520"/>
            </a:xfrm>
            <a:custGeom>
              <a:avLst/>
              <a:gdLst/>
              <a:ahLst/>
              <a:cxnLst/>
              <a:rect l="l" t="t" r="r" b="b"/>
              <a:pathLst>
                <a:path w="3502660" h="1874520">
                  <a:moveTo>
                    <a:pt x="0" y="312426"/>
                  </a:move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7" y="3387"/>
                  </a:lnTo>
                  <a:lnTo>
                    <a:pt x="312425" y="0"/>
                  </a:lnTo>
                  <a:lnTo>
                    <a:pt x="3189725" y="0"/>
                  </a:lnTo>
                  <a:lnTo>
                    <a:pt x="3238895" y="3892"/>
                  </a:lnTo>
                  <a:lnTo>
                    <a:pt x="3286410" y="15336"/>
                  </a:lnTo>
                  <a:lnTo>
                    <a:pt x="3331433" y="33985"/>
                  </a:lnTo>
                  <a:lnTo>
                    <a:pt x="3373124" y="59491"/>
                  </a:lnTo>
                  <a:lnTo>
                    <a:pt x="3410644" y="91507"/>
                  </a:lnTo>
                  <a:lnTo>
                    <a:pt x="3442660" y="129027"/>
                  </a:lnTo>
                  <a:lnTo>
                    <a:pt x="3468166" y="170718"/>
                  </a:lnTo>
                  <a:lnTo>
                    <a:pt x="3486815" y="215741"/>
                  </a:lnTo>
                  <a:lnTo>
                    <a:pt x="3498259" y="263256"/>
                  </a:lnTo>
                  <a:lnTo>
                    <a:pt x="3502151" y="312426"/>
                  </a:lnTo>
                  <a:lnTo>
                    <a:pt x="3502151" y="1562092"/>
                  </a:lnTo>
                  <a:lnTo>
                    <a:pt x="3498764" y="1608260"/>
                  </a:lnTo>
                  <a:lnTo>
                    <a:pt x="3488924" y="1652325"/>
                  </a:lnTo>
                  <a:lnTo>
                    <a:pt x="3473114" y="1693803"/>
                  </a:lnTo>
                  <a:lnTo>
                    <a:pt x="3451818" y="1732212"/>
                  </a:lnTo>
                  <a:lnTo>
                    <a:pt x="3425519" y="1767067"/>
                  </a:lnTo>
                  <a:lnTo>
                    <a:pt x="3394700" y="1797886"/>
                  </a:lnTo>
                  <a:lnTo>
                    <a:pt x="3359845" y="1824185"/>
                  </a:lnTo>
                  <a:lnTo>
                    <a:pt x="3321436" y="1845481"/>
                  </a:lnTo>
                  <a:lnTo>
                    <a:pt x="3279958" y="1861291"/>
                  </a:lnTo>
                  <a:lnTo>
                    <a:pt x="3235893" y="1871131"/>
                  </a:lnTo>
                  <a:lnTo>
                    <a:pt x="3189725" y="1874518"/>
                  </a:lnTo>
                  <a:lnTo>
                    <a:pt x="312425" y="1874518"/>
                  </a:lnTo>
                  <a:lnTo>
                    <a:pt x="266257" y="1871131"/>
                  </a:lnTo>
                  <a:lnTo>
                    <a:pt x="222193" y="1861291"/>
                  </a:lnTo>
                  <a:lnTo>
                    <a:pt x="180715" y="1845481"/>
                  </a:lnTo>
                  <a:lnTo>
                    <a:pt x="142306" y="1824185"/>
                  </a:lnTo>
                  <a:lnTo>
                    <a:pt x="107451" y="1797886"/>
                  </a:lnTo>
                  <a:lnTo>
                    <a:pt x="76632" y="1767067"/>
                  </a:lnTo>
                  <a:lnTo>
                    <a:pt x="50333" y="1732212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6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549597" y="1212677"/>
            <a:ext cx="3592195" cy="528955"/>
            <a:chOff x="549597" y="1212677"/>
            <a:chExt cx="3592195" cy="52895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7" y="1212677"/>
              <a:ext cx="3591677" cy="5284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59" y="12344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60" h="439419">
                  <a:moveTo>
                    <a:pt x="3428998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4" y="12290"/>
                  </a:lnTo>
                  <a:lnTo>
                    <a:pt x="3496583" y="45158"/>
                  </a:lnTo>
                  <a:lnTo>
                    <a:pt x="3502151" y="73153"/>
                  </a:lnTo>
                  <a:lnTo>
                    <a:pt x="3502151" y="365758"/>
                  </a:lnTo>
                  <a:lnTo>
                    <a:pt x="3496403" y="394233"/>
                  </a:lnTo>
                  <a:lnTo>
                    <a:pt x="3480725" y="417485"/>
                  </a:lnTo>
                  <a:lnTo>
                    <a:pt x="3457473" y="433163"/>
                  </a:lnTo>
                  <a:lnTo>
                    <a:pt x="3428998" y="438911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4359" y="12344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6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4" y="12290"/>
                  </a:lnTo>
                  <a:lnTo>
                    <a:pt x="3496583" y="45158"/>
                  </a:lnTo>
                  <a:lnTo>
                    <a:pt x="3502151" y="73153"/>
                  </a:lnTo>
                  <a:lnTo>
                    <a:pt x="3502151" y="365758"/>
                  </a:lnTo>
                  <a:lnTo>
                    <a:pt x="3496403" y="394233"/>
                  </a:lnTo>
                  <a:lnTo>
                    <a:pt x="3480725" y="417485"/>
                  </a:lnTo>
                  <a:lnTo>
                    <a:pt x="3457473" y="433163"/>
                  </a:lnTo>
                  <a:lnTo>
                    <a:pt x="3428998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7045" y="1357807"/>
              <a:ext cx="221258" cy="20824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815786" y="1332166"/>
            <a:ext cx="13144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ZERO-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ML</a:t>
            </a:r>
            <a:r>
              <a:rPr sz="1400" b="1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PARSER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5091" y="1894268"/>
            <a:ext cx="285305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8175" indent="119380">
              <a:lnSpc>
                <a:spcPct val="100000"/>
              </a:lnSpc>
              <a:spcBef>
                <a:spcPts val="100"/>
              </a:spcBef>
              <a:buChar char="•"/>
              <a:tabLst>
                <a:tab pos="132080" algn="l"/>
              </a:tabLst>
            </a:pP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Non-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ML</a:t>
            </a:r>
            <a:r>
              <a:rPr sz="13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Extraction:</a:t>
            </a:r>
            <a:r>
              <a:rPr sz="1300" b="1" spc="-2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PyPDF2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and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python-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docx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text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stream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ingestion.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5080" indent="119380">
              <a:lnSpc>
                <a:spcPct val="100000"/>
              </a:lnSpc>
              <a:spcBef>
                <a:spcPts val="300"/>
              </a:spcBef>
              <a:buChar char="•"/>
              <a:tabLst>
                <a:tab pos="132080" algn="l"/>
              </a:tabLst>
            </a:pP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Regex</a:t>
            </a:r>
            <a:r>
              <a:rPr sz="1300" b="1" spc="-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Tokenizer:</a:t>
            </a:r>
            <a:r>
              <a:rPr sz="1300" b="1" spc="-19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parsing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phone,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email,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experience.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139700" indent="119380">
              <a:lnSpc>
                <a:spcPct val="100000"/>
              </a:lnSpc>
              <a:spcBef>
                <a:spcPts val="300"/>
              </a:spcBef>
              <a:buChar char="•"/>
              <a:tabLst>
                <a:tab pos="132080" algn="l"/>
              </a:tabLst>
            </a:pP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Factual</a:t>
            </a:r>
            <a:r>
              <a:rPr sz="1300" b="1" spc="-6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Baseline:</a:t>
            </a:r>
            <a:r>
              <a:rPr sz="1300" b="1" spc="-18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hallucination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risk;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exact</a:t>
            </a:r>
            <a:r>
              <a:rPr sz="12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text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fidelity.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93875" y="1207914"/>
            <a:ext cx="3601720" cy="1988185"/>
            <a:chOff x="4293875" y="1207914"/>
            <a:chExt cx="3601720" cy="198818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93875" y="1207914"/>
              <a:ext cx="3601202" cy="198785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343399" y="1234440"/>
              <a:ext cx="3502660" cy="1874520"/>
            </a:xfrm>
            <a:custGeom>
              <a:avLst/>
              <a:gdLst/>
              <a:ahLst/>
              <a:cxnLst/>
              <a:rect l="l" t="t" r="r" b="b"/>
              <a:pathLst>
                <a:path w="3502659" h="1874520">
                  <a:moveTo>
                    <a:pt x="3189725" y="1874518"/>
                  </a:moveTo>
                  <a:lnTo>
                    <a:pt x="312426" y="1874518"/>
                  </a:lnTo>
                  <a:lnTo>
                    <a:pt x="266258" y="1871131"/>
                  </a:lnTo>
                  <a:lnTo>
                    <a:pt x="222193" y="1861291"/>
                  </a:lnTo>
                  <a:lnTo>
                    <a:pt x="180715" y="1845481"/>
                  </a:lnTo>
                  <a:lnTo>
                    <a:pt x="142306" y="1824185"/>
                  </a:lnTo>
                  <a:lnTo>
                    <a:pt x="107451" y="1797886"/>
                  </a:lnTo>
                  <a:lnTo>
                    <a:pt x="76632" y="1767067"/>
                  </a:lnTo>
                  <a:lnTo>
                    <a:pt x="50333" y="1732212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6"/>
                  </a:ln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8" y="3387"/>
                  </a:lnTo>
                  <a:lnTo>
                    <a:pt x="312426" y="0"/>
                  </a:lnTo>
                  <a:lnTo>
                    <a:pt x="3189725" y="0"/>
                  </a:lnTo>
                  <a:lnTo>
                    <a:pt x="3238895" y="3892"/>
                  </a:lnTo>
                  <a:lnTo>
                    <a:pt x="3286410" y="15336"/>
                  </a:lnTo>
                  <a:lnTo>
                    <a:pt x="3331433" y="33985"/>
                  </a:lnTo>
                  <a:lnTo>
                    <a:pt x="3373124" y="59491"/>
                  </a:lnTo>
                  <a:lnTo>
                    <a:pt x="3410644" y="91507"/>
                  </a:lnTo>
                  <a:lnTo>
                    <a:pt x="3442660" y="129027"/>
                  </a:lnTo>
                  <a:lnTo>
                    <a:pt x="3468166" y="170718"/>
                  </a:lnTo>
                  <a:lnTo>
                    <a:pt x="3486816" y="215741"/>
                  </a:lnTo>
                  <a:lnTo>
                    <a:pt x="3498260" y="263256"/>
                  </a:lnTo>
                  <a:lnTo>
                    <a:pt x="3502152" y="312426"/>
                  </a:lnTo>
                  <a:lnTo>
                    <a:pt x="3502152" y="1562092"/>
                  </a:lnTo>
                  <a:lnTo>
                    <a:pt x="3498764" y="1608260"/>
                  </a:lnTo>
                  <a:lnTo>
                    <a:pt x="3488924" y="1652325"/>
                  </a:lnTo>
                  <a:lnTo>
                    <a:pt x="3473114" y="1693803"/>
                  </a:lnTo>
                  <a:lnTo>
                    <a:pt x="3451818" y="1732212"/>
                  </a:lnTo>
                  <a:lnTo>
                    <a:pt x="3425519" y="1767067"/>
                  </a:lnTo>
                  <a:lnTo>
                    <a:pt x="3394700" y="1797886"/>
                  </a:lnTo>
                  <a:lnTo>
                    <a:pt x="3359845" y="1824185"/>
                  </a:lnTo>
                  <a:lnTo>
                    <a:pt x="3321436" y="1845481"/>
                  </a:lnTo>
                  <a:lnTo>
                    <a:pt x="3279958" y="1861291"/>
                  </a:lnTo>
                  <a:lnTo>
                    <a:pt x="3235893" y="1871131"/>
                  </a:lnTo>
                  <a:lnTo>
                    <a:pt x="3189725" y="1874518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343399" y="1234440"/>
              <a:ext cx="3502660" cy="1874520"/>
            </a:xfrm>
            <a:custGeom>
              <a:avLst/>
              <a:gdLst/>
              <a:ahLst/>
              <a:cxnLst/>
              <a:rect l="l" t="t" r="r" b="b"/>
              <a:pathLst>
                <a:path w="3502659" h="1874520">
                  <a:moveTo>
                    <a:pt x="0" y="312426"/>
                  </a:move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8" y="3387"/>
                  </a:lnTo>
                  <a:lnTo>
                    <a:pt x="312426" y="0"/>
                  </a:lnTo>
                  <a:lnTo>
                    <a:pt x="3189725" y="0"/>
                  </a:lnTo>
                  <a:lnTo>
                    <a:pt x="3238895" y="3892"/>
                  </a:lnTo>
                  <a:lnTo>
                    <a:pt x="3286410" y="15336"/>
                  </a:lnTo>
                  <a:lnTo>
                    <a:pt x="3331433" y="33985"/>
                  </a:lnTo>
                  <a:lnTo>
                    <a:pt x="3373124" y="59491"/>
                  </a:lnTo>
                  <a:lnTo>
                    <a:pt x="3410644" y="91507"/>
                  </a:lnTo>
                  <a:lnTo>
                    <a:pt x="3442660" y="129027"/>
                  </a:lnTo>
                  <a:lnTo>
                    <a:pt x="3468166" y="170718"/>
                  </a:lnTo>
                  <a:lnTo>
                    <a:pt x="3486816" y="215741"/>
                  </a:lnTo>
                  <a:lnTo>
                    <a:pt x="3498260" y="263256"/>
                  </a:lnTo>
                  <a:lnTo>
                    <a:pt x="3502152" y="312426"/>
                  </a:lnTo>
                  <a:lnTo>
                    <a:pt x="3502152" y="1562092"/>
                  </a:lnTo>
                  <a:lnTo>
                    <a:pt x="3498764" y="1608260"/>
                  </a:lnTo>
                  <a:lnTo>
                    <a:pt x="3488924" y="1652325"/>
                  </a:lnTo>
                  <a:lnTo>
                    <a:pt x="3473114" y="1693803"/>
                  </a:lnTo>
                  <a:lnTo>
                    <a:pt x="3451818" y="1732212"/>
                  </a:lnTo>
                  <a:lnTo>
                    <a:pt x="3425519" y="1767067"/>
                  </a:lnTo>
                  <a:lnTo>
                    <a:pt x="3394700" y="1797886"/>
                  </a:lnTo>
                  <a:lnTo>
                    <a:pt x="3359845" y="1824185"/>
                  </a:lnTo>
                  <a:lnTo>
                    <a:pt x="3321436" y="1845481"/>
                  </a:lnTo>
                  <a:lnTo>
                    <a:pt x="3279958" y="1861291"/>
                  </a:lnTo>
                  <a:lnTo>
                    <a:pt x="3235893" y="1871131"/>
                  </a:lnTo>
                  <a:lnTo>
                    <a:pt x="3189725" y="1874518"/>
                  </a:lnTo>
                  <a:lnTo>
                    <a:pt x="312426" y="1874518"/>
                  </a:lnTo>
                  <a:lnTo>
                    <a:pt x="266258" y="1871131"/>
                  </a:lnTo>
                  <a:lnTo>
                    <a:pt x="222193" y="1861291"/>
                  </a:lnTo>
                  <a:lnTo>
                    <a:pt x="180715" y="1845481"/>
                  </a:lnTo>
                  <a:lnTo>
                    <a:pt x="142306" y="1824185"/>
                  </a:lnTo>
                  <a:lnTo>
                    <a:pt x="107451" y="1797886"/>
                  </a:lnTo>
                  <a:lnTo>
                    <a:pt x="76632" y="1767067"/>
                  </a:lnTo>
                  <a:lnTo>
                    <a:pt x="50333" y="1732212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6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4298637" y="1212677"/>
            <a:ext cx="3592195" cy="528955"/>
            <a:chOff x="4298637" y="1212677"/>
            <a:chExt cx="3592195" cy="52895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8637" y="1212677"/>
              <a:ext cx="3591677" cy="52843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343399" y="12344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59" h="439419">
                  <a:moveTo>
                    <a:pt x="3428998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4" y="12290"/>
                  </a:lnTo>
                  <a:lnTo>
                    <a:pt x="3496583" y="45158"/>
                  </a:lnTo>
                  <a:lnTo>
                    <a:pt x="3502152" y="73153"/>
                  </a:lnTo>
                  <a:lnTo>
                    <a:pt x="3502152" y="365758"/>
                  </a:lnTo>
                  <a:lnTo>
                    <a:pt x="3496403" y="394233"/>
                  </a:lnTo>
                  <a:lnTo>
                    <a:pt x="3480726" y="417485"/>
                  </a:lnTo>
                  <a:lnTo>
                    <a:pt x="3457473" y="433163"/>
                  </a:lnTo>
                  <a:lnTo>
                    <a:pt x="3428998" y="438911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343399" y="12344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59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4" y="12290"/>
                  </a:lnTo>
                  <a:lnTo>
                    <a:pt x="3496583" y="45158"/>
                  </a:lnTo>
                  <a:lnTo>
                    <a:pt x="3502152" y="73153"/>
                  </a:lnTo>
                  <a:lnTo>
                    <a:pt x="3502152" y="365758"/>
                  </a:lnTo>
                  <a:lnTo>
                    <a:pt x="3496403" y="394233"/>
                  </a:lnTo>
                  <a:lnTo>
                    <a:pt x="3480726" y="417485"/>
                  </a:lnTo>
                  <a:lnTo>
                    <a:pt x="3457473" y="433163"/>
                  </a:lnTo>
                  <a:lnTo>
                    <a:pt x="3428998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5494067" y="1332166"/>
            <a:ext cx="12001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Segoe UI Symbol" panose="020B0502040204020203"/>
                <a:cs typeface="Segoe UI Symbol" panose="020B0502040204020203"/>
              </a:rPr>
              <a:t>⚙</a:t>
            </a:r>
            <a:r>
              <a:rPr sz="1400" spc="-60" dirty="0">
                <a:solidFill>
                  <a:srgbClr val="FFFFFF"/>
                </a:solidFill>
                <a:latin typeface="Segoe UI Symbol" panose="020B0502040204020203"/>
                <a:cs typeface="Segoe UI Symbol" panose="020B0502040204020203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RULE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ENGINE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84131" y="1894268"/>
            <a:ext cx="2973070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9380">
              <a:lnSpc>
                <a:spcPct val="100000"/>
              </a:lnSpc>
              <a:spcBef>
                <a:spcPts val="100"/>
              </a:spcBef>
              <a:buChar char="•"/>
              <a:tabLst>
                <a:tab pos="132080" algn="l"/>
              </a:tabLst>
            </a:pP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Forward</a:t>
            </a:r>
            <a:r>
              <a:rPr sz="130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Chaining:</a:t>
            </a:r>
            <a:r>
              <a:rPr sz="1300" b="1" spc="-20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Evaluates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facts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against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job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constraints.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241300" indent="119380">
              <a:lnSpc>
                <a:spcPct val="100000"/>
              </a:lnSpc>
              <a:spcBef>
                <a:spcPts val="3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Production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Rules:</a:t>
            </a:r>
            <a:r>
              <a:rPr sz="1300" b="1" spc="-19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First-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Order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Logic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Horn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clauses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credentials.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233680" indent="119380">
              <a:lnSpc>
                <a:spcPct val="100000"/>
              </a:lnSpc>
              <a:spcBef>
                <a:spcPts val="300"/>
              </a:spcBef>
              <a:buChar char="•"/>
              <a:tabLst>
                <a:tab pos="132080" algn="l"/>
              </a:tabLst>
            </a:pP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Constraint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Checks:</a:t>
            </a:r>
            <a:r>
              <a:rPr sz="1300" b="1" spc="-204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Minimum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experience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threshold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degree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hierarchy.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042915" y="1207914"/>
            <a:ext cx="3601720" cy="1988185"/>
            <a:chOff x="8042915" y="1207914"/>
            <a:chExt cx="3601720" cy="1988185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42915" y="1207914"/>
              <a:ext cx="3601202" cy="198785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092439" y="1234440"/>
              <a:ext cx="3502660" cy="1874520"/>
            </a:xfrm>
            <a:custGeom>
              <a:avLst/>
              <a:gdLst/>
              <a:ahLst/>
              <a:cxnLst/>
              <a:rect l="l" t="t" r="r" b="b"/>
              <a:pathLst>
                <a:path w="3502659" h="1874520">
                  <a:moveTo>
                    <a:pt x="3189725" y="1874518"/>
                  </a:moveTo>
                  <a:lnTo>
                    <a:pt x="312426" y="1874518"/>
                  </a:lnTo>
                  <a:lnTo>
                    <a:pt x="266258" y="1871131"/>
                  </a:lnTo>
                  <a:lnTo>
                    <a:pt x="222193" y="1861291"/>
                  </a:lnTo>
                  <a:lnTo>
                    <a:pt x="180715" y="1845481"/>
                  </a:lnTo>
                  <a:lnTo>
                    <a:pt x="142306" y="1824185"/>
                  </a:lnTo>
                  <a:lnTo>
                    <a:pt x="107451" y="1797886"/>
                  </a:lnTo>
                  <a:lnTo>
                    <a:pt x="76632" y="1767067"/>
                  </a:lnTo>
                  <a:lnTo>
                    <a:pt x="50333" y="1732212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6"/>
                  </a:ln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8" y="3387"/>
                  </a:lnTo>
                  <a:lnTo>
                    <a:pt x="312426" y="0"/>
                  </a:lnTo>
                  <a:lnTo>
                    <a:pt x="3189725" y="0"/>
                  </a:lnTo>
                  <a:lnTo>
                    <a:pt x="3238894" y="3892"/>
                  </a:lnTo>
                  <a:lnTo>
                    <a:pt x="3286410" y="15336"/>
                  </a:lnTo>
                  <a:lnTo>
                    <a:pt x="3331433" y="33985"/>
                  </a:lnTo>
                  <a:lnTo>
                    <a:pt x="3373124" y="59491"/>
                  </a:lnTo>
                  <a:lnTo>
                    <a:pt x="3410644" y="91507"/>
                  </a:lnTo>
                  <a:lnTo>
                    <a:pt x="3442660" y="129027"/>
                  </a:lnTo>
                  <a:lnTo>
                    <a:pt x="3468166" y="170718"/>
                  </a:lnTo>
                  <a:lnTo>
                    <a:pt x="3486815" y="215741"/>
                  </a:lnTo>
                  <a:lnTo>
                    <a:pt x="3498260" y="263256"/>
                  </a:lnTo>
                  <a:lnTo>
                    <a:pt x="3502152" y="312426"/>
                  </a:lnTo>
                  <a:lnTo>
                    <a:pt x="3502152" y="1562092"/>
                  </a:lnTo>
                  <a:lnTo>
                    <a:pt x="3498764" y="1608260"/>
                  </a:lnTo>
                  <a:lnTo>
                    <a:pt x="3488924" y="1652325"/>
                  </a:lnTo>
                  <a:lnTo>
                    <a:pt x="3473114" y="1693803"/>
                  </a:lnTo>
                  <a:lnTo>
                    <a:pt x="3451818" y="1732212"/>
                  </a:lnTo>
                  <a:lnTo>
                    <a:pt x="3425519" y="1767067"/>
                  </a:lnTo>
                  <a:lnTo>
                    <a:pt x="3394700" y="1797886"/>
                  </a:lnTo>
                  <a:lnTo>
                    <a:pt x="3359845" y="1824185"/>
                  </a:lnTo>
                  <a:lnTo>
                    <a:pt x="3321436" y="1845481"/>
                  </a:lnTo>
                  <a:lnTo>
                    <a:pt x="3279958" y="1861291"/>
                  </a:lnTo>
                  <a:lnTo>
                    <a:pt x="3235893" y="1871131"/>
                  </a:lnTo>
                  <a:lnTo>
                    <a:pt x="3189725" y="1874518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092439" y="1234440"/>
              <a:ext cx="3502660" cy="1874520"/>
            </a:xfrm>
            <a:custGeom>
              <a:avLst/>
              <a:gdLst/>
              <a:ahLst/>
              <a:cxnLst/>
              <a:rect l="l" t="t" r="r" b="b"/>
              <a:pathLst>
                <a:path w="3502659" h="1874520">
                  <a:moveTo>
                    <a:pt x="0" y="312426"/>
                  </a:moveTo>
                  <a:lnTo>
                    <a:pt x="3387" y="266258"/>
                  </a:lnTo>
                  <a:lnTo>
                    <a:pt x="13227" y="222193"/>
                  </a:lnTo>
                  <a:lnTo>
                    <a:pt x="29037" y="180715"/>
                  </a:lnTo>
                  <a:lnTo>
                    <a:pt x="50333" y="142306"/>
                  </a:lnTo>
                  <a:lnTo>
                    <a:pt x="76632" y="107451"/>
                  </a:lnTo>
                  <a:lnTo>
                    <a:pt x="107451" y="76632"/>
                  </a:lnTo>
                  <a:lnTo>
                    <a:pt x="142306" y="50333"/>
                  </a:lnTo>
                  <a:lnTo>
                    <a:pt x="180715" y="29037"/>
                  </a:lnTo>
                  <a:lnTo>
                    <a:pt x="222193" y="13227"/>
                  </a:lnTo>
                  <a:lnTo>
                    <a:pt x="266258" y="3387"/>
                  </a:lnTo>
                  <a:lnTo>
                    <a:pt x="312426" y="0"/>
                  </a:lnTo>
                  <a:lnTo>
                    <a:pt x="3189725" y="0"/>
                  </a:lnTo>
                  <a:lnTo>
                    <a:pt x="3238894" y="3892"/>
                  </a:lnTo>
                  <a:lnTo>
                    <a:pt x="3286410" y="15336"/>
                  </a:lnTo>
                  <a:lnTo>
                    <a:pt x="3331433" y="33985"/>
                  </a:lnTo>
                  <a:lnTo>
                    <a:pt x="3373124" y="59491"/>
                  </a:lnTo>
                  <a:lnTo>
                    <a:pt x="3410644" y="91507"/>
                  </a:lnTo>
                  <a:lnTo>
                    <a:pt x="3442660" y="129027"/>
                  </a:lnTo>
                  <a:lnTo>
                    <a:pt x="3468166" y="170718"/>
                  </a:lnTo>
                  <a:lnTo>
                    <a:pt x="3486815" y="215741"/>
                  </a:lnTo>
                  <a:lnTo>
                    <a:pt x="3498260" y="263256"/>
                  </a:lnTo>
                  <a:lnTo>
                    <a:pt x="3502152" y="312426"/>
                  </a:lnTo>
                  <a:lnTo>
                    <a:pt x="3502152" y="1562092"/>
                  </a:lnTo>
                  <a:lnTo>
                    <a:pt x="3498764" y="1608260"/>
                  </a:lnTo>
                  <a:lnTo>
                    <a:pt x="3488924" y="1652325"/>
                  </a:lnTo>
                  <a:lnTo>
                    <a:pt x="3473114" y="1693803"/>
                  </a:lnTo>
                  <a:lnTo>
                    <a:pt x="3451818" y="1732212"/>
                  </a:lnTo>
                  <a:lnTo>
                    <a:pt x="3425519" y="1767067"/>
                  </a:lnTo>
                  <a:lnTo>
                    <a:pt x="3394700" y="1797886"/>
                  </a:lnTo>
                  <a:lnTo>
                    <a:pt x="3359845" y="1824185"/>
                  </a:lnTo>
                  <a:lnTo>
                    <a:pt x="3321436" y="1845481"/>
                  </a:lnTo>
                  <a:lnTo>
                    <a:pt x="3279958" y="1861291"/>
                  </a:lnTo>
                  <a:lnTo>
                    <a:pt x="3235893" y="1871131"/>
                  </a:lnTo>
                  <a:lnTo>
                    <a:pt x="3189725" y="1874518"/>
                  </a:lnTo>
                  <a:lnTo>
                    <a:pt x="312426" y="1874518"/>
                  </a:lnTo>
                  <a:lnTo>
                    <a:pt x="266258" y="1871131"/>
                  </a:lnTo>
                  <a:lnTo>
                    <a:pt x="222193" y="1861291"/>
                  </a:lnTo>
                  <a:lnTo>
                    <a:pt x="180715" y="1845481"/>
                  </a:lnTo>
                  <a:lnTo>
                    <a:pt x="142306" y="1824185"/>
                  </a:lnTo>
                  <a:lnTo>
                    <a:pt x="107451" y="1797886"/>
                  </a:lnTo>
                  <a:lnTo>
                    <a:pt x="76632" y="1767067"/>
                  </a:lnTo>
                  <a:lnTo>
                    <a:pt x="50333" y="1732212"/>
                  </a:lnTo>
                  <a:lnTo>
                    <a:pt x="29037" y="1693803"/>
                  </a:lnTo>
                  <a:lnTo>
                    <a:pt x="13227" y="1652325"/>
                  </a:lnTo>
                  <a:lnTo>
                    <a:pt x="3387" y="1608260"/>
                  </a:lnTo>
                  <a:lnTo>
                    <a:pt x="0" y="1562092"/>
                  </a:lnTo>
                  <a:lnTo>
                    <a:pt x="0" y="312426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8047677" y="1212677"/>
            <a:ext cx="3592195" cy="528955"/>
            <a:chOff x="8047677" y="1212677"/>
            <a:chExt cx="3592195" cy="528955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7677" y="1212677"/>
              <a:ext cx="3591677" cy="52843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092439" y="12344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59" h="439419">
                  <a:moveTo>
                    <a:pt x="3428998" y="438911"/>
                  </a:moveTo>
                  <a:lnTo>
                    <a:pt x="73153" y="438911"/>
                  </a:lnTo>
                  <a:lnTo>
                    <a:pt x="44679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9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3" y="12290"/>
                  </a:lnTo>
                  <a:lnTo>
                    <a:pt x="3496583" y="45158"/>
                  </a:lnTo>
                  <a:lnTo>
                    <a:pt x="3502152" y="73153"/>
                  </a:lnTo>
                  <a:lnTo>
                    <a:pt x="3502152" y="365758"/>
                  </a:lnTo>
                  <a:lnTo>
                    <a:pt x="3496403" y="394233"/>
                  </a:lnTo>
                  <a:lnTo>
                    <a:pt x="3480726" y="417485"/>
                  </a:lnTo>
                  <a:lnTo>
                    <a:pt x="3457473" y="433163"/>
                  </a:lnTo>
                  <a:lnTo>
                    <a:pt x="3428998" y="438911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092439" y="12344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59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9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3" y="12290"/>
                  </a:lnTo>
                  <a:lnTo>
                    <a:pt x="3496583" y="45158"/>
                  </a:lnTo>
                  <a:lnTo>
                    <a:pt x="3502152" y="73153"/>
                  </a:lnTo>
                  <a:lnTo>
                    <a:pt x="3502152" y="365758"/>
                  </a:lnTo>
                  <a:lnTo>
                    <a:pt x="3496403" y="394233"/>
                  </a:lnTo>
                  <a:lnTo>
                    <a:pt x="3480726" y="417485"/>
                  </a:lnTo>
                  <a:lnTo>
                    <a:pt x="3457473" y="433163"/>
                  </a:lnTo>
                  <a:lnTo>
                    <a:pt x="3428998" y="438911"/>
                  </a:lnTo>
                  <a:lnTo>
                    <a:pt x="73153" y="438911"/>
                  </a:lnTo>
                  <a:lnTo>
                    <a:pt x="44679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65787" y="1357807"/>
              <a:ext cx="221258" cy="208243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9314529" y="1332166"/>
            <a:ext cx="13131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EXPLAINABLE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XAI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33171" y="1894268"/>
            <a:ext cx="300672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9380">
              <a:lnSpc>
                <a:spcPct val="100000"/>
              </a:lnSpc>
              <a:spcBef>
                <a:spcPts val="100"/>
              </a:spcBef>
              <a:buChar char="•"/>
              <a:tabLst>
                <a:tab pos="132080" algn="l"/>
              </a:tabLst>
            </a:pP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Dual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Web</a:t>
            </a: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Portals:</a:t>
            </a:r>
            <a:r>
              <a:rPr sz="1300" b="1" spc="-20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Role-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based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React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SPAs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HR.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38100" indent="119380">
              <a:lnSpc>
                <a:spcPct val="100000"/>
              </a:lnSpc>
              <a:spcBef>
                <a:spcPts val="3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Interactive</a:t>
            </a:r>
            <a:r>
              <a:rPr sz="1300" b="1" spc="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Modal:</a:t>
            </a:r>
            <a:r>
              <a:rPr sz="1300" b="1" spc="-20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Itemized</a:t>
            </a:r>
            <a:r>
              <a:rPr sz="1200" spc="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</a:t>
            </a:r>
            <a:r>
              <a:rPr sz="1200" spc="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breakdown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verification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symbols.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410845" indent="119380">
              <a:lnSpc>
                <a:spcPct val="100000"/>
              </a:lnSpc>
              <a:spcBef>
                <a:spcPts val="3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Auditable Leaderboard: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Deterministic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ranking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proof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traces.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44835" y="3219595"/>
            <a:ext cx="11099800" cy="3025140"/>
            <a:chOff x="544835" y="3219595"/>
            <a:chExt cx="11099800" cy="3025140"/>
          </a:xfrm>
        </p:grpSpPr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4835" y="3219595"/>
              <a:ext cx="11099282" cy="302513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94359" y="3246120"/>
              <a:ext cx="11000740" cy="2926080"/>
            </a:xfrm>
            <a:custGeom>
              <a:avLst/>
              <a:gdLst/>
              <a:ahLst/>
              <a:cxnLst/>
              <a:rect l="l" t="t" r="r" b="b"/>
              <a:pathLst>
                <a:path w="11000740" h="2926079">
                  <a:moveTo>
                    <a:pt x="10512542" y="2926079"/>
                  </a:moveTo>
                  <a:lnTo>
                    <a:pt x="487689" y="2926079"/>
                  </a:lnTo>
                  <a:lnTo>
                    <a:pt x="440721" y="2923847"/>
                  </a:lnTo>
                  <a:lnTo>
                    <a:pt x="395017" y="2917286"/>
                  </a:lnTo>
                  <a:lnTo>
                    <a:pt x="350780" y="2906600"/>
                  </a:lnTo>
                  <a:lnTo>
                    <a:pt x="308215" y="2891994"/>
                  </a:lnTo>
                  <a:lnTo>
                    <a:pt x="267526" y="2873673"/>
                  </a:lnTo>
                  <a:lnTo>
                    <a:pt x="228917" y="2851841"/>
                  </a:lnTo>
                  <a:lnTo>
                    <a:pt x="192594" y="2826701"/>
                  </a:lnTo>
                  <a:lnTo>
                    <a:pt x="158760" y="2798459"/>
                  </a:lnTo>
                  <a:lnTo>
                    <a:pt x="127620" y="2767319"/>
                  </a:lnTo>
                  <a:lnTo>
                    <a:pt x="99378" y="2733485"/>
                  </a:lnTo>
                  <a:lnTo>
                    <a:pt x="74239" y="2697162"/>
                  </a:lnTo>
                  <a:lnTo>
                    <a:pt x="52406" y="2658553"/>
                  </a:lnTo>
                  <a:lnTo>
                    <a:pt x="34085" y="2617864"/>
                  </a:lnTo>
                  <a:lnTo>
                    <a:pt x="19479" y="2575299"/>
                  </a:lnTo>
                  <a:lnTo>
                    <a:pt x="8793" y="2531062"/>
                  </a:lnTo>
                  <a:lnTo>
                    <a:pt x="2232" y="2485357"/>
                  </a:lnTo>
                  <a:lnTo>
                    <a:pt x="0" y="2438389"/>
                  </a:lnTo>
                  <a:lnTo>
                    <a:pt x="0" y="487689"/>
                  </a:lnTo>
                  <a:lnTo>
                    <a:pt x="2232" y="440721"/>
                  </a:lnTo>
                  <a:lnTo>
                    <a:pt x="8793" y="395017"/>
                  </a:lnTo>
                  <a:lnTo>
                    <a:pt x="19479" y="350780"/>
                  </a:lnTo>
                  <a:lnTo>
                    <a:pt x="34085" y="308214"/>
                  </a:lnTo>
                  <a:lnTo>
                    <a:pt x="52406" y="267526"/>
                  </a:lnTo>
                  <a:lnTo>
                    <a:pt x="74239" y="228917"/>
                  </a:lnTo>
                  <a:lnTo>
                    <a:pt x="99378" y="192594"/>
                  </a:lnTo>
                  <a:lnTo>
                    <a:pt x="127620" y="158760"/>
                  </a:lnTo>
                  <a:lnTo>
                    <a:pt x="158760" y="127620"/>
                  </a:lnTo>
                  <a:lnTo>
                    <a:pt x="192594" y="99378"/>
                  </a:lnTo>
                  <a:lnTo>
                    <a:pt x="228917" y="74238"/>
                  </a:lnTo>
                  <a:lnTo>
                    <a:pt x="267526" y="52406"/>
                  </a:lnTo>
                  <a:lnTo>
                    <a:pt x="308215" y="34085"/>
                  </a:lnTo>
                  <a:lnTo>
                    <a:pt x="350780" y="19479"/>
                  </a:lnTo>
                  <a:lnTo>
                    <a:pt x="395017" y="8793"/>
                  </a:lnTo>
                  <a:lnTo>
                    <a:pt x="440721" y="2232"/>
                  </a:lnTo>
                  <a:lnTo>
                    <a:pt x="487689" y="0"/>
                  </a:lnTo>
                  <a:lnTo>
                    <a:pt x="10512542" y="0"/>
                  </a:lnTo>
                  <a:lnTo>
                    <a:pt x="10560744" y="2386"/>
                  </a:lnTo>
                  <a:lnTo>
                    <a:pt x="10608129" y="9457"/>
                  </a:lnTo>
                  <a:lnTo>
                    <a:pt x="10654379" y="21080"/>
                  </a:lnTo>
                  <a:lnTo>
                    <a:pt x="10699172" y="37123"/>
                  </a:lnTo>
                  <a:lnTo>
                    <a:pt x="10742190" y="57453"/>
                  </a:lnTo>
                  <a:lnTo>
                    <a:pt x="10783112" y="81937"/>
                  </a:lnTo>
                  <a:lnTo>
                    <a:pt x="10821619" y="110444"/>
                  </a:lnTo>
                  <a:lnTo>
                    <a:pt x="10857390" y="142840"/>
                  </a:lnTo>
                  <a:lnTo>
                    <a:pt x="10889787" y="178612"/>
                  </a:lnTo>
                  <a:lnTo>
                    <a:pt x="10918294" y="217119"/>
                  </a:lnTo>
                  <a:lnTo>
                    <a:pt x="10942779" y="258041"/>
                  </a:lnTo>
                  <a:lnTo>
                    <a:pt x="10963109" y="301059"/>
                  </a:lnTo>
                  <a:lnTo>
                    <a:pt x="10979151" y="345852"/>
                  </a:lnTo>
                  <a:lnTo>
                    <a:pt x="10990775" y="392101"/>
                  </a:lnTo>
                  <a:lnTo>
                    <a:pt x="10997846" y="439487"/>
                  </a:lnTo>
                  <a:lnTo>
                    <a:pt x="11000232" y="487689"/>
                  </a:lnTo>
                  <a:lnTo>
                    <a:pt x="11000232" y="2438389"/>
                  </a:lnTo>
                  <a:lnTo>
                    <a:pt x="10997999" y="2485357"/>
                  </a:lnTo>
                  <a:lnTo>
                    <a:pt x="10991438" y="2531062"/>
                  </a:lnTo>
                  <a:lnTo>
                    <a:pt x="10980752" y="2575299"/>
                  </a:lnTo>
                  <a:lnTo>
                    <a:pt x="10966147" y="2617864"/>
                  </a:lnTo>
                  <a:lnTo>
                    <a:pt x="10947825" y="2658553"/>
                  </a:lnTo>
                  <a:lnTo>
                    <a:pt x="10925993" y="2697162"/>
                  </a:lnTo>
                  <a:lnTo>
                    <a:pt x="10900853" y="2733485"/>
                  </a:lnTo>
                  <a:lnTo>
                    <a:pt x="10872611" y="2767319"/>
                  </a:lnTo>
                  <a:lnTo>
                    <a:pt x="10841471" y="2798459"/>
                  </a:lnTo>
                  <a:lnTo>
                    <a:pt x="10807637" y="2826701"/>
                  </a:lnTo>
                  <a:lnTo>
                    <a:pt x="10771314" y="2851841"/>
                  </a:lnTo>
                  <a:lnTo>
                    <a:pt x="10732706" y="2873673"/>
                  </a:lnTo>
                  <a:lnTo>
                    <a:pt x="10692017" y="2891994"/>
                  </a:lnTo>
                  <a:lnTo>
                    <a:pt x="10649451" y="2906600"/>
                  </a:lnTo>
                  <a:lnTo>
                    <a:pt x="10605214" y="2917286"/>
                  </a:lnTo>
                  <a:lnTo>
                    <a:pt x="10559510" y="2923847"/>
                  </a:lnTo>
                  <a:lnTo>
                    <a:pt x="10512542" y="292607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94359" y="3246120"/>
              <a:ext cx="11000740" cy="2926080"/>
            </a:xfrm>
            <a:custGeom>
              <a:avLst/>
              <a:gdLst/>
              <a:ahLst/>
              <a:cxnLst/>
              <a:rect l="l" t="t" r="r" b="b"/>
              <a:pathLst>
                <a:path w="11000740" h="2926079">
                  <a:moveTo>
                    <a:pt x="0" y="487689"/>
                  </a:moveTo>
                  <a:lnTo>
                    <a:pt x="2232" y="440721"/>
                  </a:lnTo>
                  <a:lnTo>
                    <a:pt x="8793" y="395017"/>
                  </a:lnTo>
                  <a:lnTo>
                    <a:pt x="19479" y="350780"/>
                  </a:lnTo>
                  <a:lnTo>
                    <a:pt x="34085" y="308214"/>
                  </a:lnTo>
                  <a:lnTo>
                    <a:pt x="52406" y="267526"/>
                  </a:lnTo>
                  <a:lnTo>
                    <a:pt x="74239" y="228917"/>
                  </a:lnTo>
                  <a:lnTo>
                    <a:pt x="99378" y="192594"/>
                  </a:lnTo>
                  <a:lnTo>
                    <a:pt x="127620" y="158760"/>
                  </a:lnTo>
                  <a:lnTo>
                    <a:pt x="158760" y="127620"/>
                  </a:lnTo>
                  <a:lnTo>
                    <a:pt x="192594" y="99378"/>
                  </a:lnTo>
                  <a:lnTo>
                    <a:pt x="228917" y="74238"/>
                  </a:lnTo>
                  <a:lnTo>
                    <a:pt x="267526" y="52406"/>
                  </a:lnTo>
                  <a:lnTo>
                    <a:pt x="308215" y="34085"/>
                  </a:lnTo>
                  <a:lnTo>
                    <a:pt x="350780" y="19479"/>
                  </a:lnTo>
                  <a:lnTo>
                    <a:pt x="395017" y="8793"/>
                  </a:lnTo>
                  <a:lnTo>
                    <a:pt x="440721" y="2232"/>
                  </a:lnTo>
                  <a:lnTo>
                    <a:pt x="487689" y="0"/>
                  </a:lnTo>
                  <a:lnTo>
                    <a:pt x="10512542" y="0"/>
                  </a:lnTo>
                  <a:lnTo>
                    <a:pt x="10560744" y="2386"/>
                  </a:lnTo>
                  <a:lnTo>
                    <a:pt x="10608129" y="9457"/>
                  </a:lnTo>
                  <a:lnTo>
                    <a:pt x="10654379" y="21080"/>
                  </a:lnTo>
                  <a:lnTo>
                    <a:pt x="10699172" y="37123"/>
                  </a:lnTo>
                  <a:lnTo>
                    <a:pt x="10742190" y="57453"/>
                  </a:lnTo>
                  <a:lnTo>
                    <a:pt x="10783112" y="81937"/>
                  </a:lnTo>
                  <a:lnTo>
                    <a:pt x="10821619" y="110444"/>
                  </a:lnTo>
                  <a:lnTo>
                    <a:pt x="10857390" y="142840"/>
                  </a:lnTo>
                  <a:lnTo>
                    <a:pt x="10889787" y="178612"/>
                  </a:lnTo>
                  <a:lnTo>
                    <a:pt x="10918294" y="217119"/>
                  </a:lnTo>
                  <a:lnTo>
                    <a:pt x="10942779" y="258041"/>
                  </a:lnTo>
                  <a:lnTo>
                    <a:pt x="10963109" y="301059"/>
                  </a:lnTo>
                  <a:lnTo>
                    <a:pt x="10979151" y="345852"/>
                  </a:lnTo>
                  <a:lnTo>
                    <a:pt x="10990775" y="392101"/>
                  </a:lnTo>
                  <a:lnTo>
                    <a:pt x="10997846" y="439487"/>
                  </a:lnTo>
                  <a:lnTo>
                    <a:pt x="11000232" y="487689"/>
                  </a:lnTo>
                  <a:lnTo>
                    <a:pt x="11000232" y="2438389"/>
                  </a:lnTo>
                  <a:lnTo>
                    <a:pt x="10997999" y="2485357"/>
                  </a:lnTo>
                  <a:lnTo>
                    <a:pt x="10991438" y="2531062"/>
                  </a:lnTo>
                  <a:lnTo>
                    <a:pt x="10980752" y="2575299"/>
                  </a:lnTo>
                  <a:lnTo>
                    <a:pt x="10966147" y="2617864"/>
                  </a:lnTo>
                  <a:lnTo>
                    <a:pt x="10947825" y="2658553"/>
                  </a:lnTo>
                  <a:lnTo>
                    <a:pt x="10925993" y="2697162"/>
                  </a:lnTo>
                  <a:lnTo>
                    <a:pt x="10900853" y="2733485"/>
                  </a:lnTo>
                  <a:lnTo>
                    <a:pt x="10872611" y="2767319"/>
                  </a:lnTo>
                  <a:lnTo>
                    <a:pt x="10841471" y="2798459"/>
                  </a:lnTo>
                  <a:lnTo>
                    <a:pt x="10807637" y="2826701"/>
                  </a:lnTo>
                  <a:lnTo>
                    <a:pt x="10771314" y="2851841"/>
                  </a:lnTo>
                  <a:lnTo>
                    <a:pt x="10732706" y="2873673"/>
                  </a:lnTo>
                  <a:lnTo>
                    <a:pt x="10692017" y="2891994"/>
                  </a:lnTo>
                  <a:lnTo>
                    <a:pt x="10649451" y="2906600"/>
                  </a:lnTo>
                  <a:lnTo>
                    <a:pt x="10605214" y="2917286"/>
                  </a:lnTo>
                  <a:lnTo>
                    <a:pt x="10559510" y="2923847"/>
                  </a:lnTo>
                  <a:lnTo>
                    <a:pt x="10512542" y="2926079"/>
                  </a:lnTo>
                  <a:lnTo>
                    <a:pt x="487689" y="2926079"/>
                  </a:lnTo>
                  <a:lnTo>
                    <a:pt x="440721" y="2923847"/>
                  </a:lnTo>
                  <a:lnTo>
                    <a:pt x="395017" y="2917286"/>
                  </a:lnTo>
                  <a:lnTo>
                    <a:pt x="350780" y="2906600"/>
                  </a:lnTo>
                  <a:lnTo>
                    <a:pt x="308215" y="2891994"/>
                  </a:lnTo>
                  <a:lnTo>
                    <a:pt x="267526" y="2873673"/>
                  </a:lnTo>
                  <a:lnTo>
                    <a:pt x="228917" y="2851841"/>
                  </a:lnTo>
                  <a:lnTo>
                    <a:pt x="192594" y="2826701"/>
                  </a:lnTo>
                  <a:lnTo>
                    <a:pt x="158760" y="2798459"/>
                  </a:lnTo>
                  <a:lnTo>
                    <a:pt x="127620" y="2767319"/>
                  </a:lnTo>
                  <a:lnTo>
                    <a:pt x="99378" y="2733485"/>
                  </a:lnTo>
                  <a:lnTo>
                    <a:pt x="74239" y="2697162"/>
                  </a:lnTo>
                  <a:lnTo>
                    <a:pt x="52406" y="2658553"/>
                  </a:lnTo>
                  <a:lnTo>
                    <a:pt x="34085" y="2617864"/>
                  </a:lnTo>
                  <a:lnTo>
                    <a:pt x="19479" y="2575299"/>
                  </a:lnTo>
                  <a:lnTo>
                    <a:pt x="8793" y="2531062"/>
                  </a:lnTo>
                  <a:lnTo>
                    <a:pt x="2232" y="2485357"/>
                  </a:lnTo>
                  <a:lnTo>
                    <a:pt x="0" y="2438389"/>
                  </a:lnTo>
                  <a:lnTo>
                    <a:pt x="0" y="487689"/>
                  </a:lnTo>
                  <a:close/>
                </a:path>
              </a:pathLst>
            </a:custGeom>
            <a:ln w="19049">
              <a:solidFill>
                <a:srgbClr val="1E39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9597" y="3224357"/>
              <a:ext cx="11089757" cy="52843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94359" y="3246120"/>
              <a:ext cx="11000740" cy="439420"/>
            </a:xfrm>
            <a:custGeom>
              <a:avLst/>
              <a:gdLst/>
              <a:ahLst/>
              <a:cxnLst/>
              <a:rect l="l" t="t" r="r" b="b"/>
              <a:pathLst>
                <a:path w="11000740" h="439420">
                  <a:moveTo>
                    <a:pt x="10927078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10927078" y="0"/>
                  </a:lnTo>
                  <a:lnTo>
                    <a:pt x="10967663" y="12290"/>
                  </a:lnTo>
                  <a:lnTo>
                    <a:pt x="10994663" y="45158"/>
                  </a:lnTo>
                  <a:lnTo>
                    <a:pt x="11000232" y="73153"/>
                  </a:lnTo>
                  <a:lnTo>
                    <a:pt x="11000232" y="365758"/>
                  </a:lnTo>
                  <a:lnTo>
                    <a:pt x="10994483" y="394233"/>
                  </a:lnTo>
                  <a:lnTo>
                    <a:pt x="10978805" y="417485"/>
                  </a:lnTo>
                  <a:lnTo>
                    <a:pt x="10955553" y="433163"/>
                  </a:lnTo>
                  <a:lnTo>
                    <a:pt x="10927078" y="438911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94359" y="3246120"/>
              <a:ext cx="11000740" cy="439420"/>
            </a:xfrm>
            <a:custGeom>
              <a:avLst/>
              <a:gdLst/>
              <a:ahLst/>
              <a:cxnLst/>
              <a:rect l="l" t="t" r="r" b="b"/>
              <a:pathLst>
                <a:path w="11000740" h="439420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10927078" y="0"/>
                  </a:lnTo>
                  <a:lnTo>
                    <a:pt x="10967663" y="12290"/>
                  </a:lnTo>
                  <a:lnTo>
                    <a:pt x="10994663" y="45158"/>
                  </a:lnTo>
                  <a:lnTo>
                    <a:pt x="11000232" y="73153"/>
                  </a:lnTo>
                  <a:lnTo>
                    <a:pt x="11000232" y="365758"/>
                  </a:lnTo>
                  <a:lnTo>
                    <a:pt x="10994483" y="394233"/>
                  </a:lnTo>
                  <a:lnTo>
                    <a:pt x="10978805" y="417485"/>
                  </a:lnTo>
                  <a:lnTo>
                    <a:pt x="10955553" y="433163"/>
                  </a:lnTo>
                  <a:lnTo>
                    <a:pt x="10927078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05641" y="3369487"/>
              <a:ext cx="221258" cy="208243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3654382" y="3343846"/>
            <a:ext cx="50653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FORMAL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PEAS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INTELLIGENT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AGENT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FRAMEWORK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(CS23533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–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UNIT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I)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64540" y="3688619"/>
            <a:ext cx="2475230" cy="160655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5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35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350" b="1" spc="-2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Performance</a:t>
            </a:r>
            <a:r>
              <a:rPr sz="1350" b="1" spc="-2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spc="-1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Measure</a:t>
            </a:r>
            <a:endParaRPr sz="1350">
              <a:latin typeface="Calibri" panose="020F0502020204030204"/>
              <a:cs typeface="Calibri" panose="020F0502020204030204"/>
            </a:endParaRPr>
          </a:p>
          <a:p>
            <a:pPr marL="122555" indent="-109855">
              <a:lnSpc>
                <a:spcPct val="100000"/>
              </a:lnSpc>
              <a:spcBef>
                <a:spcPts val="605"/>
              </a:spcBef>
              <a:buChar char="•"/>
              <a:tabLst>
                <a:tab pos="122555" algn="l"/>
              </a:tabLst>
            </a:pP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Precision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shortlists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2555" indent="-109855">
              <a:lnSpc>
                <a:spcPct val="100000"/>
              </a:lnSpc>
              <a:spcBef>
                <a:spcPts val="300"/>
              </a:spcBef>
              <a:buChar char="•"/>
              <a:tabLst>
                <a:tab pos="122555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100%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explainability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proof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trace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794385" indent="109855">
              <a:lnSpc>
                <a:spcPct val="100000"/>
              </a:lnSpc>
              <a:spcBef>
                <a:spcPts val="300"/>
              </a:spcBef>
              <a:buChar char="•"/>
              <a:tabLst>
                <a:tab pos="122555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demographic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bias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6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&amp;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discrimination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320040" indent="109855">
              <a:lnSpc>
                <a:spcPct val="100000"/>
              </a:lnSpc>
              <a:spcBef>
                <a:spcPts val="300"/>
              </a:spcBef>
              <a:buChar char="•"/>
              <a:tabLst>
                <a:tab pos="122555" algn="l"/>
              </a:tabLst>
            </a:pP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Sub-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50ms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evaluation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latency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per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resume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507740" y="3688619"/>
            <a:ext cx="2487930" cy="142367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3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3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Environment</a:t>
            </a:r>
            <a:endParaRPr sz="1350">
              <a:latin typeface="Calibri" panose="020F0502020204030204"/>
              <a:cs typeface="Calibri" panose="020F0502020204030204"/>
            </a:endParaRPr>
          </a:p>
          <a:p>
            <a:pPr marL="122555" indent="-109855">
              <a:lnSpc>
                <a:spcPct val="100000"/>
              </a:lnSpc>
              <a:spcBef>
                <a:spcPts val="605"/>
              </a:spcBef>
              <a:buChar char="•"/>
              <a:tabLst>
                <a:tab pos="122555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Unstructured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resumes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(PDF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DOCX)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2555" indent="-109855">
              <a:lnSpc>
                <a:spcPct val="100000"/>
              </a:lnSpc>
              <a:spcBef>
                <a:spcPts val="300"/>
              </a:spcBef>
              <a:buChar char="•"/>
              <a:tabLst>
                <a:tab pos="122555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job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constraint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postings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2555" indent="-109855">
              <a:lnSpc>
                <a:spcPct val="100000"/>
              </a:lnSpc>
              <a:spcBef>
                <a:spcPts val="300"/>
              </a:spcBef>
              <a:buChar char="•"/>
              <a:tabLst>
                <a:tab pos="122555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40+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domain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taxonomy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ontologies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486410" indent="109855">
              <a:lnSpc>
                <a:spcPct val="100000"/>
              </a:lnSpc>
              <a:spcBef>
                <a:spcPts val="300"/>
              </a:spcBef>
              <a:buChar char="•"/>
              <a:tabLst>
                <a:tab pos="122555" algn="l"/>
              </a:tabLst>
            </a:pP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Academic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degree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qualification hierarchies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250940" y="3688619"/>
            <a:ext cx="2428240" cy="124079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50" b="1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350" b="1" spc="-5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350" b="1" spc="-5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spc="-10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Actuators</a:t>
            </a:r>
            <a:endParaRPr sz="1350">
              <a:latin typeface="Calibri" panose="020F0502020204030204"/>
              <a:cs typeface="Calibri" panose="020F0502020204030204"/>
            </a:endParaRPr>
          </a:p>
          <a:p>
            <a:pPr marL="122555" indent="-109855">
              <a:lnSpc>
                <a:spcPct val="100000"/>
              </a:lnSpc>
              <a:spcBef>
                <a:spcPts val="605"/>
              </a:spcBef>
              <a:buChar char="•"/>
              <a:tabLst>
                <a:tab pos="122555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Ranked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leaderboards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2555" indent="-109855">
              <a:lnSpc>
                <a:spcPct val="100000"/>
              </a:lnSpc>
              <a:spcBef>
                <a:spcPts val="300"/>
              </a:spcBef>
              <a:buChar char="•"/>
              <a:tabLst>
                <a:tab pos="122555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Application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status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(Shortlist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Reject)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2555" indent="-109855">
              <a:lnSpc>
                <a:spcPct val="100000"/>
              </a:lnSpc>
              <a:spcBef>
                <a:spcPts val="300"/>
              </a:spcBef>
              <a:buChar char="•"/>
              <a:tabLst>
                <a:tab pos="122555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Granular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explainable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audit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modals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2555" indent="-109855">
              <a:lnSpc>
                <a:spcPct val="100000"/>
              </a:lnSpc>
              <a:spcBef>
                <a:spcPts val="300"/>
              </a:spcBef>
              <a:buChar char="•"/>
              <a:tabLst>
                <a:tab pos="122555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gap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feedback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notifications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994140" y="3688619"/>
            <a:ext cx="2560955" cy="142367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5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350" b="1" spc="-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350" b="1" spc="-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spc="-1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Sensors</a:t>
            </a:r>
            <a:endParaRPr sz="1350">
              <a:latin typeface="Calibri" panose="020F0502020204030204"/>
              <a:cs typeface="Calibri" panose="020F0502020204030204"/>
            </a:endParaRPr>
          </a:p>
          <a:p>
            <a:pPr marL="12700" marR="294640" indent="109855">
              <a:lnSpc>
                <a:spcPct val="100000"/>
              </a:lnSpc>
              <a:spcBef>
                <a:spcPts val="605"/>
              </a:spcBef>
              <a:buChar char="•"/>
              <a:tabLst>
                <a:tab pos="122555" algn="l"/>
              </a:tabLst>
            </a:pP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Non-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ML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PDF/DOCX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document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text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streams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2555" indent="-109855">
              <a:lnSpc>
                <a:spcPct val="100000"/>
              </a:lnSpc>
              <a:spcBef>
                <a:spcPts val="300"/>
              </a:spcBef>
              <a:buChar char="•"/>
              <a:tabLst>
                <a:tab pos="122555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constraint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web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form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inputs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2555" indent="-109855">
              <a:lnSpc>
                <a:spcPct val="100000"/>
              </a:lnSpc>
              <a:spcBef>
                <a:spcPts val="300"/>
              </a:spcBef>
              <a:buChar char="•"/>
              <a:tabLst>
                <a:tab pos="122555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profile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forms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2555" indent="-109855">
              <a:lnSpc>
                <a:spcPct val="100000"/>
              </a:lnSpc>
              <a:spcBef>
                <a:spcPts val="300"/>
              </a:spcBef>
              <a:buChar char="•"/>
              <a:tabLst>
                <a:tab pos="122555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Supabase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PostgreSQL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database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queries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55" dirty="0"/>
              <a:t> </a:t>
            </a:r>
            <a:r>
              <a:rPr dirty="0"/>
              <a:t>Architecture</a:t>
            </a:r>
            <a:r>
              <a:rPr spc="-50" dirty="0"/>
              <a:t> </a:t>
            </a:r>
            <a:r>
              <a:rPr dirty="0"/>
              <a:t>/</a:t>
            </a:r>
            <a:r>
              <a:rPr spc="-50" dirty="0"/>
              <a:t> </a:t>
            </a:r>
            <a:r>
              <a:rPr dirty="0"/>
              <a:t>Block</a:t>
            </a:r>
            <a:r>
              <a:rPr spc="-50" dirty="0"/>
              <a:t> </a:t>
            </a:r>
            <a:r>
              <a:rPr spc="-10" dirty="0"/>
              <a:t>Diagram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559890" y="155447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835" y="1207915"/>
            <a:ext cx="2065020" cy="2887980"/>
            <a:chOff x="544835" y="1207915"/>
            <a:chExt cx="2065020" cy="288798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1207915"/>
              <a:ext cx="2065010" cy="28879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234439"/>
              <a:ext cx="1965960" cy="2788920"/>
            </a:xfrm>
            <a:custGeom>
              <a:avLst/>
              <a:gdLst/>
              <a:ahLst/>
              <a:cxnLst/>
              <a:rect l="l" t="t" r="r" b="b"/>
              <a:pathLst>
                <a:path w="1965960" h="2788920">
                  <a:moveTo>
                    <a:pt x="1638293" y="2788919"/>
                  </a:moveTo>
                  <a:lnTo>
                    <a:pt x="327666" y="2788919"/>
                  </a:lnTo>
                  <a:lnTo>
                    <a:pt x="279246" y="2785367"/>
                  </a:lnTo>
                  <a:lnTo>
                    <a:pt x="233032" y="2775046"/>
                  </a:lnTo>
                  <a:lnTo>
                    <a:pt x="189530" y="2758465"/>
                  </a:lnTo>
                  <a:lnTo>
                    <a:pt x="149248" y="2736130"/>
                  </a:lnTo>
                  <a:lnTo>
                    <a:pt x="112693" y="2708548"/>
                  </a:lnTo>
                  <a:lnTo>
                    <a:pt x="80371" y="2676226"/>
                  </a:lnTo>
                  <a:lnTo>
                    <a:pt x="52789" y="2639671"/>
                  </a:lnTo>
                  <a:lnTo>
                    <a:pt x="30454" y="2599389"/>
                  </a:lnTo>
                  <a:lnTo>
                    <a:pt x="13873" y="2555887"/>
                  </a:lnTo>
                  <a:lnTo>
                    <a:pt x="3552" y="2509673"/>
                  </a:lnTo>
                  <a:lnTo>
                    <a:pt x="0" y="2461253"/>
                  </a:lnTo>
                  <a:lnTo>
                    <a:pt x="0" y="327666"/>
                  </a:ln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1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1638293" y="0"/>
                  </a:lnTo>
                  <a:lnTo>
                    <a:pt x="1689861" y="4081"/>
                  </a:lnTo>
                  <a:lnTo>
                    <a:pt x="1739694" y="16084"/>
                  </a:lnTo>
                  <a:lnTo>
                    <a:pt x="1786913" y="35643"/>
                  </a:lnTo>
                  <a:lnTo>
                    <a:pt x="1830638" y="62393"/>
                  </a:lnTo>
                  <a:lnTo>
                    <a:pt x="1869988" y="95971"/>
                  </a:lnTo>
                  <a:lnTo>
                    <a:pt x="1903566" y="135321"/>
                  </a:lnTo>
                  <a:lnTo>
                    <a:pt x="1930316" y="179046"/>
                  </a:lnTo>
                  <a:lnTo>
                    <a:pt x="1949875" y="226265"/>
                  </a:lnTo>
                  <a:lnTo>
                    <a:pt x="1961878" y="276098"/>
                  </a:lnTo>
                  <a:lnTo>
                    <a:pt x="1965959" y="327666"/>
                  </a:lnTo>
                  <a:lnTo>
                    <a:pt x="1965959" y="2461253"/>
                  </a:lnTo>
                  <a:lnTo>
                    <a:pt x="1962407" y="2509673"/>
                  </a:lnTo>
                  <a:lnTo>
                    <a:pt x="1952086" y="2555887"/>
                  </a:lnTo>
                  <a:lnTo>
                    <a:pt x="1935505" y="2599389"/>
                  </a:lnTo>
                  <a:lnTo>
                    <a:pt x="1913170" y="2639671"/>
                  </a:lnTo>
                  <a:lnTo>
                    <a:pt x="1885588" y="2676226"/>
                  </a:lnTo>
                  <a:lnTo>
                    <a:pt x="1853266" y="2708548"/>
                  </a:lnTo>
                  <a:lnTo>
                    <a:pt x="1816711" y="2736130"/>
                  </a:lnTo>
                  <a:lnTo>
                    <a:pt x="1776429" y="2758465"/>
                  </a:lnTo>
                  <a:lnTo>
                    <a:pt x="1732927" y="2775046"/>
                  </a:lnTo>
                  <a:lnTo>
                    <a:pt x="1686713" y="2785367"/>
                  </a:lnTo>
                  <a:lnTo>
                    <a:pt x="1638293" y="27889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359" y="1234439"/>
              <a:ext cx="1965960" cy="2788920"/>
            </a:xfrm>
            <a:custGeom>
              <a:avLst/>
              <a:gdLst/>
              <a:ahLst/>
              <a:cxnLst/>
              <a:rect l="l" t="t" r="r" b="b"/>
              <a:pathLst>
                <a:path w="1965960" h="2788920">
                  <a:moveTo>
                    <a:pt x="0" y="327666"/>
                  </a:move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1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1638293" y="0"/>
                  </a:lnTo>
                  <a:lnTo>
                    <a:pt x="1689861" y="4081"/>
                  </a:lnTo>
                  <a:lnTo>
                    <a:pt x="1739694" y="16084"/>
                  </a:lnTo>
                  <a:lnTo>
                    <a:pt x="1786913" y="35643"/>
                  </a:lnTo>
                  <a:lnTo>
                    <a:pt x="1830638" y="62393"/>
                  </a:lnTo>
                  <a:lnTo>
                    <a:pt x="1869988" y="95971"/>
                  </a:lnTo>
                  <a:lnTo>
                    <a:pt x="1903566" y="135321"/>
                  </a:lnTo>
                  <a:lnTo>
                    <a:pt x="1930316" y="179046"/>
                  </a:lnTo>
                  <a:lnTo>
                    <a:pt x="1949875" y="226265"/>
                  </a:lnTo>
                  <a:lnTo>
                    <a:pt x="1961878" y="276098"/>
                  </a:lnTo>
                  <a:lnTo>
                    <a:pt x="1965959" y="327666"/>
                  </a:lnTo>
                  <a:lnTo>
                    <a:pt x="1965959" y="2461253"/>
                  </a:lnTo>
                  <a:lnTo>
                    <a:pt x="1962407" y="2509673"/>
                  </a:lnTo>
                  <a:lnTo>
                    <a:pt x="1952086" y="2555887"/>
                  </a:lnTo>
                  <a:lnTo>
                    <a:pt x="1935505" y="2599389"/>
                  </a:lnTo>
                  <a:lnTo>
                    <a:pt x="1913170" y="2639671"/>
                  </a:lnTo>
                  <a:lnTo>
                    <a:pt x="1885588" y="2676226"/>
                  </a:lnTo>
                  <a:lnTo>
                    <a:pt x="1853266" y="2708548"/>
                  </a:lnTo>
                  <a:lnTo>
                    <a:pt x="1816711" y="2736130"/>
                  </a:lnTo>
                  <a:lnTo>
                    <a:pt x="1776429" y="2758465"/>
                  </a:lnTo>
                  <a:lnTo>
                    <a:pt x="1732927" y="2775046"/>
                  </a:lnTo>
                  <a:lnTo>
                    <a:pt x="1686713" y="2785367"/>
                  </a:lnTo>
                  <a:lnTo>
                    <a:pt x="1638293" y="2788919"/>
                  </a:lnTo>
                  <a:lnTo>
                    <a:pt x="327666" y="2788919"/>
                  </a:lnTo>
                  <a:lnTo>
                    <a:pt x="279246" y="2785367"/>
                  </a:lnTo>
                  <a:lnTo>
                    <a:pt x="233032" y="2775046"/>
                  </a:lnTo>
                  <a:lnTo>
                    <a:pt x="189530" y="2758465"/>
                  </a:lnTo>
                  <a:lnTo>
                    <a:pt x="149248" y="2736130"/>
                  </a:lnTo>
                  <a:lnTo>
                    <a:pt x="112693" y="2708548"/>
                  </a:lnTo>
                  <a:lnTo>
                    <a:pt x="80371" y="2676226"/>
                  </a:lnTo>
                  <a:lnTo>
                    <a:pt x="52789" y="2639671"/>
                  </a:lnTo>
                  <a:lnTo>
                    <a:pt x="30454" y="2599389"/>
                  </a:lnTo>
                  <a:lnTo>
                    <a:pt x="13873" y="2555887"/>
                  </a:lnTo>
                  <a:lnTo>
                    <a:pt x="3552" y="2509673"/>
                  </a:lnTo>
                  <a:lnTo>
                    <a:pt x="0" y="2461253"/>
                  </a:lnTo>
                  <a:lnTo>
                    <a:pt x="0" y="327666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549597" y="1212677"/>
            <a:ext cx="2055495" cy="501015"/>
            <a:chOff x="549597" y="1212677"/>
            <a:chExt cx="2055495" cy="50101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7" y="1212677"/>
              <a:ext cx="2055485" cy="50100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59" y="1234439"/>
              <a:ext cx="1965960" cy="411480"/>
            </a:xfrm>
            <a:custGeom>
              <a:avLst/>
              <a:gdLst/>
              <a:ahLst/>
              <a:cxnLst/>
              <a:rect l="l" t="t" r="r" b="b"/>
              <a:pathLst>
                <a:path w="1965960" h="411480">
                  <a:moveTo>
                    <a:pt x="1897378" y="411479"/>
                  </a:moveTo>
                  <a:lnTo>
                    <a:pt x="68581" y="411479"/>
                  </a:lnTo>
                  <a:lnTo>
                    <a:pt x="41886" y="406090"/>
                  </a:lnTo>
                  <a:lnTo>
                    <a:pt x="20087" y="391392"/>
                  </a:lnTo>
                  <a:lnTo>
                    <a:pt x="5389" y="369593"/>
                  </a:lnTo>
                  <a:lnTo>
                    <a:pt x="0" y="342898"/>
                  </a:lnTo>
                  <a:lnTo>
                    <a:pt x="0" y="68581"/>
                  </a:lnTo>
                  <a:lnTo>
                    <a:pt x="5389" y="41886"/>
                  </a:lnTo>
                  <a:lnTo>
                    <a:pt x="20087" y="20087"/>
                  </a:lnTo>
                  <a:lnTo>
                    <a:pt x="41886" y="5389"/>
                  </a:lnTo>
                  <a:lnTo>
                    <a:pt x="68581" y="0"/>
                  </a:lnTo>
                  <a:lnTo>
                    <a:pt x="1897378" y="0"/>
                  </a:lnTo>
                  <a:lnTo>
                    <a:pt x="1935427" y="11522"/>
                  </a:lnTo>
                  <a:lnTo>
                    <a:pt x="1960739" y="42336"/>
                  </a:lnTo>
                  <a:lnTo>
                    <a:pt x="1965959" y="68581"/>
                  </a:lnTo>
                  <a:lnTo>
                    <a:pt x="1965959" y="342898"/>
                  </a:lnTo>
                  <a:lnTo>
                    <a:pt x="1960570" y="369593"/>
                  </a:lnTo>
                  <a:lnTo>
                    <a:pt x="1945872" y="391392"/>
                  </a:lnTo>
                  <a:lnTo>
                    <a:pt x="1924073" y="406090"/>
                  </a:lnTo>
                  <a:lnTo>
                    <a:pt x="1897378" y="41147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4359" y="1234439"/>
              <a:ext cx="1965960" cy="411480"/>
            </a:xfrm>
            <a:custGeom>
              <a:avLst/>
              <a:gdLst/>
              <a:ahLst/>
              <a:cxnLst/>
              <a:rect l="l" t="t" r="r" b="b"/>
              <a:pathLst>
                <a:path w="1965960" h="411480">
                  <a:moveTo>
                    <a:pt x="0" y="68581"/>
                  </a:moveTo>
                  <a:lnTo>
                    <a:pt x="5389" y="41886"/>
                  </a:lnTo>
                  <a:lnTo>
                    <a:pt x="20087" y="20087"/>
                  </a:lnTo>
                  <a:lnTo>
                    <a:pt x="41886" y="5389"/>
                  </a:lnTo>
                  <a:lnTo>
                    <a:pt x="68581" y="0"/>
                  </a:lnTo>
                  <a:lnTo>
                    <a:pt x="1897378" y="0"/>
                  </a:lnTo>
                  <a:lnTo>
                    <a:pt x="1935427" y="11522"/>
                  </a:lnTo>
                  <a:lnTo>
                    <a:pt x="1960739" y="42336"/>
                  </a:lnTo>
                  <a:lnTo>
                    <a:pt x="1965959" y="68581"/>
                  </a:lnTo>
                  <a:lnTo>
                    <a:pt x="1965959" y="342898"/>
                  </a:lnTo>
                  <a:lnTo>
                    <a:pt x="1960570" y="369593"/>
                  </a:lnTo>
                  <a:lnTo>
                    <a:pt x="1945872" y="391392"/>
                  </a:lnTo>
                  <a:lnTo>
                    <a:pt x="1924073" y="406090"/>
                  </a:lnTo>
                  <a:lnTo>
                    <a:pt x="1897378" y="411479"/>
                  </a:lnTo>
                  <a:lnTo>
                    <a:pt x="68581" y="411479"/>
                  </a:lnTo>
                  <a:lnTo>
                    <a:pt x="41886" y="406090"/>
                  </a:lnTo>
                  <a:lnTo>
                    <a:pt x="20087" y="391392"/>
                  </a:lnTo>
                  <a:lnTo>
                    <a:pt x="5389" y="369593"/>
                  </a:lnTo>
                  <a:lnTo>
                    <a:pt x="0" y="342898"/>
                  </a:lnTo>
                  <a:lnTo>
                    <a:pt x="0" y="6858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92270" y="1318450"/>
            <a:ext cx="11677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1.</a:t>
            </a:r>
            <a:r>
              <a:rPr sz="1400" b="1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INPUT</a:t>
            </a:r>
            <a:r>
              <a:rPr sz="1400" b="1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LAYER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2405" y="2363723"/>
            <a:ext cx="1354455" cy="1249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marR="5080" indent="-69215">
              <a:lnSpc>
                <a:spcPct val="100000"/>
              </a:lnSpc>
              <a:spcBef>
                <a:spcPts val="100"/>
              </a:spcBef>
              <a:buChar char="•"/>
              <a:tabLst>
                <a:tab pos="81280" algn="l"/>
                <a:tab pos="121920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Resumes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(PDF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DOCX)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81280" marR="45720" indent="-69215">
              <a:lnSpc>
                <a:spcPct val="100000"/>
              </a:lnSpc>
              <a:spcBef>
                <a:spcPts val="500"/>
              </a:spcBef>
              <a:buChar char="•"/>
              <a:tabLst>
                <a:tab pos="81280" algn="l"/>
                <a:tab pos="121920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Job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Posts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Criteria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81280" marR="69850" indent="-69215">
              <a:lnSpc>
                <a:spcPct val="100000"/>
              </a:lnSpc>
              <a:spcBef>
                <a:spcPts val="500"/>
              </a:spcBef>
              <a:buChar char="•"/>
              <a:tabLst>
                <a:tab pos="81280" algn="l"/>
                <a:tab pos="121920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Dual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React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SPAs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(Ports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5173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5174)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03403" y="1207915"/>
            <a:ext cx="2065020" cy="2887980"/>
            <a:chOff x="2803403" y="1207915"/>
            <a:chExt cx="2065020" cy="2887980"/>
          </a:xfrm>
        </p:grpSpPr>
        <p:pic>
          <p:nvPicPr>
            <p:cNvPr id="15" name="object 1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03403" y="1207915"/>
              <a:ext cx="2065010" cy="288797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852928" y="1234439"/>
              <a:ext cx="1965960" cy="2788920"/>
            </a:xfrm>
            <a:custGeom>
              <a:avLst/>
              <a:gdLst/>
              <a:ahLst/>
              <a:cxnLst/>
              <a:rect l="l" t="t" r="r" b="b"/>
              <a:pathLst>
                <a:path w="1965960" h="2788920">
                  <a:moveTo>
                    <a:pt x="1638293" y="2788919"/>
                  </a:moveTo>
                  <a:lnTo>
                    <a:pt x="327666" y="2788919"/>
                  </a:lnTo>
                  <a:lnTo>
                    <a:pt x="279246" y="2785367"/>
                  </a:lnTo>
                  <a:lnTo>
                    <a:pt x="233032" y="2775046"/>
                  </a:lnTo>
                  <a:lnTo>
                    <a:pt x="189530" y="2758465"/>
                  </a:lnTo>
                  <a:lnTo>
                    <a:pt x="149248" y="2736130"/>
                  </a:lnTo>
                  <a:lnTo>
                    <a:pt x="112693" y="2708548"/>
                  </a:lnTo>
                  <a:lnTo>
                    <a:pt x="80371" y="2676226"/>
                  </a:lnTo>
                  <a:lnTo>
                    <a:pt x="52789" y="2639671"/>
                  </a:lnTo>
                  <a:lnTo>
                    <a:pt x="30454" y="2599389"/>
                  </a:lnTo>
                  <a:lnTo>
                    <a:pt x="13873" y="2555887"/>
                  </a:lnTo>
                  <a:lnTo>
                    <a:pt x="3552" y="2509673"/>
                  </a:lnTo>
                  <a:lnTo>
                    <a:pt x="0" y="2461253"/>
                  </a:lnTo>
                  <a:lnTo>
                    <a:pt x="0" y="327666"/>
                  </a:ln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1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1638293" y="0"/>
                  </a:lnTo>
                  <a:lnTo>
                    <a:pt x="1689861" y="4081"/>
                  </a:lnTo>
                  <a:lnTo>
                    <a:pt x="1739694" y="16084"/>
                  </a:lnTo>
                  <a:lnTo>
                    <a:pt x="1786913" y="35643"/>
                  </a:lnTo>
                  <a:lnTo>
                    <a:pt x="1830638" y="62393"/>
                  </a:lnTo>
                  <a:lnTo>
                    <a:pt x="1869988" y="95971"/>
                  </a:lnTo>
                  <a:lnTo>
                    <a:pt x="1903566" y="135321"/>
                  </a:lnTo>
                  <a:lnTo>
                    <a:pt x="1930316" y="179046"/>
                  </a:lnTo>
                  <a:lnTo>
                    <a:pt x="1949875" y="226265"/>
                  </a:lnTo>
                  <a:lnTo>
                    <a:pt x="1961878" y="276098"/>
                  </a:lnTo>
                  <a:lnTo>
                    <a:pt x="1965959" y="327666"/>
                  </a:lnTo>
                  <a:lnTo>
                    <a:pt x="1965959" y="2461253"/>
                  </a:lnTo>
                  <a:lnTo>
                    <a:pt x="1962407" y="2509673"/>
                  </a:lnTo>
                  <a:lnTo>
                    <a:pt x="1952086" y="2555887"/>
                  </a:lnTo>
                  <a:lnTo>
                    <a:pt x="1935505" y="2599389"/>
                  </a:lnTo>
                  <a:lnTo>
                    <a:pt x="1913170" y="2639671"/>
                  </a:lnTo>
                  <a:lnTo>
                    <a:pt x="1885588" y="2676226"/>
                  </a:lnTo>
                  <a:lnTo>
                    <a:pt x="1853266" y="2708548"/>
                  </a:lnTo>
                  <a:lnTo>
                    <a:pt x="1816711" y="2736130"/>
                  </a:lnTo>
                  <a:lnTo>
                    <a:pt x="1776429" y="2758465"/>
                  </a:lnTo>
                  <a:lnTo>
                    <a:pt x="1732927" y="2775046"/>
                  </a:lnTo>
                  <a:lnTo>
                    <a:pt x="1686713" y="2785367"/>
                  </a:lnTo>
                  <a:lnTo>
                    <a:pt x="1638293" y="27889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852928" y="1234439"/>
              <a:ext cx="1965960" cy="2788920"/>
            </a:xfrm>
            <a:custGeom>
              <a:avLst/>
              <a:gdLst/>
              <a:ahLst/>
              <a:cxnLst/>
              <a:rect l="l" t="t" r="r" b="b"/>
              <a:pathLst>
                <a:path w="1965960" h="2788920">
                  <a:moveTo>
                    <a:pt x="0" y="327666"/>
                  </a:move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1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1638293" y="0"/>
                  </a:lnTo>
                  <a:lnTo>
                    <a:pt x="1689861" y="4081"/>
                  </a:lnTo>
                  <a:lnTo>
                    <a:pt x="1739694" y="16084"/>
                  </a:lnTo>
                  <a:lnTo>
                    <a:pt x="1786913" y="35643"/>
                  </a:lnTo>
                  <a:lnTo>
                    <a:pt x="1830638" y="62393"/>
                  </a:lnTo>
                  <a:lnTo>
                    <a:pt x="1869988" y="95971"/>
                  </a:lnTo>
                  <a:lnTo>
                    <a:pt x="1903566" y="135321"/>
                  </a:lnTo>
                  <a:lnTo>
                    <a:pt x="1930316" y="179046"/>
                  </a:lnTo>
                  <a:lnTo>
                    <a:pt x="1949875" y="226265"/>
                  </a:lnTo>
                  <a:lnTo>
                    <a:pt x="1961878" y="276098"/>
                  </a:lnTo>
                  <a:lnTo>
                    <a:pt x="1965959" y="327666"/>
                  </a:lnTo>
                  <a:lnTo>
                    <a:pt x="1965959" y="2461253"/>
                  </a:lnTo>
                  <a:lnTo>
                    <a:pt x="1962407" y="2509673"/>
                  </a:lnTo>
                  <a:lnTo>
                    <a:pt x="1952086" y="2555887"/>
                  </a:lnTo>
                  <a:lnTo>
                    <a:pt x="1935505" y="2599389"/>
                  </a:lnTo>
                  <a:lnTo>
                    <a:pt x="1913170" y="2639671"/>
                  </a:lnTo>
                  <a:lnTo>
                    <a:pt x="1885588" y="2676226"/>
                  </a:lnTo>
                  <a:lnTo>
                    <a:pt x="1853266" y="2708548"/>
                  </a:lnTo>
                  <a:lnTo>
                    <a:pt x="1816711" y="2736130"/>
                  </a:lnTo>
                  <a:lnTo>
                    <a:pt x="1776429" y="2758465"/>
                  </a:lnTo>
                  <a:lnTo>
                    <a:pt x="1732927" y="2775046"/>
                  </a:lnTo>
                  <a:lnTo>
                    <a:pt x="1686713" y="2785367"/>
                  </a:lnTo>
                  <a:lnTo>
                    <a:pt x="1638293" y="2788919"/>
                  </a:lnTo>
                  <a:lnTo>
                    <a:pt x="327666" y="2788919"/>
                  </a:lnTo>
                  <a:lnTo>
                    <a:pt x="279246" y="2785367"/>
                  </a:lnTo>
                  <a:lnTo>
                    <a:pt x="233032" y="2775046"/>
                  </a:lnTo>
                  <a:lnTo>
                    <a:pt x="189530" y="2758465"/>
                  </a:lnTo>
                  <a:lnTo>
                    <a:pt x="149248" y="2736130"/>
                  </a:lnTo>
                  <a:lnTo>
                    <a:pt x="112693" y="2708548"/>
                  </a:lnTo>
                  <a:lnTo>
                    <a:pt x="80371" y="2676226"/>
                  </a:lnTo>
                  <a:lnTo>
                    <a:pt x="52789" y="2639671"/>
                  </a:lnTo>
                  <a:lnTo>
                    <a:pt x="30454" y="2599389"/>
                  </a:lnTo>
                  <a:lnTo>
                    <a:pt x="13873" y="2555887"/>
                  </a:lnTo>
                  <a:lnTo>
                    <a:pt x="3552" y="2509673"/>
                  </a:lnTo>
                  <a:lnTo>
                    <a:pt x="0" y="2461253"/>
                  </a:lnTo>
                  <a:lnTo>
                    <a:pt x="0" y="327666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2808165" y="1212677"/>
            <a:ext cx="2055495" cy="501015"/>
            <a:chOff x="2808165" y="1212677"/>
            <a:chExt cx="2055495" cy="50101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8165" y="1212677"/>
              <a:ext cx="2055485" cy="50100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852928" y="1234439"/>
              <a:ext cx="1965960" cy="411480"/>
            </a:xfrm>
            <a:custGeom>
              <a:avLst/>
              <a:gdLst/>
              <a:ahLst/>
              <a:cxnLst/>
              <a:rect l="l" t="t" r="r" b="b"/>
              <a:pathLst>
                <a:path w="1965960" h="411480">
                  <a:moveTo>
                    <a:pt x="1897378" y="411479"/>
                  </a:moveTo>
                  <a:lnTo>
                    <a:pt x="68581" y="411479"/>
                  </a:lnTo>
                  <a:lnTo>
                    <a:pt x="41886" y="406090"/>
                  </a:lnTo>
                  <a:lnTo>
                    <a:pt x="20087" y="391392"/>
                  </a:lnTo>
                  <a:lnTo>
                    <a:pt x="5389" y="369593"/>
                  </a:lnTo>
                  <a:lnTo>
                    <a:pt x="0" y="342898"/>
                  </a:lnTo>
                  <a:lnTo>
                    <a:pt x="0" y="68581"/>
                  </a:lnTo>
                  <a:lnTo>
                    <a:pt x="5389" y="41886"/>
                  </a:lnTo>
                  <a:lnTo>
                    <a:pt x="20087" y="20087"/>
                  </a:lnTo>
                  <a:lnTo>
                    <a:pt x="41886" y="5389"/>
                  </a:lnTo>
                  <a:lnTo>
                    <a:pt x="68581" y="0"/>
                  </a:lnTo>
                  <a:lnTo>
                    <a:pt x="1897378" y="0"/>
                  </a:lnTo>
                  <a:lnTo>
                    <a:pt x="1935427" y="11522"/>
                  </a:lnTo>
                  <a:lnTo>
                    <a:pt x="1960739" y="42336"/>
                  </a:lnTo>
                  <a:lnTo>
                    <a:pt x="1965959" y="68581"/>
                  </a:lnTo>
                  <a:lnTo>
                    <a:pt x="1965959" y="342898"/>
                  </a:lnTo>
                  <a:lnTo>
                    <a:pt x="1960570" y="369593"/>
                  </a:lnTo>
                  <a:lnTo>
                    <a:pt x="1945873" y="391392"/>
                  </a:lnTo>
                  <a:lnTo>
                    <a:pt x="1924073" y="406090"/>
                  </a:lnTo>
                  <a:lnTo>
                    <a:pt x="1897378" y="411479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852928" y="1234439"/>
              <a:ext cx="1965960" cy="411480"/>
            </a:xfrm>
            <a:custGeom>
              <a:avLst/>
              <a:gdLst/>
              <a:ahLst/>
              <a:cxnLst/>
              <a:rect l="l" t="t" r="r" b="b"/>
              <a:pathLst>
                <a:path w="1965960" h="411480">
                  <a:moveTo>
                    <a:pt x="0" y="68581"/>
                  </a:moveTo>
                  <a:lnTo>
                    <a:pt x="5389" y="41886"/>
                  </a:lnTo>
                  <a:lnTo>
                    <a:pt x="20087" y="20087"/>
                  </a:lnTo>
                  <a:lnTo>
                    <a:pt x="41886" y="5389"/>
                  </a:lnTo>
                  <a:lnTo>
                    <a:pt x="68581" y="0"/>
                  </a:lnTo>
                  <a:lnTo>
                    <a:pt x="1897378" y="0"/>
                  </a:lnTo>
                  <a:lnTo>
                    <a:pt x="1935427" y="11522"/>
                  </a:lnTo>
                  <a:lnTo>
                    <a:pt x="1960739" y="42336"/>
                  </a:lnTo>
                  <a:lnTo>
                    <a:pt x="1965959" y="68581"/>
                  </a:lnTo>
                  <a:lnTo>
                    <a:pt x="1965959" y="342898"/>
                  </a:lnTo>
                  <a:lnTo>
                    <a:pt x="1960570" y="369593"/>
                  </a:lnTo>
                  <a:lnTo>
                    <a:pt x="1945873" y="391392"/>
                  </a:lnTo>
                  <a:lnTo>
                    <a:pt x="1924073" y="406090"/>
                  </a:lnTo>
                  <a:lnTo>
                    <a:pt x="1897378" y="411479"/>
                  </a:lnTo>
                  <a:lnTo>
                    <a:pt x="68581" y="411479"/>
                  </a:lnTo>
                  <a:lnTo>
                    <a:pt x="41886" y="406090"/>
                  </a:lnTo>
                  <a:lnTo>
                    <a:pt x="20087" y="391392"/>
                  </a:lnTo>
                  <a:lnTo>
                    <a:pt x="5389" y="369593"/>
                  </a:lnTo>
                  <a:lnTo>
                    <a:pt x="0" y="342898"/>
                  </a:lnTo>
                  <a:lnTo>
                    <a:pt x="0" y="68581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119746" y="1318450"/>
            <a:ext cx="14262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2.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PREPROCESSING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40973" y="2363723"/>
            <a:ext cx="1512570" cy="1249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marR="5080" indent="-69215">
              <a:lnSpc>
                <a:spcPct val="100000"/>
              </a:lnSpc>
              <a:spcBef>
                <a:spcPts val="100"/>
              </a:spcBef>
              <a:buChar char="•"/>
              <a:tabLst>
                <a:tab pos="81280" algn="l"/>
                <a:tab pos="121920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PyPDF2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DOCX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Parser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(Zero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ML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DL)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81280" marR="145415" indent="-69215">
              <a:lnSpc>
                <a:spcPct val="100000"/>
              </a:lnSpc>
              <a:spcBef>
                <a:spcPts val="500"/>
              </a:spcBef>
              <a:buChar char="•"/>
              <a:tabLst>
                <a:tab pos="81280" algn="l"/>
                <a:tab pos="121920" algn="l"/>
              </a:tabLst>
            </a:pP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Regex (Phone,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Email,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81280" marR="247650" indent="-69215">
              <a:lnSpc>
                <a:spcPct val="100000"/>
              </a:lnSpc>
              <a:spcBef>
                <a:spcPts val="500"/>
              </a:spcBef>
              <a:buChar char="•"/>
              <a:tabLst>
                <a:tab pos="81280" algn="l"/>
                <a:tab pos="121920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</a:t>
            </a:r>
            <a:r>
              <a:rPr sz="12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Alias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Resolver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(Word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Boundaries)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061971" y="1207915"/>
            <a:ext cx="2065020" cy="2887980"/>
            <a:chOff x="5061971" y="1207915"/>
            <a:chExt cx="2065020" cy="2887980"/>
          </a:xfrm>
        </p:grpSpPr>
        <p:pic>
          <p:nvPicPr>
            <p:cNvPr id="25" name="object 2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061971" y="1207915"/>
              <a:ext cx="2065010" cy="288797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111496" y="1234439"/>
              <a:ext cx="1965960" cy="2788920"/>
            </a:xfrm>
            <a:custGeom>
              <a:avLst/>
              <a:gdLst/>
              <a:ahLst/>
              <a:cxnLst/>
              <a:rect l="l" t="t" r="r" b="b"/>
              <a:pathLst>
                <a:path w="1965959" h="2788920">
                  <a:moveTo>
                    <a:pt x="1638292" y="2788919"/>
                  </a:moveTo>
                  <a:lnTo>
                    <a:pt x="327666" y="2788919"/>
                  </a:lnTo>
                  <a:lnTo>
                    <a:pt x="279246" y="2785367"/>
                  </a:lnTo>
                  <a:lnTo>
                    <a:pt x="233032" y="2775046"/>
                  </a:lnTo>
                  <a:lnTo>
                    <a:pt x="189530" y="2758465"/>
                  </a:lnTo>
                  <a:lnTo>
                    <a:pt x="149248" y="2736130"/>
                  </a:lnTo>
                  <a:lnTo>
                    <a:pt x="112693" y="2708548"/>
                  </a:lnTo>
                  <a:lnTo>
                    <a:pt x="80371" y="2676226"/>
                  </a:lnTo>
                  <a:lnTo>
                    <a:pt x="52789" y="2639671"/>
                  </a:lnTo>
                  <a:lnTo>
                    <a:pt x="30454" y="2599389"/>
                  </a:lnTo>
                  <a:lnTo>
                    <a:pt x="13873" y="2555887"/>
                  </a:lnTo>
                  <a:lnTo>
                    <a:pt x="3552" y="2509673"/>
                  </a:lnTo>
                  <a:lnTo>
                    <a:pt x="0" y="2461253"/>
                  </a:lnTo>
                  <a:lnTo>
                    <a:pt x="0" y="327666"/>
                  </a:ln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1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1638292" y="0"/>
                  </a:lnTo>
                  <a:lnTo>
                    <a:pt x="1689861" y="4081"/>
                  </a:lnTo>
                  <a:lnTo>
                    <a:pt x="1739694" y="16084"/>
                  </a:lnTo>
                  <a:lnTo>
                    <a:pt x="1786913" y="35643"/>
                  </a:lnTo>
                  <a:lnTo>
                    <a:pt x="1830638" y="62393"/>
                  </a:lnTo>
                  <a:lnTo>
                    <a:pt x="1869988" y="95971"/>
                  </a:lnTo>
                  <a:lnTo>
                    <a:pt x="1903566" y="135321"/>
                  </a:lnTo>
                  <a:lnTo>
                    <a:pt x="1930316" y="179046"/>
                  </a:lnTo>
                  <a:lnTo>
                    <a:pt x="1949875" y="226265"/>
                  </a:lnTo>
                  <a:lnTo>
                    <a:pt x="1961878" y="276098"/>
                  </a:lnTo>
                  <a:lnTo>
                    <a:pt x="1965960" y="327666"/>
                  </a:lnTo>
                  <a:lnTo>
                    <a:pt x="1965960" y="2461253"/>
                  </a:lnTo>
                  <a:lnTo>
                    <a:pt x="1962407" y="2509673"/>
                  </a:lnTo>
                  <a:lnTo>
                    <a:pt x="1952087" y="2555887"/>
                  </a:lnTo>
                  <a:lnTo>
                    <a:pt x="1935506" y="2599389"/>
                  </a:lnTo>
                  <a:lnTo>
                    <a:pt x="1913171" y="2639671"/>
                  </a:lnTo>
                  <a:lnTo>
                    <a:pt x="1885589" y="2676226"/>
                  </a:lnTo>
                  <a:lnTo>
                    <a:pt x="1853266" y="2708548"/>
                  </a:lnTo>
                  <a:lnTo>
                    <a:pt x="1816711" y="2736130"/>
                  </a:lnTo>
                  <a:lnTo>
                    <a:pt x="1776429" y="2758465"/>
                  </a:lnTo>
                  <a:lnTo>
                    <a:pt x="1732927" y="2775046"/>
                  </a:lnTo>
                  <a:lnTo>
                    <a:pt x="1686713" y="2785367"/>
                  </a:lnTo>
                  <a:lnTo>
                    <a:pt x="1638292" y="27889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111496" y="1234439"/>
              <a:ext cx="1965960" cy="2788920"/>
            </a:xfrm>
            <a:custGeom>
              <a:avLst/>
              <a:gdLst/>
              <a:ahLst/>
              <a:cxnLst/>
              <a:rect l="l" t="t" r="r" b="b"/>
              <a:pathLst>
                <a:path w="1965959" h="2788920">
                  <a:moveTo>
                    <a:pt x="0" y="327666"/>
                  </a:move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1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1638292" y="0"/>
                  </a:lnTo>
                  <a:lnTo>
                    <a:pt x="1689861" y="4081"/>
                  </a:lnTo>
                  <a:lnTo>
                    <a:pt x="1739694" y="16084"/>
                  </a:lnTo>
                  <a:lnTo>
                    <a:pt x="1786913" y="35643"/>
                  </a:lnTo>
                  <a:lnTo>
                    <a:pt x="1830638" y="62393"/>
                  </a:lnTo>
                  <a:lnTo>
                    <a:pt x="1869988" y="95971"/>
                  </a:lnTo>
                  <a:lnTo>
                    <a:pt x="1903566" y="135321"/>
                  </a:lnTo>
                  <a:lnTo>
                    <a:pt x="1930316" y="179046"/>
                  </a:lnTo>
                  <a:lnTo>
                    <a:pt x="1949875" y="226265"/>
                  </a:lnTo>
                  <a:lnTo>
                    <a:pt x="1961878" y="276098"/>
                  </a:lnTo>
                  <a:lnTo>
                    <a:pt x="1965960" y="327666"/>
                  </a:lnTo>
                  <a:lnTo>
                    <a:pt x="1965960" y="2461253"/>
                  </a:lnTo>
                  <a:lnTo>
                    <a:pt x="1962407" y="2509673"/>
                  </a:lnTo>
                  <a:lnTo>
                    <a:pt x="1952087" y="2555887"/>
                  </a:lnTo>
                  <a:lnTo>
                    <a:pt x="1935506" y="2599389"/>
                  </a:lnTo>
                  <a:lnTo>
                    <a:pt x="1913171" y="2639671"/>
                  </a:lnTo>
                  <a:lnTo>
                    <a:pt x="1885589" y="2676226"/>
                  </a:lnTo>
                  <a:lnTo>
                    <a:pt x="1853266" y="2708548"/>
                  </a:lnTo>
                  <a:lnTo>
                    <a:pt x="1816711" y="2736130"/>
                  </a:lnTo>
                  <a:lnTo>
                    <a:pt x="1776429" y="2758465"/>
                  </a:lnTo>
                  <a:lnTo>
                    <a:pt x="1732927" y="2775046"/>
                  </a:lnTo>
                  <a:lnTo>
                    <a:pt x="1686713" y="2785367"/>
                  </a:lnTo>
                  <a:lnTo>
                    <a:pt x="1638292" y="2788919"/>
                  </a:lnTo>
                  <a:lnTo>
                    <a:pt x="327666" y="2788919"/>
                  </a:lnTo>
                  <a:lnTo>
                    <a:pt x="279246" y="2785367"/>
                  </a:lnTo>
                  <a:lnTo>
                    <a:pt x="233032" y="2775046"/>
                  </a:lnTo>
                  <a:lnTo>
                    <a:pt x="189530" y="2758465"/>
                  </a:lnTo>
                  <a:lnTo>
                    <a:pt x="149248" y="2736130"/>
                  </a:lnTo>
                  <a:lnTo>
                    <a:pt x="112693" y="2708548"/>
                  </a:lnTo>
                  <a:lnTo>
                    <a:pt x="80371" y="2676226"/>
                  </a:lnTo>
                  <a:lnTo>
                    <a:pt x="52789" y="2639671"/>
                  </a:lnTo>
                  <a:lnTo>
                    <a:pt x="30454" y="2599389"/>
                  </a:lnTo>
                  <a:lnTo>
                    <a:pt x="13873" y="2555887"/>
                  </a:lnTo>
                  <a:lnTo>
                    <a:pt x="3552" y="2509673"/>
                  </a:lnTo>
                  <a:lnTo>
                    <a:pt x="0" y="2461253"/>
                  </a:lnTo>
                  <a:lnTo>
                    <a:pt x="0" y="327666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5066733" y="1212677"/>
            <a:ext cx="2055495" cy="501015"/>
            <a:chOff x="5066733" y="1212677"/>
            <a:chExt cx="2055495" cy="50101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6733" y="1212677"/>
              <a:ext cx="2055485" cy="50100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111496" y="1234439"/>
              <a:ext cx="1965960" cy="411480"/>
            </a:xfrm>
            <a:custGeom>
              <a:avLst/>
              <a:gdLst/>
              <a:ahLst/>
              <a:cxnLst/>
              <a:rect l="l" t="t" r="r" b="b"/>
              <a:pathLst>
                <a:path w="1965959" h="411480">
                  <a:moveTo>
                    <a:pt x="1897378" y="411479"/>
                  </a:moveTo>
                  <a:lnTo>
                    <a:pt x="68581" y="411479"/>
                  </a:lnTo>
                  <a:lnTo>
                    <a:pt x="41886" y="406090"/>
                  </a:lnTo>
                  <a:lnTo>
                    <a:pt x="20086" y="391392"/>
                  </a:lnTo>
                  <a:lnTo>
                    <a:pt x="5389" y="369593"/>
                  </a:lnTo>
                  <a:lnTo>
                    <a:pt x="0" y="342898"/>
                  </a:lnTo>
                  <a:lnTo>
                    <a:pt x="0" y="68581"/>
                  </a:lnTo>
                  <a:lnTo>
                    <a:pt x="5389" y="41886"/>
                  </a:lnTo>
                  <a:lnTo>
                    <a:pt x="20086" y="20087"/>
                  </a:lnTo>
                  <a:lnTo>
                    <a:pt x="41886" y="5389"/>
                  </a:lnTo>
                  <a:lnTo>
                    <a:pt x="68581" y="0"/>
                  </a:lnTo>
                  <a:lnTo>
                    <a:pt x="1897378" y="0"/>
                  </a:lnTo>
                  <a:lnTo>
                    <a:pt x="1935427" y="11522"/>
                  </a:lnTo>
                  <a:lnTo>
                    <a:pt x="1960739" y="42336"/>
                  </a:lnTo>
                  <a:lnTo>
                    <a:pt x="1965960" y="68581"/>
                  </a:lnTo>
                  <a:lnTo>
                    <a:pt x="1965960" y="342898"/>
                  </a:lnTo>
                  <a:lnTo>
                    <a:pt x="1960570" y="369593"/>
                  </a:lnTo>
                  <a:lnTo>
                    <a:pt x="1945873" y="391392"/>
                  </a:lnTo>
                  <a:lnTo>
                    <a:pt x="1924073" y="406090"/>
                  </a:lnTo>
                  <a:lnTo>
                    <a:pt x="1897378" y="41147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111496" y="1234439"/>
              <a:ext cx="1965960" cy="411480"/>
            </a:xfrm>
            <a:custGeom>
              <a:avLst/>
              <a:gdLst/>
              <a:ahLst/>
              <a:cxnLst/>
              <a:rect l="l" t="t" r="r" b="b"/>
              <a:pathLst>
                <a:path w="1965959" h="411480">
                  <a:moveTo>
                    <a:pt x="0" y="68581"/>
                  </a:moveTo>
                  <a:lnTo>
                    <a:pt x="5389" y="41886"/>
                  </a:lnTo>
                  <a:lnTo>
                    <a:pt x="20086" y="20087"/>
                  </a:lnTo>
                  <a:lnTo>
                    <a:pt x="41886" y="5389"/>
                  </a:lnTo>
                  <a:lnTo>
                    <a:pt x="68581" y="0"/>
                  </a:lnTo>
                  <a:lnTo>
                    <a:pt x="1897378" y="0"/>
                  </a:lnTo>
                  <a:lnTo>
                    <a:pt x="1935427" y="11522"/>
                  </a:lnTo>
                  <a:lnTo>
                    <a:pt x="1960739" y="42336"/>
                  </a:lnTo>
                  <a:lnTo>
                    <a:pt x="1965960" y="68581"/>
                  </a:lnTo>
                  <a:lnTo>
                    <a:pt x="1965960" y="342898"/>
                  </a:lnTo>
                  <a:lnTo>
                    <a:pt x="1960570" y="369593"/>
                  </a:lnTo>
                  <a:lnTo>
                    <a:pt x="1945873" y="391392"/>
                  </a:lnTo>
                  <a:lnTo>
                    <a:pt x="1924073" y="406090"/>
                  </a:lnTo>
                  <a:lnTo>
                    <a:pt x="1897378" y="411479"/>
                  </a:lnTo>
                  <a:lnTo>
                    <a:pt x="68581" y="411479"/>
                  </a:lnTo>
                  <a:lnTo>
                    <a:pt x="41886" y="406090"/>
                  </a:lnTo>
                  <a:lnTo>
                    <a:pt x="20086" y="391392"/>
                  </a:lnTo>
                  <a:lnTo>
                    <a:pt x="5389" y="369593"/>
                  </a:lnTo>
                  <a:lnTo>
                    <a:pt x="0" y="342898"/>
                  </a:lnTo>
                  <a:lnTo>
                    <a:pt x="0" y="68581"/>
                  </a:lnTo>
                  <a:close/>
                </a:path>
              </a:pathLst>
            </a:custGeom>
            <a:ln w="9524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397755" y="1318450"/>
            <a:ext cx="1388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3.</a:t>
            </a:r>
            <a:r>
              <a:rPr sz="14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EXPERT</a:t>
            </a:r>
            <a:r>
              <a:rPr sz="1400" b="1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SYSTEM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99541" y="2363723"/>
            <a:ext cx="1424940" cy="1249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marR="5080" indent="-69215">
              <a:lnSpc>
                <a:spcPct val="100000"/>
              </a:lnSpc>
              <a:spcBef>
                <a:spcPts val="100"/>
              </a:spcBef>
              <a:buChar char="•"/>
              <a:tabLst>
                <a:tab pos="81280" algn="l"/>
                <a:tab pos="121920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40+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Taxonomies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(Ontology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Trees)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81280" marR="205740" indent="-69215">
              <a:lnSpc>
                <a:spcPct val="100000"/>
              </a:lnSpc>
              <a:spcBef>
                <a:spcPts val="500"/>
              </a:spcBef>
              <a:buChar char="•"/>
              <a:tabLst>
                <a:tab pos="81280" algn="l"/>
                <a:tab pos="121920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Forward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Chaining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Inference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Engine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81280" marR="215900" indent="-69215">
              <a:lnSpc>
                <a:spcPct val="100000"/>
              </a:lnSpc>
              <a:spcBef>
                <a:spcPts val="500"/>
              </a:spcBef>
              <a:buChar char="•"/>
              <a:tabLst>
                <a:tab pos="81280" algn="l"/>
                <a:tab pos="121920" algn="l"/>
              </a:tabLst>
            </a:pP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IF–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THEN</a:t>
            </a:r>
            <a:r>
              <a:rPr sz="12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Rules (First-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Order</a:t>
            </a:r>
            <a:r>
              <a:rPr sz="1200" spc="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Logic)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320539" y="1207915"/>
            <a:ext cx="2065020" cy="2887980"/>
            <a:chOff x="7320539" y="1207915"/>
            <a:chExt cx="2065020" cy="2887980"/>
          </a:xfrm>
        </p:grpSpPr>
        <p:pic>
          <p:nvPicPr>
            <p:cNvPr id="35" name="object 3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320539" y="1207915"/>
              <a:ext cx="2065010" cy="288797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370063" y="1234439"/>
              <a:ext cx="1965960" cy="2788920"/>
            </a:xfrm>
            <a:custGeom>
              <a:avLst/>
              <a:gdLst/>
              <a:ahLst/>
              <a:cxnLst/>
              <a:rect l="l" t="t" r="r" b="b"/>
              <a:pathLst>
                <a:path w="1965959" h="2788920">
                  <a:moveTo>
                    <a:pt x="1638293" y="2788919"/>
                  </a:moveTo>
                  <a:lnTo>
                    <a:pt x="327666" y="2788919"/>
                  </a:lnTo>
                  <a:lnTo>
                    <a:pt x="279246" y="2785367"/>
                  </a:lnTo>
                  <a:lnTo>
                    <a:pt x="233032" y="2775046"/>
                  </a:lnTo>
                  <a:lnTo>
                    <a:pt x="189530" y="2758465"/>
                  </a:lnTo>
                  <a:lnTo>
                    <a:pt x="149248" y="2736130"/>
                  </a:lnTo>
                  <a:lnTo>
                    <a:pt x="112693" y="2708548"/>
                  </a:lnTo>
                  <a:lnTo>
                    <a:pt x="80371" y="2676226"/>
                  </a:lnTo>
                  <a:lnTo>
                    <a:pt x="52789" y="2639671"/>
                  </a:lnTo>
                  <a:lnTo>
                    <a:pt x="30454" y="2599389"/>
                  </a:lnTo>
                  <a:lnTo>
                    <a:pt x="13873" y="2555887"/>
                  </a:lnTo>
                  <a:lnTo>
                    <a:pt x="3552" y="2509673"/>
                  </a:lnTo>
                  <a:lnTo>
                    <a:pt x="0" y="2461253"/>
                  </a:lnTo>
                  <a:lnTo>
                    <a:pt x="0" y="327666"/>
                  </a:ln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1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1638293" y="0"/>
                  </a:lnTo>
                  <a:lnTo>
                    <a:pt x="1689861" y="4081"/>
                  </a:lnTo>
                  <a:lnTo>
                    <a:pt x="1739694" y="16084"/>
                  </a:lnTo>
                  <a:lnTo>
                    <a:pt x="1786913" y="35643"/>
                  </a:lnTo>
                  <a:lnTo>
                    <a:pt x="1830638" y="62393"/>
                  </a:lnTo>
                  <a:lnTo>
                    <a:pt x="1869988" y="95971"/>
                  </a:lnTo>
                  <a:lnTo>
                    <a:pt x="1903566" y="135321"/>
                  </a:lnTo>
                  <a:lnTo>
                    <a:pt x="1930316" y="179046"/>
                  </a:lnTo>
                  <a:lnTo>
                    <a:pt x="1949875" y="226265"/>
                  </a:lnTo>
                  <a:lnTo>
                    <a:pt x="1961878" y="276098"/>
                  </a:lnTo>
                  <a:lnTo>
                    <a:pt x="1965960" y="327666"/>
                  </a:lnTo>
                  <a:lnTo>
                    <a:pt x="1965960" y="2461253"/>
                  </a:lnTo>
                  <a:lnTo>
                    <a:pt x="1962407" y="2509673"/>
                  </a:lnTo>
                  <a:lnTo>
                    <a:pt x="1952087" y="2555887"/>
                  </a:lnTo>
                  <a:lnTo>
                    <a:pt x="1935506" y="2599389"/>
                  </a:lnTo>
                  <a:lnTo>
                    <a:pt x="1913171" y="2639671"/>
                  </a:lnTo>
                  <a:lnTo>
                    <a:pt x="1885588" y="2676226"/>
                  </a:lnTo>
                  <a:lnTo>
                    <a:pt x="1853266" y="2708548"/>
                  </a:lnTo>
                  <a:lnTo>
                    <a:pt x="1816711" y="2736130"/>
                  </a:lnTo>
                  <a:lnTo>
                    <a:pt x="1776429" y="2758465"/>
                  </a:lnTo>
                  <a:lnTo>
                    <a:pt x="1732927" y="2775046"/>
                  </a:lnTo>
                  <a:lnTo>
                    <a:pt x="1686713" y="2785367"/>
                  </a:lnTo>
                  <a:lnTo>
                    <a:pt x="1638293" y="27889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370063" y="1234439"/>
              <a:ext cx="1965960" cy="2788920"/>
            </a:xfrm>
            <a:custGeom>
              <a:avLst/>
              <a:gdLst/>
              <a:ahLst/>
              <a:cxnLst/>
              <a:rect l="l" t="t" r="r" b="b"/>
              <a:pathLst>
                <a:path w="1965959" h="2788920">
                  <a:moveTo>
                    <a:pt x="0" y="327666"/>
                  </a:move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1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1638293" y="0"/>
                  </a:lnTo>
                  <a:lnTo>
                    <a:pt x="1689861" y="4081"/>
                  </a:lnTo>
                  <a:lnTo>
                    <a:pt x="1739694" y="16084"/>
                  </a:lnTo>
                  <a:lnTo>
                    <a:pt x="1786913" y="35643"/>
                  </a:lnTo>
                  <a:lnTo>
                    <a:pt x="1830638" y="62393"/>
                  </a:lnTo>
                  <a:lnTo>
                    <a:pt x="1869988" y="95971"/>
                  </a:lnTo>
                  <a:lnTo>
                    <a:pt x="1903566" y="135321"/>
                  </a:lnTo>
                  <a:lnTo>
                    <a:pt x="1930316" y="179046"/>
                  </a:lnTo>
                  <a:lnTo>
                    <a:pt x="1949875" y="226265"/>
                  </a:lnTo>
                  <a:lnTo>
                    <a:pt x="1961878" y="276098"/>
                  </a:lnTo>
                  <a:lnTo>
                    <a:pt x="1965960" y="327666"/>
                  </a:lnTo>
                  <a:lnTo>
                    <a:pt x="1965960" y="2461253"/>
                  </a:lnTo>
                  <a:lnTo>
                    <a:pt x="1962407" y="2509673"/>
                  </a:lnTo>
                  <a:lnTo>
                    <a:pt x="1952087" y="2555887"/>
                  </a:lnTo>
                  <a:lnTo>
                    <a:pt x="1935506" y="2599389"/>
                  </a:lnTo>
                  <a:lnTo>
                    <a:pt x="1913171" y="2639671"/>
                  </a:lnTo>
                  <a:lnTo>
                    <a:pt x="1885588" y="2676226"/>
                  </a:lnTo>
                  <a:lnTo>
                    <a:pt x="1853266" y="2708548"/>
                  </a:lnTo>
                  <a:lnTo>
                    <a:pt x="1816711" y="2736130"/>
                  </a:lnTo>
                  <a:lnTo>
                    <a:pt x="1776429" y="2758465"/>
                  </a:lnTo>
                  <a:lnTo>
                    <a:pt x="1732927" y="2775046"/>
                  </a:lnTo>
                  <a:lnTo>
                    <a:pt x="1686713" y="2785367"/>
                  </a:lnTo>
                  <a:lnTo>
                    <a:pt x="1638293" y="2788919"/>
                  </a:lnTo>
                  <a:lnTo>
                    <a:pt x="327666" y="2788919"/>
                  </a:lnTo>
                  <a:lnTo>
                    <a:pt x="279246" y="2785367"/>
                  </a:lnTo>
                  <a:lnTo>
                    <a:pt x="233032" y="2775046"/>
                  </a:lnTo>
                  <a:lnTo>
                    <a:pt x="189530" y="2758465"/>
                  </a:lnTo>
                  <a:lnTo>
                    <a:pt x="149248" y="2736130"/>
                  </a:lnTo>
                  <a:lnTo>
                    <a:pt x="112693" y="2708548"/>
                  </a:lnTo>
                  <a:lnTo>
                    <a:pt x="80371" y="2676226"/>
                  </a:lnTo>
                  <a:lnTo>
                    <a:pt x="52789" y="2639671"/>
                  </a:lnTo>
                  <a:lnTo>
                    <a:pt x="30454" y="2599389"/>
                  </a:lnTo>
                  <a:lnTo>
                    <a:pt x="13873" y="2555887"/>
                  </a:lnTo>
                  <a:lnTo>
                    <a:pt x="3552" y="2509673"/>
                  </a:lnTo>
                  <a:lnTo>
                    <a:pt x="0" y="2461253"/>
                  </a:lnTo>
                  <a:lnTo>
                    <a:pt x="0" y="327666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7325301" y="1212677"/>
            <a:ext cx="2055495" cy="501015"/>
            <a:chOff x="7325301" y="1212677"/>
            <a:chExt cx="2055495" cy="501015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5301" y="1212677"/>
              <a:ext cx="2055485" cy="50100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370063" y="1234439"/>
              <a:ext cx="1965960" cy="411480"/>
            </a:xfrm>
            <a:custGeom>
              <a:avLst/>
              <a:gdLst/>
              <a:ahLst/>
              <a:cxnLst/>
              <a:rect l="l" t="t" r="r" b="b"/>
              <a:pathLst>
                <a:path w="1965959" h="411480">
                  <a:moveTo>
                    <a:pt x="1897378" y="411479"/>
                  </a:moveTo>
                  <a:lnTo>
                    <a:pt x="68580" y="411479"/>
                  </a:lnTo>
                  <a:lnTo>
                    <a:pt x="41886" y="406090"/>
                  </a:lnTo>
                  <a:lnTo>
                    <a:pt x="20086" y="391392"/>
                  </a:lnTo>
                  <a:lnTo>
                    <a:pt x="5389" y="369593"/>
                  </a:lnTo>
                  <a:lnTo>
                    <a:pt x="0" y="342898"/>
                  </a:lnTo>
                  <a:lnTo>
                    <a:pt x="0" y="68581"/>
                  </a:lnTo>
                  <a:lnTo>
                    <a:pt x="5389" y="41886"/>
                  </a:lnTo>
                  <a:lnTo>
                    <a:pt x="20086" y="20087"/>
                  </a:lnTo>
                  <a:lnTo>
                    <a:pt x="41886" y="5389"/>
                  </a:lnTo>
                  <a:lnTo>
                    <a:pt x="68580" y="0"/>
                  </a:lnTo>
                  <a:lnTo>
                    <a:pt x="1897378" y="0"/>
                  </a:lnTo>
                  <a:lnTo>
                    <a:pt x="1935427" y="11522"/>
                  </a:lnTo>
                  <a:lnTo>
                    <a:pt x="1960739" y="42336"/>
                  </a:lnTo>
                  <a:lnTo>
                    <a:pt x="1965960" y="68581"/>
                  </a:lnTo>
                  <a:lnTo>
                    <a:pt x="1965960" y="342898"/>
                  </a:lnTo>
                  <a:lnTo>
                    <a:pt x="1960570" y="369593"/>
                  </a:lnTo>
                  <a:lnTo>
                    <a:pt x="1945873" y="391392"/>
                  </a:lnTo>
                  <a:lnTo>
                    <a:pt x="1924073" y="406090"/>
                  </a:lnTo>
                  <a:lnTo>
                    <a:pt x="1897378" y="41147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370063" y="1234439"/>
              <a:ext cx="1965960" cy="411480"/>
            </a:xfrm>
            <a:custGeom>
              <a:avLst/>
              <a:gdLst/>
              <a:ahLst/>
              <a:cxnLst/>
              <a:rect l="l" t="t" r="r" b="b"/>
              <a:pathLst>
                <a:path w="1965959" h="411480">
                  <a:moveTo>
                    <a:pt x="0" y="68581"/>
                  </a:moveTo>
                  <a:lnTo>
                    <a:pt x="5389" y="41886"/>
                  </a:lnTo>
                  <a:lnTo>
                    <a:pt x="20086" y="20087"/>
                  </a:lnTo>
                  <a:lnTo>
                    <a:pt x="41886" y="5389"/>
                  </a:lnTo>
                  <a:lnTo>
                    <a:pt x="68580" y="0"/>
                  </a:lnTo>
                  <a:lnTo>
                    <a:pt x="1897378" y="0"/>
                  </a:lnTo>
                  <a:lnTo>
                    <a:pt x="1935427" y="11522"/>
                  </a:lnTo>
                  <a:lnTo>
                    <a:pt x="1960739" y="42336"/>
                  </a:lnTo>
                  <a:lnTo>
                    <a:pt x="1965960" y="68581"/>
                  </a:lnTo>
                  <a:lnTo>
                    <a:pt x="1965960" y="342898"/>
                  </a:lnTo>
                  <a:lnTo>
                    <a:pt x="1960570" y="369593"/>
                  </a:lnTo>
                  <a:lnTo>
                    <a:pt x="1945873" y="391392"/>
                  </a:lnTo>
                  <a:lnTo>
                    <a:pt x="1924073" y="406090"/>
                  </a:lnTo>
                  <a:lnTo>
                    <a:pt x="1897378" y="411479"/>
                  </a:lnTo>
                  <a:lnTo>
                    <a:pt x="68580" y="411479"/>
                  </a:lnTo>
                  <a:lnTo>
                    <a:pt x="41886" y="406090"/>
                  </a:lnTo>
                  <a:lnTo>
                    <a:pt x="20086" y="391392"/>
                  </a:lnTo>
                  <a:lnTo>
                    <a:pt x="5389" y="369593"/>
                  </a:lnTo>
                  <a:lnTo>
                    <a:pt x="0" y="342898"/>
                  </a:lnTo>
                  <a:lnTo>
                    <a:pt x="0" y="6858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7681728" y="1318450"/>
            <a:ext cx="13379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4.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SCORING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XAI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558109" y="2272283"/>
            <a:ext cx="1553845" cy="143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marR="5080" indent="-69215">
              <a:lnSpc>
                <a:spcPct val="100000"/>
              </a:lnSpc>
              <a:spcBef>
                <a:spcPts val="100"/>
              </a:spcBef>
              <a:buChar char="•"/>
              <a:tabLst>
                <a:tab pos="81280" algn="l"/>
                <a:tab pos="121920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Multi-Criteria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Heuristic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(50S,</a:t>
            </a:r>
            <a:r>
              <a:rPr sz="12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25E,</a:t>
            </a:r>
            <a:r>
              <a:rPr sz="12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15Ed,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10C)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474345" indent="109855">
              <a:lnSpc>
                <a:spcPct val="100000"/>
              </a:lnSpc>
              <a:spcBef>
                <a:spcPts val="500"/>
              </a:spcBef>
              <a:buChar char="•"/>
              <a:tabLst>
                <a:tab pos="122555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Proof</a:t>
            </a:r>
            <a:r>
              <a:rPr sz="1200" spc="-5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Trace Synthesizer</a:t>
            </a:r>
            <a:r>
              <a:rPr sz="1200" spc="5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(Rule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Proof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Log)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81280" marR="66040" indent="-69215">
              <a:lnSpc>
                <a:spcPct val="100000"/>
              </a:lnSpc>
              <a:spcBef>
                <a:spcPts val="500"/>
              </a:spcBef>
              <a:buChar char="•"/>
              <a:tabLst>
                <a:tab pos="81280" algn="l"/>
                <a:tab pos="121920" algn="l"/>
              </a:tabLst>
            </a:pP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Ranker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(No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Random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Variance)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9579107" y="1207915"/>
            <a:ext cx="2065020" cy="2887980"/>
            <a:chOff x="9579107" y="1207915"/>
            <a:chExt cx="2065020" cy="2887980"/>
          </a:xfrm>
        </p:grpSpPr>
        <p:pic>
          <p:nvPicPr>
            <p:cNvPr id="45" name="object 4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579107" y="1207915"/>
              <a:ext cx="2065010" cy="288797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9628632" y="1234439"/>
              <a:ext cx="1965960" cy="2788920"/>
            </a:xfrm>
            <a:custGeom>
              <a:avLst/>
              <a:gdLst/>
              <a:ahLst/>
              <a:cxnLst/>
              <a:rect l="l" t="t" r="r" b="b"/>
              <a:pathLst>
                <a:path w="1965959" h="2788920">
                  <a:moveTo>
                    <a:pt x="1638293" y="2788919"/>
                  </a:moveTo>
                  <a:lnTo>
                    <a:pt x="327666" y="2788919"/>
                  </a:lnTo>
                  <a:lnTo>
                    <a:pt x="279246" y="2785367"/>
                  </a:lnTo>
                  <a:lnTo>
                    <a:pt x="233032" y="2775046"/>
                  </a:lnTo>
                  <a:lnTo>
                    <a:pt x="189530" y="2758465"/>
                  </a:lnTo>
                  <a:lnTo>
                    <a:pt x="149248" y="2736130"/>
                  </a:lnTo>
                  <a:lnTo>
                    <a:pt x="112693" y="2708548"/>
                  </a:lnTo>
                  <a:lnTo>
                    <a:pt x="80371" y="2676226"/>
                  </a:lnTo>
                  <a:lnTo>
                    <a:pt x="52789" y="2639671"/>
                  </a:lnTo>
                  <a:lnTo>
                    <a:pt x="30454" y="2599389"/>
                  </a:lnTo>
                  <a:lnTo>
                    <a:pt x="13873" y="2555887"/>
                  </a:lnTo>
                  <a:lnTo>
                    <a:pt x="3552" y="2509673"/>
                  </a:lnTo>
                  <a:lnTo>
                    <a:pt x="0" y="2461253"/>
                  </a:lnTo>
                  <a:lnTo>
                    <a:pt x="0" y="327666"/>
                  </a:ln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1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1638293" y="0"/>
                  </a:lnTo>
                  <a:lnTo>
                    <a:pt x="1689861" y="4081"/>
                  </a:lnTo>
                  <a:lnTo>
                    <a:pt x="1739694" y="16084"/>
                  </a:lnTo>
                  <a:lnTo>
                    <a:pt x="1786913" y="35643"/>
                  </a:lnTo>
                  <a:lnTo>
                    <a:pt x="1830637" y="62393"/>
                  </a:lnTo>
                  <a:lnTo>
                    <a:pt x="1869987" y="95971"/>
                  </a:lnTo>
                  <a:lnTo>
                    <a:pt x="1903565" y="135321"/>
                  </a:lnTo>
                  <a:lnTo>
                    <a:pt x="1930316" y="179046"/>
                  </a:lnTo>
                  <a:lnTo>
                    <a:pt x="1949875" y="226265"/>
                  </a:lnTo>
                  <a:lnTo>
                    <a:pt x="1961878" y="276098"/>
                  </a:lnTo>
                  <a:lnTo>
                    <a:pt x="1965960" y="327666"/>
                  </a:lnTo>
                  <a:lnTo>
                    <a:pt x="1965960" y="2461253"/>
                  </a:lnTo>
                  <a:lnTo>
                    <a:pt x="1962407" y="2509673"/>
                  </a:lnTo>
                  <a:lnTo>
                    <a:pt x="1952087" y="2555887"/>
                  </a:lnTo>
                  <a:lnTo>
                    <a:pt x="1935506" y="2599389"/>
                  </a:lnTo>
                  <a:lnTo>
                    <a:pt x="1913171" y="2639671"/>
                  </a:lnTo>
                  <a:lnTo>
                    <a:pt x="1885589" y="2676226"/>
                  </a:lnTo>
                  <a:lnTo>
                    <a:pt x="1853266" y="2708548"/>
                  </a:lnTo>
                  <a:lnTo>
                    <a:pt x="1816711" y="2736130"/>
                  </a:lnTo>
                  <a:lnTo>
                    <a:pt x="1776429" y="2758465"/>
                  </a:lnTo>
                  <a:lnTo>
                    <a:pt x="1732928" y="2775046"/>
                  </a:lnTo>
                  <a:lnTo>
                    <a:pt x="1686713" y="2785367"/>
                  </a:lnTo>
                  <a:lnTo>
                    <a:pt x="1638293" y="27889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9628632" y="1234439"/>
              <a:ext cx="1965960" cy="2788920"/>
            </a:xfrm>
            <a:custGeom>
              <a:avLst/>
              <a:gdLst/>
              <a:ahLst/>
              <a:cxnLst/>
              <a:rect l="l" t="t" r="r" b="b"/>
              <a:pathLst>
                <a:path w="1965959" h="2788920">
                  <a:moveTo>
                    <a:pt x="0" y="327666"/>
                  </a:moveTo>
                  <a:lnTo>
                    <a:pt x="3552" y="279246"/>
                  </a:lnTo>
                  <a:lnTo>
                    <a:pt x="13873" y="233032"/>
                  </a:lnTo>
                  <a:lnTo>
                    <a:pt x="30454" y="189530"/>
                  </a:lnTo>
                  <a:lnTo>
                    <a:pt x="52789" y="149248"/>
                  </a:lnTo>
                  <a:lnTo>
                    <a:pt x="80371" y="112693"/>
                  </a:lnTo>
                  <a:lnTo>
                    <a:pt x="112693" y="80371"/>
                  </a:lnTo>
                  <a:lnTo>
                    <a:pt x="149248" y="52789"/>
                  </a:lnTo>
                  <a:lnTo>
                    <a:pt x="189530" y="30454"/>
                  </a:lnTo>
                  <a:lnTo>
                    <a:pt x="233032" y="13873"/>
                  </a:lnTo>
                  <a:lnTo>
                    <a:pt x="279246" y="3552"/>
                  </a:lnTo>
                  <a:lnTo>
                    <a:pt x="327666" y="0"/>
                  </a:lnTo>
                  <a:lnTo>
                    <a:pt x="1638293" y="0"/>
                  </a:lnTo>
                  <a:lnTo>
                    <a:pt x="1689861" y="4081"/>
                  </a:lnTo>
                  <a:lnTo>
                    <a:pt x="1739694" y="16084"/>
                  </a:lnTo>
                  <a:lnTo>
                    <a:pt x="1786913" y="35643"/>
                  </a:lnTo>
                  <a:lnTo>
                    <a:pt x="1830637" y="62393"/>
                  </a:lnTo>
                  <a:lnTo>
                    <a:pt x="1869987" y="95971"/>
                  </a:lnTo>
                  <a:lnTo>
                    <a:pt x="1903565" y="135321"/>
                  </a:lnTo>
                  <a:lnTo>
                    <a:pt x="1930316" y="179046"/>
                  </a:lnTo>
                  <a:lnTo>
                    <a:pt x="1949875" y="226265"/>
                  </a:lnTo>
                  <a:lnTo>
                    <a:pt x="1961878" y="276098"/>
                  </a:lnTo>
                  <a:lnTo>
                    <a:pt x="1965960" y="327666"/>
                  </a:lnTo>
                  <a:lnTo>
                    <a:pt x="1965960" y="2461253"/>
                  </a:lnTo>
                  <a:lnTo>
                    <a:pt x="1962407" y="2509673"/>
                  </a:lnTo>
                  <a:lnTo>
                    <a:pt x="1952087" y="2555887"/>
                  </a:lnTo>
                  <a:lnTo>
                    <a:pt x="1935506" y="2599389"/>
                  </a:lnTo>
                  <a:lnTo>
                    <a:pt x="1913171" y="2639671"/>
                  </a:lnTo>
                  <a:lnTo>
                    <a:pt x="1885589" y="2676226"/>
                  </a:lnTo>
                  <a:lnTo>
                    <a:pt x="1853266" y="2708548"/>
                  </a:lnTo>
                  <a:lnTo>
                    <a:pt x="1816711" y="2736130"/>
                  </a:lnTo>
                  <a:lnTo>
                    <a:pt x="1776429" y="2758465"/>
                  </a:lnTo>
                  <a:lnTo>
                    <a:pt x="1732928" y="2775046"/>
                  </a:lnTo>
                  <a:lnTo>
                    <a:pt x="1686713" y="2785367"/>
                  </a:lnTo>
                  <a:lnTo>
                    <a:pt x="1638293" y="2788919"/>
                  </a:lnTo>
                  <a:lnTo>
                    <a:pt x="327666" y="2788919"/>
                  </a:lnTo>
                  <a:lnTo>
                    <a:pt x="279246" y="2785367"/>
                  </a:lnTo>
                  <a:lnTo>
                    <a:pt x="233032" y="2775046"/>
                  </a:lnTo>
                  <a:lnTo>
                    <a:pt x="189530" y="2758465"/>
                  </a:lnTo>
                  <a:lnTo>
                    <a:pt x="149248" y="2736130"/>
                  </a:lnTo>
                  <a:lnTo>
                    <a:pt x="112693" y="2708548"/>
                  </a:lnTo>
                  <a:lnTo>
                    <a:pt x="80371" y="2676226"/>
                  </a:lnTo>
                  <a:lnTo>
                    <a:pt x="52789" y="2639671"/>
                  </a:lnTo>
                  <a:lnTo>
                    <a:pt x="30454" y="2599389"/>
                  </a:lnTo>
                  <a:lnTo>
                    <a:pt x="13873" y="2555887"/>
                  </a:lnTo>
                  <a:lnTo>
                    <a:pt x="3552" y="2509673"/>
                  </a:lnTo>
                  <a:lnTo>
                    <a:pt x="0" y="2461253"/>
                  </a:lnTo>
                  <a:lnTo>
                    <a:pt x="0" y="327666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/>
          <p:cNvGrpSpPr/>
          <p:nvPr/>
        </p:nvGrpSpPr>
        <p:grpSpPr>
          <a:xfrm>
            <a:off x="9583870" y="1212677"/>
            <a:ext cx="2055495" cy="501015"/>
            <a:chOff x="9583870" y="1212677"/>
            <a:chExt cx="2055495" cy="501015"/>
          </a:xfrm>
        </p:grpSpPr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3870" y="1212677"/>
              <a:ext cx="2055485" cy="50100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9628632" y="1234439"/>
              <a:ext cx="1965960" cy="411480"/>
            </a:xfrm>
            <a:custGeom>
              <a:avLst/>
              <a:gdLst/>
              <a:ahLst/>
              <a:cxnLst/>
              <a:rect l="l" t="t" r="r" b="b"/>
              <a:pathLst>
                <a:path w="1965959" h="411480">
                  <a:moveTo>
                    <a:pt x="1897378" y="411479"/>
                  </a:moveTo>
                  <a:lnTo>
                    <a:pt x="68581" y="411479"/>
                  </a:lnTo>
                  <a:lnTo>
                    <a:pt x="41886" y="406090"/>
                  </a:lnTo>
                  <a:lnTo>
                    <a:pt x="20086" y="391392"/>
                  </a:lnTo>
                  <a:lnTo>
                    <a:pt x="5389" y="369593"/>
                  </a:lnTo>
                  <a:lnTo>
                    <a:pt x="0" y="342898"/>
                  </a:lnTo>
                  <a:lnTo>
                    <a:pt x="0" y="68581"/>
                  </a:lnTo>
                  <a:lnTo>
                    <a:pt x="5389" y="41886"/>
                  </a:lnTo>
                  <a:lnTo>
                    <a:pt x="20086" y="20087"/>
                  </a:lnTo>
                  <a:lnTo>
                    <a:pt x="41886" y="5389"/>
                  </a:lnTo>
                  <a:lnTo>
                    <a:pt x="68581" y="0"/>
                  </a:lnTo>
                  <a:lnTo>
                    <a:pt x="1897378" y="0"/>
                  </a:lnTo>
                  <a:lnTo>
                    <a:pt x="1935427" y="11522"/>
                  </a:lnTo>
                  <a:lnTo>
                    <a:pt x="1960739" y="42336"/>
                  </a:lnTo>
                  <a:lnTo>
                    <a:pt x="1965960" y="68581"/>
                  </a:lnTo>
                  <a:lnTo>
                    <a:pt x="1965960" y="342898"/>
                  </a:lnTo>
                  <a:lnTo>
                    <a:pt x="1960570" y="369593"/>
                  </a:lnTo>
                  <a:lnTo>
                    <a:pt x="1945873" y="391392"/>
                  </a:lnTo>
                  <a:lnTo>
                    <a:pt x="1924073" y="406090"/>
                  </a:lnTo>
                  <a:lnTo>
                    <a:pt x="1897378" y="411479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9628632" y="1234439"/>
              <a:ext cx="1965960" cy="411480"/>
            </a:xfrm>
            <a:custGeom>
              <a:avLst/>
              <a:gdLst/>
              <a:ahLst/>
              <a:cxnLst/>
              <a:rect l="l" t="t" r="r" b="b"/>
              <a:pathLst>
                <a:path w="1965959" h="411480">
                  <a:moveTo>
                    <a:pt x="0" y="68581"/>
                  </a:moveTo>
                  <a:lnTo>
                    <a:pt x="5389" y="41886"/>
                  </a:lnTo>
                  <a:lnTo>
                    <a:pt x="20086" y="20087"/>
                  </a:lnTo>
                  <a:lnTo>
                    <a:pt x="41886" y="5389"/>
                  </a:lnTo>
                  <a:lnTo>
                    <a:pt x="68581" y="0"/>
                  </a:lnTo>
                  <a:lnTo>
                    <a:pt x="1897378" y="0"/>
                  </a:lnTo>
                  <a:lnTo>
                    <a:pt x="1935427" y="11522"/>
                  </a:lnTo>
                  <a:lnTo>
                    <a:pt x="1960739" y="42336"/>
                  </a:lnTo>
                  <a:lnTo>
                    <a:pt x="1965960" y="68581"/>
                  </a:lnTo>
                  <a:lnTo>
                    <a:pt x="1965960" y="342898"/>
                  </a:lnTo>
                  <a:lnTo>
                    <a:pt x="1960570" y="369593"/>
                  </a:lnTo>
                  <a:lnTo>
                    <a:pt x="1945873" y="391392"/>
                  </a:lnTo>
                  <a:lnTo>
                    <a:pt x="1924073" y="406090"/>
                  </a:lnTo>
                  <a:lnTo>
                    <a:pt x="1897378" y="411479"/>
                  </a:lnTo>
                  <a:lnTo>
                    <a:pt x="68581" y="411479"/>
                  </a:lnTo>
                  <a:lnTo>
                    <a:pt x="41886" y="406090"/>
                  </a:lnTo>
                  <a:lnTo>
                    <a:pt x="20086" y="391392"/>
                  </a:lnTo>
                  <a:lnTo>
                    <a:pt x="5389" y="369593"/>
                  </a:lnTo>
                  <a:lnTo>
                    <a:pt x="0" y="342898"/>
                  </a:lnTo>
                  <a:lnTo>
                    <a:pt x="0" y="68581"/>
                  </a:lnTo>
                  <a:close/>
                </a:path>
              </a:pathLst>
            </a:custGeom>
            <a:ln w="9524">
              <a:solidFill>
                <a:srgbClr val="16A34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9884669" y="1318450"/>
            <a:ext cx="14471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5.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OUTPUT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DATA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816677" y="2363723"/>
            <a:ext cx="1326515" cy="1249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marR="365760" indent="-69215">
              <a:lnSpc>
                <a:spcPct val="100000"/>
              </a:lnSpc>
              <a:spcBef>
                <a:spcPts val="100"/>
              </a:spcBef>
              <a:buChar char="•"/>
              <a:tabLst>
                <a:tab pos="81280" algn="l"/>
                <a:tab pos="121920" algn="l"/>
              </a:tabLst>
            </a:pP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Deterministic Leaderboards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81280" marR="120650" indent="-69215">
              <a:lnSpc>
                <a:spcPct val="100000"/>
              </a:lnSpc>
              <a:spcBef>
                <a:spcPts val="500"/>
              </a:spcBef>
              <a:buChar char="•"/>
              <a:tabLst>
                <a:tab pos="81280" algn="l"/>
                <a:tab pos="121920" algn="l"/>
              </a:tabLst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Explainable</a:t>
            </a:r>
            <a:r>
              <a:rPr sz="1200" spc="-5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Audit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Modal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Dialog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81280" marR="5080" indent="-69215">
              <a:lnSpc>
                <a:spcPct val="100000"/>
              </a:lnSpc>
              <a:spcBef>
                <a:spcPts val="500"/>
              </a:spcBef>
              <a:buChar char="•"/>
              <a:tabLst>
                <a:tab pos="81280" algn="l"/>
                <a:tab pos="121920" algn="l"/>
              </a:tabLst>
            </a:pP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FastAPI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(Port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8000)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Supabase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(RLS)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44835" y="2401397"/>
            <a:ext cx="11099800" cy="3889375"/>
            <a:chOff x="544835" y="2401397"/>
            <a:chExt cx="11099800" cy="3889375"/>
          </a:xfrm>
        </p:grpSpPr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2989" y="2401397"/>
              <a:ext cx="327269" cy="409565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2587751" y="2423160"/>
              <a:ext cx="238125" cy="320040"/>
            </a:xfrm>
            <a:custGeom>
              <a:avLst/>
              <a:gdLst/>
              <a:ahLst/>
              <a:cxnLst/>
              <a:rect l="l" t="t" r="r" b="b"/>
              <a:pathLst>
                <a:path w="238125" h="320039">
                  <a:moveTo>
                    <a:pt x="118871" y="320039"/>
                  </a:moveTo>
                  <a:lnTo>
                    <a:pt x="118871" y="240029"/>
                  </a:lnTo>
                  <a:lnTo>
                    <a:pt x="0" y="240029"/>
                  </a:lnTo>
                  <a:lnTo>
                    <a:pt x="0" y="80009"/>
                  </a:lnTo>
                  <a:lnTo>
                    <a:pt x="118871" y="80009"/>
                  </a:lnTo>
                  <a:lnTo>
                    <a:pt x="118871" y="0"/>
                  </a:lnTo>
                  <a:lnTo>
                    <a:pt x="237743" y="160019"/>
                  </a:lnTo>
                  <a:lnTo>
                    <a:pt x="118871" y="320039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587751" y="2423160"/>
              <a:ext cx="238125" cy="320040"/>
            </a:xfrm>
            <a:custGeom>
              <a:avLst/>
              <a:gdLst/>
              <a:ahLst/>
              <a:cxnLst/>
              <a:rect l="l" t="t" r="r" b="b"/>
              <a:pathLst>
                <a:path w="238125" h="320039">
                  <a:moveTo>
                    <a:pt x="0" y="80009"/>
                  </a:moveTo>
                  <a:lnTo>
                    <a:pt x="118871" y="80009"/>
                  </a:lnTo>
                  <a:lnTo>
                    <a:pt x="118871" y="0"/>
                  </a:lnTo>
                  <a:lnTo>
                    <a:pt x="237743" y="160019"/>
                  </a:lnTo>
                  <a:lnTo>
                    <a:pt x="118871" y="320039"/>
                  </a:lnTo>
                  <a:lnTo>
                    <a:pt x="118871" y="240029"/>
                  </a:lnTo>
                  <a:lnTo>
                    <a:pt x="0" y="240029"/>
                  </a:lnTo>
                  <a:lnTo>
                    <a:pt x="0" y="80009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1557" y="2401397"/>
              <a:ext cx="327269" cy="409565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846320" y="2423160"/>
              <a:ext cx="238125" cy="320040"/>
            </a:xfrm>
            <a:custGeom>
              <a:avLst/>
              <a:gdLst/>
              <a:ahLst/>
              <a:cxnLst/>
              <a:rect l="l" t="t" r="r" b="b"/>
              <a:pathLst>
                <a:path w="238125" h="320039">
                  <a:moveTo>
                    <a:pt x="118872" y="320039"/>
                  </a:moveTo>
                  <a:lnTo>
                    <a:pt x="118872" y="240029"/>
                  </a:lnTo>
                  <a:lnTo>
                    <a:pt x="0" y="240029"/>
                  </a:lnTo>
                  <a:lnTo>
                    <a:pt x="0" y="80009"/>
                  </a:lnTo>
                  <a:lnTo>
                    <a:pt x="118872" y="80009"/>
                  </a:lnTo>
                  <a:lnTo>
                    <a:pt x="118872" y="0"/>
                  </a:lnTo>
                  <a:lnTo>
                    <a:pt x="237743" y="160019"/>
                  </a:lnTo>
                  <a:lnTo>
                    <a:pt x="118872" y="320039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846320" y="2423160"/>
              <a:ext cx="238125" cy="320040"/>
            </a:xfrm>
            <a:custGeom>
              <a:avLst/>
              <a:gdLst/>
              <a:ahLst/>
              <a:cxnLst/>
              <a:rect l="l" t="t" r="r" b="b"/>
              <a:pathLst>
                <a:path w="238125" h="320039">
                  <a:moveTo>
                    <a:pt x="0" y="80009"/>
                  </a:moveTo>
                  <a:lnTo>
                    <a:pt x="118872" y="80009"/>
                  </a:lnTo>
                  <a:lnTo>
                    <a:pt x="118872" y="0"/>
                  </a:lnTo>
                  <a:lnTo>
                    <a:pt x="237743" y="160019"/>
                  </a:lnTo>
                  <a:lnTo>
                    <a:pt x="118872" y="320039"/>
                  </a:lnTo>
                  <a:lnTo>
                    <a:pt x="118872" y="240029"/>
                  </a:lnTo>
                  <a:lnTo>
                    <a:pt x="0" y="240029"/>
                  </a:lnTo>
                  <a:lnTo>
                    <a:pt x="0" y="80009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60125" y="2401397"/>
              <a:ext cx="327269" cy="40956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7104888" y="2423160"/>
              <a:ext cx="238125" cy="320040"/>
            </a:xfrm>
            <a:custGeom>
              <a:avLst/>
              <a:gdLst/>
              <a:ahLst/>
              <a:cxnLst/>
              <a:rect l="l" t="t" r="r" b="b"/>
              <a:pathLst>
                <a:path w="238125" h="320039">
                  <a:moveTo>
                    <a:pt x="118871" y="320039"/>
                  </a:moveTo>
                  <a:lnTo>
                    <a:pt x="118871" y="240029"/>
                  </a:lnTo>
                  <a:lnTo>
                    <a:pt x="0" y="240029"/>
                  </a:lnTo>
                  <a:lnTo>
                    <a:pt x="0" y="80009"/>
                  </a:lnTo>
                  <a:lnTo>
                    <a:pt x="118871" y="80009"/>
                  </a:lnTo>
                  <a:lnTo>
                    <a:pt x="118871" y="0"/>
                  </a:lnTo>
                  <a:lnTo>
                    <a:pt x="237743" y="160019"/>
                  </a:lnTo>
                  <a:lnTo>
                    <a:pt x="118871" y="320039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7104888" y="2423160"/>
              <a:ext cx="238125" cy="320040"/>
            </a:xfrm>
            <a:custGeom>
              <a:avLst/>
              <a:gdLst/>
              <a:ahLst/>
              <a:cxnLst/>
              <a:rect l="l" t="t" r="r" b="b"/>
              <a:pathLst>
                <a:path w="238125" h="320039">
                  <a:moveTo>
                    <a:pt x="0" y="80009"/>
                  </a:moveTo>
                  <a:lnTo>
                    <a:pt x="118871" y="80009"/>
                  </a:lnTo>
                  <a:lnTo>
                    <a:pt x="118871" y="0"/>
                  </a:lnTo>
                  <a:lnTo>
                    <a:pt x="237743" y="160019"/>
                  </a:lnTo>
                  <a:lnTo>
                    <a:pt x="118871" y="320039"/>
                  </a:lnTo>
                  <a:lnTo>
                    <a:pt x="118871" y="240029"/>
                  </a:lnTo>
                  <a:lnTo>
                    <a:pt x="0" y="240029"/>
                  </a:lnTo>
                  <a:lnTo>
                    <a:pt x="0" y="80009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18694" y="2401397"/>
              <a:ext cx="327269" cy="409565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9363456" y="2423160"/>
              <a:ext cx="238125" cy="320040"/>
            </a:xfrm>
            <a:custGeom>
              <a:avLst/>
              <a:gdLst/>
              <a:ahLst/>
              <a:cxnLst/>
              <a:rect l="l" t="t" r="r" b="b"/>
              <a:pathLst>
                <a:path w="238125" h="320039">
                  <a:moveTo>
                    <a:pt x="118871" y="320039"/>
                  </a:moveTo>
                  <a:lnTo>
                    <a:pt x="118871" y="240029"/>
                  </a:lnTo>
                  <a:lnTo>
                    <a:pt x="0" y="240029"/>
                  </a:lnTo>
                  <a:lnTo>
                    <a:pt x="0" y="80009"/>
                  </a:lnTo>
                  <a:lnTo>
                    <a:pt x="118871" y="80009"/>
                  </a:lnTo>
                  <a:lnTo>
                    <a:pt x="118871" y="0"/>
                  </a:lnTo>
                  <a:lnTo>
                    <a:pt x="237743" y="160019"/>
                  </a:lnTo>
                  <a:lnTo>
                    <a:pt x="118871" y="320039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9363456" y="2423160"/>
              <a:ext cx="238125" cy="320040"/>
            </a:xfrm>
            <a:custGeom>
              <a:avLst/>
              <a:gdLst/>
              <a:ahLst/>
              <a:cxnLst/>
              <a:rect l="l" t="t" r="r" b="b"/>
              <a:pathLst>
                <a:path w="238125" h="320039">
                  <a:moveTo>
                    <a:pt x="0" y="80009"/>
                  </a:moveTo>
                  <a:lnTo>
                    <a:pt x="118871" y="80009"/>
                  </a:lnTo>
                  <a:lnTo>
                    <a:pt x="118871" y="0"/>
                  </a:lnTo>
                  <a:lnTo>
                    <a:pt x="237743" y="160019"/>
                  </a:lnTo>
                  <a:lnTo>
                    <a:pt x="118871" y="320039"/>
                  </a:lnTo>
                  <a:lnTo>
                    <a:pt x="118871" y="240029"/>
                  </a:lnTo>
                  <a:lnTo>
                    <a:pt x="0" y="240029"/>
                  </a:lnTo>
                  <a:lnTo>
                    <a:pt x="0" y="80009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835" y="4133995"/>
              <a:ext cx="11099282" cy="215645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594359" y="4160520"/>
              <a:ext cx="11000740" cy="2057400"/>
            </a:xfrm>
            <a:custGeom>
              <a:avLst/>
              <a:gdLst/>
              <a:ahLst/>
              <a:cxnLst/>
              <a:rect l="l" t="t" r="r" b="b"/>
              <a:pathLst>
                <a:path w="11000740" h="2057400">
                  <a:moveTo>
                    <a:pt x="10657324" y="2057399"/>
                  </a:moveTo>
                  <a:lnTo>
                    <a:pt x="342906" y="2057399"/>
                  </a:lnTo>
                  <a:lnTo>
                    <a:pt x="296376" y="2054269"/>
                  </a:lnTo>
                  <a:lnTo>
                    <a:pt x="251748" y="2045151"/>
                  </a:lnTo>
                  <a:lnTo>
                    <a:pt x="209432" y="2030452"/>
                  </a:lnTo>
                  <a:lnTo>
                    <a:pt x="169835" y="2010583"/>
                  </a:lnTo>
                  <a:lnTo>
                    <a:pt x="133366" y="1985951"/>
                  </a:lnTo>
                  <a:lnTo>
                    <a:pt x="100435" y="1956964"/>
                  </a:lnTo>
                  <a:lnTo>
                    <a:pt x="71448" y="1924033"/>
                  </a:lnTo>
                  <a:lnTo>
                    <a:pt x="46816" y="1887564"/>
                  </a:lnTo>
                  <a:lnTo>
                    <a:pt x="26947" y="1847967"/>
                  </a:lnTo>
                  <a:lnTo>
                    <a:pt x="12248" y="1805651"/>
                  </a:lnTo>
                  <a:lnTo>
                    <a:pt x="3130" y="1761023"/>
                  </a:lnTo>
                  <a:lnTo>
                    <a:pt x="0" y="1714493"/>
                  </a:lnTo>
                  <a:lnTo>
                    <a:pt x="0" y="342906"/>
                  </a:lnTo>
                  <a:lnTo>
                    <a:pt x="3130" y="296376"/>
                  </a:lnTo>
                  <a:lnTo>
                    <a:pt x="12248" y="251748"/>
                  </a:lnTo>
                  <a:lnTo>
                    <a:pt x="26947" y="209432"/>
                  </a:lnTo>
                  <a:lnTo>
                    <a:pt x="46816" y="169835"/>
                  </a:lnTo>
                  <a:lnTo>
                    <a:pt x="71448" y="133366"/>
                  </a:lnTo>
                  <a:lnTo>
                    <a:pt x="100435" y="100435"/>
                  </a:lnTo>
                  <a:lnTo>
                    <a:pt x="133366" y="71448"/>
                  </a:lnTo>
                  <a:lnTo>
                    <a:pt x="169835" y="46816"/>
                  </a:lnTo>
                  <a:lnTo>
                    <a:pt x="209432" y="26947"/>
                  </a:lnTo>
                  <a:lnTo>
                    <a:pt x="251748" y="12248"/>
                  </a:lnTo>
                  <a:lnTo>
                    <a:pt x="296376" y="3130"/>
                  </a:lnTo>
                  <a:lnTo>
                    <a:pt x="342906" y="0"/>
                  </a:lnTo>
                  <a:lnTo>
                    <a:pt x="10657324" y="0"/>
                  </a:lnTo>
                  <a:lnTo>
                    <a:pt x="10711291" y="4271"/>
                  </a:lnTo>
                  <a:lnTo>
                    <a:pt x="10763442" y="16832"/>
                  </a:lnTo>
                  <a:lnTo>
                    <a:pt x="10812858" y="37301"/>
                  </a:lnTo>
                  <a:lnTo>
                    <a:pt x="10858616" y="65295"/>
                  </a:lnTo>
                  <a:lnTo>
                    <a:pt x="10899796" y="100434"/>
                  </a:lnTo>
                  <a:lnTo>
                    <a:pt x="10934936" y="141615"/>
                  </a:lnTo>
                  <a:lnTo>
                    <a:pt x="10962930" y="187373"/>
                  </a:lnTo>
                  <a:lnTo>
                    <a:pt x="10983399" y="236789"/>
                  </a:lnTo>
                  <a:lnTo>
                    <a:pt x="10995960" y="288940"/>
                  </a:lnTo>
                  <a:lnTo>
                    <a:pt x="11000232" y="342906"/>
                  </a:lnTo>
                  <a:lnTo>
                    <a:pt x="11000232" y="1714493"/>
                  </a:lnTo>
                  <a:lnTo>
                    <a:pt x="10997102" y="1761023"/>
                  </a:lnTo>
                  <a:lnTo>
                    <a:pt x="10987983" y="1805651"/>
                  </a:lnTo>
                  <a:lnTo>
                    <a:pt x="10973285" y="1847967"/>
                  </a:lnTo>
                  <a:lnTo>
                    <a:pt x="10953415" y="1887564"/>
                  </a:lnTo>
                  <a:lnTo>
                    <a:pt x="10928783" y="1924033"/>
                  </a:lnTo>
                  <a:lnTo>
                    <a:pt x="10899797" y="1956964"/>
                  </a:lnTo>
                  <a:lnTo>
                    <a:pt x="10866865" y="1985951"/>
                  </a:lnTo>
                  <a:lnTo>
                    <a:pt x="10830396" y="2010583"/>
                  </a:lnTo>
                  <a:lnTo>
                    <a:pt x="10790799" y="2030452"/>
                  </a:lnTo>
                  <a:lnTo>
                    <a:pt x="10748483" y="2045151"/>
                  </a:lnTo>
                  <a:lnTo>
                    <a:pt x="10703855" y="2054269"/>
                  </a:lnTo>
                  <a:lnTo>
                    <a:pt x="10657324" y="205739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594359" y="4160520"/>
              <a:ext cx="11000740" cy="2057400"/>
            </a:xfrm>
            <a:custGeom>
              <a:avLst/>
              <a:gdLst/>
              <a:ahLst/>
              <a:cxnLst/>
              <a:rect l="l" t="t" r="r" b="b"/>
              <a:pathLst>
                <a:path w="11000740" h="2057400">
                  <a:moveTo>
                    <a:pt x="0" y="342906"/>
                  </a:moveTo>
                  <a:lnTo>
                    <a:pt x="3130" y="296376"/>
                  </a:lnTo>
                  <a:lnTo>
                    <a:pt x="12248" y="251748"/>
                  </a:lnTo>
                  <a:lnTo>
                    <a:pt x="26947" y="209432"/>
                  </a:lnTo>
                  <a:lnTo>
                    <a:pt x="46816" y="169835"/>
                  </a:lnTo>
                  <a:lnTo>
                    <a:pt x="71448" y="133366"/>
                  </a:lnTo>
                  <a:lnTo>
                    <a:pt x="100435" y="100435"/>
                  </a:lnTo>
                  <a:lnTo>
                    <a:pt x="133366" y="71448"/>
                  </a:lnTo>
                  <a:lnTo>
                    <a:pt x="169835" y="46816"/>
                  </a:lnTo>
                  <a:lnTo>
                    <a:pt x="209432" y="26947"/>
                  </a:lnTo>
                  <a:lnTo>
                    <a:pt x="251748" y="12248"/>
                  </a:lnTo>
                  <a:lnTo>
                    <a:pt x="296376" y="3130"/>
                  </a:lnTo>
                  <a:lnTo>
                    <a:pt x="342906" y="0"/>
                  </a:lnTo>
                  <a:lnTo>
                    <a:pt x="10657324" y="0"/>
                  </a:lnTo>
                  <a:lnTo>
                    <a:pt x="10711291" y="4271"/>
                  </a:lnTo>
                  <a:lnTo>
                    <a:pt x="10763442" y="16832"/>
                  </a:lnTo>
                  <a:lnTo>
                    <a:pt x="10812858" y="37301"/>
                  </a:lnTo>
                  <a:lnTo>
                    <a:pt x="10858616" y="65295"/>
                  </a:lnTo>
                  <a:lnTo>
                    <a:pt x="10899796" y="100434"/>
                  </a:lnTo>
                  <a:lnTo>
                    <a:pt x="10934936" y="141615"/>
                  </a:lnTo>
                  <a:lnTo>
                    <a:pt x="10962930" y="187373"/>
                  </a:lnTo>
                  <a:lnTo>
                    <a:pt x="10983399" y="236789"/>
                  </a:lnTo>
                  <a:lnTo>
                    <a:pt x="10995960" y="288940"/>
                  </a:lnTo>
                  <a:lnTo>
                    <a:pt x="11000232" y="342906"/>
                  </a:lnTo>
                  <a:lnTo>
                    <a:pt x="11000232" y="1714493"/>
                  </a:lnTo>
                  <a:lnTo>
                    <a:pt x="10997102" y="1761023"/>
                  </a:lnTo>
                  <a:lnTo>
                    <a:pt x="10987983" y="1805651"/>
                  </a:lnTo>
                  <a:lnTo>
                    <a:pt x="10973285" y="1847967"/>
                  </a:lnTo>
                  <a:lnTo>
                    <a:pt x="10953415" y="1887564"/>
                  </a:lnTo>
                  <a:lnTo>
                    <a:pt x="10928783" y="1924033"/>
                  </a:lnTo>
                  <a:lnTo>
                    <a:pt x="10899797" y="1956964"/>
                  </a:lnTo>
                  <a:lnTo>
                    <a:pt x="10866865" y="1985951"/>
                  </a:lnTo>
                  <a:lnTo>
                    <a:pt x="10830396" y="2010583"/>
                  </a:lnTo>
                  <a:lnTo>
                    <a:pt x="10790799" y="2030452"/>
                  </a:lnTo>
                  <a:lnTo>
                    <a:pt x="10748483" y="2045151"/>
                  </a:lnTo>
                  <a:lnTo>
                    <a:pt x="10703855" y="2054269"/>
                  </a:lnTo>
                  <a:lnTo>
                    <a:pt x="10657324" y="2057399"/>
                  </a:lnTo>
                  <a:lnTo>
                    <a:pt x="342906" y="2057399"/>
                  </a:lnTo>
                  <a:lnTo>
                    <a:pt x="296376" y="2054269"/>
                  </a:lnTo>
                  <a:lnTo>
                    <a:pt x="251748" y="2045151"/>
                  </a:lnTo>
                  <a:lnTo>
                    <a:pt x="209432" y="2030452"/>
                  </a:lnTo>
                  <a:lnTo>
                    <a:pt x="169835" y="2010583"/>
                  </a:lnTo>
                  <a:lnTo>
                    <a:pt x="133366" y="1985951"/>
                  </a:lnTo>
                  <a:lnTo>
                    <a:pt x="100435" y="1956964"/>
                  </a:lnTo>
                  <a:lnTo>
                    <a:pt x="71448" y="1924033"/>
                  </a:lnTo>
                  <a:lnTo>
                    <a:pt x="46816" y="1887564"/>
                  </a:lnTo>
                  <a:lnTo>
                    <a:pt x="26947" y="1847967"/>
                  </a:lnTo>
                  <a:lnTo>
                    <a:pt x="12248" y="1805651"/>
                  </a:lnTo>
                  <a:lnTo>
                    <a:pt x="3130" y="1761023"/>
                  </a:lnTo>
                  <a:lnTo>
                    <a:pt x="0" y="1714493"/>
                  </a:lnTo>
                  <a:lnTo>
                    <a:pt x="0" y="342906"/>
                  </a:lnTo>
                  <a:close/>
                </a:path>
              </a:pathLst>
            </a:custGeom>
            <a:ln w="19049">
              <a:solidFill>
                <a:srgbClr val="1E39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597" y="4138757"/>
              <a:ext cx="11089757" cy="528437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94359" y="4160520"/>
              <a:ext cx="11000740" cy="439420"/>
            </a:xfrm>
            <a:custGeom>
              <a:avLst/>
              <a:gdLst/>
              <a:ahLst/>
              <a:cxnLst/>
              <a:rect l="l" t="t" r="r" b="b"/>
              <a:pathLst>
                <a:path w="11000740" h="439420">
                  <a:moveTo>
                    <a:pt x="10927078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10927078" y="0"/>
                  </a:lnTo>
                  <a:lnTo>
                    <a:pt x="10967663" y="12290"/>
                  </a:lnTo>
                  <a:lnTo>
                    <a:pt x="10994663" y="45158"/>
                  </a:lnTo>
                  <a:lnTo>
                    <a:pt x="11000232" y="73153"/>
                  </a:lnTo>
                  <a:lnTo>
                    <a:pt x="11000232" y="365758"/>
                  </a:lnTo>
                  <a:lnTo>
                    <a:pt x="10994483" y="394233"/>
                  </a:lnTo>
                  <a:lnTo>
                    <a:pt x="10978805" y="417485"/>
                  </a:lnTo>
                  <a:lnTo>
                    <a:pt x="10955553" y="433163"/>
                  </a:lnTo>
                  <a:lnTo>
                    <a:pt x="10927078" y="438911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594359" y="4160520"/>
              <a:ext cx="11000740" cy="439420"/>
            </a:xfrm>
            <a:custGeom>
              <a:avLst/>
              <a:gdLst/>
              <a:ahLst/>
              <a:cxnLst/>
              <a:rect l="l" t="t" r="r" b="b"/>
              <a:pathLst>
                <a:path w="11000740" h="439420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10927078" y="0"/>
                  </a:lnTo>
                  <a:lnTo>
                    <a:pt x="10967663" y="12290"/>
                  </a:lnTo>
                  <a:lnTo>
                    <a:pt x="10994663" y="45158"/>
                  </a:lnTo>
                  <a:lnTo>
                    <a:pt x="11000232" y="73153"/>
                  </a:lnTo>
                  <a:lnTo>
                    <a:pt x="11000232" y="365758"/>
                  </a:lnTo>
                  <a:lnTo>
                    <a:pt x="10994483" y="394233"/>
                  </a:lnTo>
                  <a:lnTo>
                    <a:pt x="10978805" y="417485"/>
                  </a:lnTo>
                  <a:lnTo>
                    <a:pt x="10955553" y="433163"/>
                  </a:lnTo>
                  <a:lnTo>
                    <a:pt x="10927078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47649" y="4283887"/>
              <a:ext cx="221258" cy="208243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3096390" y="4258246"/>
            <a:ext cx="61582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THREE-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TIER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ARCHITECTURE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SPECIFICATIONS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SECURITY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GUARANTEES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64540" y="4628774"/>
            <a:ext cx="3474720" cy="144653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81610" algn="l"/>
              </a:tabLst>
            </a:pPr>
            <a:r>
              <a:rPr sz="135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Client</a:t>
            </a:r>
            <a:r>
              <a:rPr sz="135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Tier</a:t>
            </a:r>
            <a:r>
              <a:rPr sz="135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(Ports</a:t>
            </a:r>
            <a:r>
              <a:rPr sz="135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5173</a:t>
            </a:r>
            <a:r>
              <a:rPr sz="135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135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spc="-1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5174)</a:t>
            </a:r>
            <a:endParaRPr sz="1350">
              <a:latin typeface="Calibri" panose="020F0502020204030204"/>
              <a:cs typeface="Calibri" panose="020F0502020204030204"/>
            </a:endParaRPr>
          </a:p>
          <a:p>
            <a:pPr marL="12700" marR="5080" lvl="1" indent="105410">
              <a:lnSpc>
                <a:spcPct val="100000"/>
              </a:lnSpc>
              <a:spcBef>
                <a:spcPts val="410"/>
              </a:spcBef>
              <a:buChar char="•"/>
              <a:tabLst>
                <a:tab pos="118110" algn="l"/>
              </a:tabLst>
            </a:pP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Independent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React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18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Vite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SPAs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Candidates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HR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Recruiters.</a:t>
            </a:r>
            <a:endParaRPr sz="1150">
              <a:latin typeface="Calibri" panose="020F0502020204030204"/>
              <a:cs typeface="Calibri" panose="020F0502020204030204"/>
            </a:endParaRPr>
          </a:p>
          <a:p>
            <a:pPr marL="12700" marR="340360" lvl="1" indent="105410">
              <a:lnSpc>
                <a:spcPct val="100000"/>
              </a:lnSpc>
              <a:spcBef>
                <a:spcPts val="200"/>
              </a:spcBef>
              <a:buChar char="•"/>
              <a:tabLst>
                <a:tab pos="118110" algn="l"/>
              </a:tabLst>
            </a:pP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direct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database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access;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strictly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communicates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through</a:t>
            </a:r>
            <a:r>
              <a:rPr sz="115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REST</a:t>
            </a:r>
            <a:r>
              <a:rPr sz="115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APIs.</a:t>
            </a:r>
            <a:endParaRPr sz="1150">
              <a:latin typeface="Calibri" panose="020F0502020204030204"/>
              <a:cs typeface="Calibri" panose="020F0502020204030204"/>
            </a:endParaRPr>
          </a:p>
          <a:p>
            <a:pPr marL="12700" marR="167005" lvl="1" indent="105410">
              <a:lnSpc>
                <a:spcPct val="100000"/>
              </a:lnSpc>
              <a:spcBef>
                <a:spcPts val="200"/>
              </a:spcBef>
              <a:buChar char="•"/>
              <a:tabLst>
                <a:tab pos="118110" algn="l"/>
              </a:tabLst>
            </a:pP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Interactive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Explainable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Match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Breakdown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Modal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live</a:t>
            </a:r>
            <a:r>
              <a:rPr sz="115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verification</a:t>
            </a:r>
            <a:r>
              <a:rPr sz="115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proofs.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422140" y="4628774"/>
            <a:ext cx="3475990" cy="144653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575"/>
              </a:spcBef>
              <a:buAutoNum type="arabicPeriod" startAt="2"/>
              <a:tabLst>
                <a:tab pos="181610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API</a:t>
            </a:r>
            <a:r>
              <a:rPr sz="135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35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Inference</a:t>
            </a:r>
            <a:r>
              <a:rPr sz="135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Tier</a:t>
            </a:r>
            <a:r>
              <a:rPr sz="135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(Port</a:t>
            </a:r>
            <a:r>
              <a:rPr sz="135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8000)</a:t>
            </a:r>
            <a:endParaRPr sz="1350">
              <a:latin typeface="Calibri" panose="020F0502020204030204"/>
              <a:cs typeface="Calibri" panose="020F0502020204030204"/>
            </a:endParaRPr>
          </a:p>
          <a:p>
            <a:pPr marL="12700" marR="226695" lvl="1" indent="105410">
              <a:lnSpc>
                <a:spcPct val="100000"/>
              </a:lnSpc>
              <a:spcBef>
                <a:spcPts val="410"/>
              </a:spcBef>
              <a:buChar char="•"/>
              <a:tabLst>
                <a:tab pos="118110" algn="l"/>
              </a:tabLst>
            </a:pP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Asynchronous</a:t>
            </a:r>
            <a:r>
              <a:rPr sz="115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Python</a:t>
            </a:r>
            <a:r>
              <a:rPr sz="115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FastAPI</a:t>
            </a:r>
            <a:r>
              <a:rPr sz="115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backend</a:t>
            </a:r>
            <a:r>
              <a:rPr sz="115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orchestrating high-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speed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inference.</a:t>
            </a:r>
            <a:endParaRPr sz="1150">
              <a:latin typeface="Calibri" panose="020F0502020204030204"/>
              <a:cs typeface="Calibri" panose="020F0502020204030204"/>
            </a:endParaRPr>
          </a:p>
          <a:p>
            <a:pPr marL="12700" marR="511810" lvl="1" indent="105410">
              <a:lnSpc>
                <a:spcPct val="100000"/>
              </a:lnSpc>
              <a:spcBef>
                <a:spcPts val="200"/>
              </a:spcBef>
              <a:buChar char="•"/>
              <a:tabLst>
                <a:tab pos="118110" algn="l"/>
              </a:tabLst>
            </a:pP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Sub-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50ms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execution</a:t>
            </a:r>
            <a:r>
              <a:rPr sz="115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latency</a:t>
            </a:r>
            <a:r>
              <a:rPr sz="115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15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commodity 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CPU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hardware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GPU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cost.</a:t>
            </a:r>
            <a:endParaRPr sz="1150">
              <a:latin typeface="Calibri" panose="020F0502020204030204"/>
              <a:cs typeface="Calibri" panose="020F0502020204030204"/>
            </a:endParaRPr>
          </a:p>
          <a:p>
            <a:pPr marL="12700" marR="5080" lvl="1" indent="105410">
              <a:lnSpc>
                <a:spcPct val="100000"/>
              </a:lnSpc>
              <a:spcBef>
                <a:spcPts val="200"/>
              </a:spcBef>
              <a:buChar char="•"/>
              <a:tabLst>
                <a:tab pos="118110" algn="l"/>
              </a:tabLst>
            </a:pP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Zero-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ML</a:t>
            </a:r>
            <a:r>
              <a:rPr sz="1150" spc="-5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document</a:t>
            </a:r>
            <a:r>
              <a:rPr sz="115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parsing</a:t>
            </a:r>
            <a:r>
              <a:rPr sz="115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pipeline</a:t>
            </a:r>
            <a:r>
              <a:rPr sz="115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utilizing</a:t>
            </a:r>
            <a:r>
              <a:rPr sz="115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PyPDF2</a:t>
            </a:r>
            <a:r>
              <a:rPr sz="115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python-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docx.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079740" y="4628774"/>
            <a:ext cx="3388995" cy="144653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575"/>
              </a:spcBef>
              <a:buAutoNum type="arabicPeriod" startAt="3"/>
              <a:tabLst>
                <a:tab pos="181610" algn="l"/>
              </a:tabLst>
            </a:pPr>
            <a:r>
              <a:rPr sz="1350" b="1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Storage</a:t>
            </a:r>
            <a:r>
              <a:rPr sz="1350" b="1" spc="-30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350" b="1" spc="-25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Security</a:t>
            </a:r>
            <a:r>
              <a:rPr sz="1350" b="1" spc="-25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spc="-20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Tier</a:t>
            </a:r>
            <a:endParaRPr sz="1350">
              <a:latin typeface="Calibri" panose="020F0502020204030204"/>
              <a:cs typeface="Calibri" panose="020F0502020204030204"/>
            </a:endParaRPr>
          </a:p>
          <a:p>
            <a:pPr marL="12700" marR="120650" lvl="1" indent="105410">
              <a:lnSpc>
                <a:spcPct val="100000"/>
              </a:lnSpc>
              <a:spcBef>
                <a:spcPts val="410"/>
              </a:spcBef>
              <a:buChar char="•"/>
              <a:tabLst>
                <a:tab pos="118110" algn="l"/>
              </a:tabLst>
            </a:pP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PostgreSQL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hosted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Supabase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enforced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 Row-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Level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Security</a:t>
            </a:r>
            <a:r>
              <a:rPr sz="115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(RLS).</a:t>
            </a:r>
            <a:endParaRPr sz="1150">
              <a:latin typeface="Calibri" panose="020F0502020204030204"/>
              <a:cs typeface="Calibri" panose="020F0502020204030204"/>
            </a:endParaRPr>
          </a:p>
          <a:p>
            <a:pPr marL="12700" marR="288290" lvl="1" indent="105410">
              <a:lnSpc>
                <a:spcPct val="100000"/>
              </a:lnSpc>
              <a:spcBef>
                <a:spcPts val="200"/>
              </a:spcBef>
              <a:buChar char="•"/>
              <a:tabLst>
                <a:tab pos="118110" algn="l"/>
              </a:tabLst>
            </a:pP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Supabase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service-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role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secret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key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loaded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strictly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by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backend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local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.env.</a:t>
            </a:r>
            <a:endParaRPr sz="1150">
              <a:latin typeface="Calibri" panose="020F0502020204030204"/>
              <a:cs typeface="Calibri" panose="020F0502020204030204"/>
            </a:endParaRPr>
          </a:p>
          <a:p>
            <a:pPr marL="12700" marR="5080" lvl="1" indent="105410">
              <a:lnSpc>
                <a:spcPct val="100000"/>
              </a:lnSpc>
              <a:spcBef>
                <a:spcPts val="200"/>
              </a:spcBef>
              <a:buChar char="•"/>
              <a:tabLst>
                <a:tab pos="118110" algn="l"/>
              </a:tabLst>
            </a:pP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Authentication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guarded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PyJWT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token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validation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and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Bcrypt</a:t>
            </a:r>
            <a:r>
              <a:rPr sz="1150" spc="-5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password</a:t>
            </a:r>
            <a:r>
              <a:rPr sz="115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hashing.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Methodology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468165" y="155447"/>
            <a:ext cx="205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835" y="1207915"/>
            <a:ext cx="3601720" cy="2430780"/>
            <a:chOff x="544835" y="1207915"/>
            <a:chExt cx="3601720" cy="243078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1207915"/>
              <a:ext cx="3601202" cy="24307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23443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60" h="2331720">
                  <a:moveTo>
                    <a:pt x="3113524" y="2331719"/>
                  </a:move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6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8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2"/>
                  </a:lnTo>
                  <a:lnTo>
                    <a:pt x="0" y="388627"/>
                  </a:lnTo>
                  <a:lnTo>
                    <a:pt x="3027" y="339879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6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4" y="0"/>
                  </a:lnTo>
                  <a:lnTo>
                    <a:pt x="3164607" y="3370"/>
                  </a:lnTo>
                  <a:lnTo>
                    <a:pt x="3214382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1" y="337544"/>
                  </a:lnTo>
                  <a:lnTo>
                    <a:pt x="3502151" y="388627"/>
                  </a:lnTo>
                  <a:lnTo>
                    <a:pt x="3502151" y="1943092"/>
                  </a:lnTo>
                  <a:lnTo>
                    <a:pt x="3499124" y="1991840"/>
                  </a:lnTo>
                  <a:lnTo>
                    <a:pt x="3490282" y="2038782"/>
                  </a:lnTo>
                  <a:lnTo>
                    <a:pt x="3475992" y="2083552"/>
                  </a:lnTo>
                  <a:lnTo>
                    <a:pt x="3456618" y="2125788"/>
                  </a:lnTo>
                  <a:lnTo>
                    <a:pt x="3432522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5" y="2305560"/>
                  </a:lnTo>
                  <a:lnTo>
                    <a:pt x="3209214" y="2319850"/>
                  </a:lnTo>
                  <a:lnTo>
                    <a:pt x="3162273" y="2328692"/>
                  </a:lnTo>
                  <a:lnTo>
                    <a:pt x="3113524" y="23317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359" y="123443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60" h="2331720">
                  <a:moveTo>
                    <a:pt x="0" y="388627"/>
                  </a:moveTo>
                  <a:lnTo>
                    <a:pt x="3027" y="339879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6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4" y="0"/>
                  </a:lnTo>
                  <a:lnTo>
                    <a:pt x="3164607" y="3370"/>
                  </a:lnTo>
                  <a:lnTo>
                    <a:pt x="3214382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1" y="337544"/>
                  </a:lnTo>
                  <a:lnTo>
                    <a:pt x="3502151" y="388627"/>
                  </a:lnTo>
                  <a:lnTo>
                    <a:pt x="3502151" y="1943092"/>
                  </a:lnTo>
                  <a:lnTo>
                    <a:pt x="3499124" y="1991840"/>
                  </a:lnTo>
                  <a:lnTo>
                    <a:pt x="3490282" y="2038782"/>
                  </a:lnTo>
                  <a:lnTo>
                    <a:pt x="3475992" y="2083552"/>
                  </a:lnTo>
                  <a:lnTo>
                    <a:pt x="3456618" y="2125788"/>
                  </a:lnTo>
                  <a:lnTo>
                    <a:pt x="3432522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5" y="2305560"/>
                  </a:lnTo>
                  <a:lnTo>
                    <a:pt x="3209214" y="2319850"/>
                  </a:lnTo>
                  <a:lnTo>
                    <a:pt x="3162273" y="2328692"/>
                  </a:lnTo>
                  <a:lnTo>
                    <a:pt x="3113524" y="2331719"/>
                  </a:ln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6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8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2"/>
                  </a:lnTo>
                  <a:lnTo>
                    <a:pt x="0" y="388627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757" y="1349837"/>
              <a:ext cx="1003925" cy="40956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31519" y="1371599"/>
              <a:ext cx="914400" cy="320040"/>
            </a:xfrm>
            <a:custGeom>
              <a:avLst/>
              <a:gdLst/>
              <a:ahLst/>
              <a:cxnLst/>
              <a:rect l="l" t="t" r="r" b="b"/>
              <a:pathLst>
                <a:path w="914400" h="320039">
                  <a:moveTo>
                    <a:pt x="861058" y="320039"/>
                  </a:move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1"/>
                  </a:ln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861058" y="0"/>
                  </a:lnTo>
                  <a:lnTo>
                    <a:pt x="898776" y="15623"/>
                  </a:lnTo>
                  <a:lnTo>
                    <a:pt x="914399" y="53341"/>
                  </a:lnTo>
                  <a:lnTo>
                    <a:pt x="914399" y="266698"/>
                  </a:lnTo>
                  <a:lnTo>
                    <a:pt x="910208" y="287461"/>
                  </a:lnTo>
                  <a:lnTo>
                    <a:pt x="898776" y="304416"/>
                  </a:lnTo>
                  <a:lnTo>
                    <a:pt x="881821" y="315848"/>
                  </a:lnTo>
                  <a:lnTo>
                    <a:pt x="861058" y="32003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31519" y="1371599"/>
              <a:ext cx="914400" cy="320040"/>
            </a:xfrm>
            <a:custGeom>
              <a:avLst/>
              <a:gdLst/>
              <a:ahLst/>
              <a:cxnLst/>
              <a:rect l="l" t="t" r="r" b="b"/>
              <a:pathLst>
                <a:path w="914400" h="320039">
                  <a:moveTo>
                    <a:pt x="0" y="53341"/>
                  </a:move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861058" y="0"/>
                  </a:lnTo>
                  <a:lnTo>
                    <a:pt x="898776" y="15623"/>
                  </a:lnTo>
                  <a:lnTo>
                    <a:pt x="914399" y="53341"/>
                  </a:lnTo>
                  <a:lnTo>
                    <a:pt x="914399" y="266698"/>
                  </a:lnTo>
                  <a:lnTo>
                    <a:pt x="910208" y="287461"/>
                  </a:lnTo>
                  <a:lnTo>
                    <a:pt x="898776" y="304416"/>
                  </a:lnTo>
                  <a:lnTo>
                    <a:pt x="881821" y="315848"/>
                  </a:lnTo>
                  <a:lnTo>
                    <a:pt x="861058" y="320039"/>
                  </a:ln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45452" y="1429511"/>
            <a:ext cx="4762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STEP</a:t>
            </a:r>
            <a:r>
              <a:rPr sz="1100" b="1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01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92597" y="1349837"/>
            <a:ext cx="2284095" cy="409575"/>
            <a:chOff x="1692597" y="1349837"/>
            <a:chExt cx="2284095" cy="40957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2597" y="1349837"/>
              <a:ext cx="2284085" cy="40956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37359" y="1371600"/>
              <a:ext cx="2194560" cy="320040"/>
            </a:xfrm>
            <a:custGeom>
              <a:avLst/>
              <a:gdLst/>
              <a:ahLst/>
              <a:cxnLst/>
              <a:rect l="l" t="t" r="r" b="b"/>
              <a:pathLst>
                <a:path w="2194560" h="320039">
                  <a:moveTo>
                    <a:pt x="2141218" y="320039"/>
                  </a:moveTo>
                  <a:lnTo>
                    <a:pt x="53340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1"/>
                  </a:ln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0" y="0"/>
                  </a:lnTo>
                  <a:lnTo>
                    <a:pt x="2141218" y="0"/>
                  </a:lnTo>
                  <a:lnTo>
                    <a:pt x="2178936" y="15623"/>
                  </a:lnTo>
                  <a:lnTo>
                    <a:pt x="2194559" y="53341"/>
                  </a:lnTo>
                  <a:lnTo>
                    <a:pt x="2194559" y="266698"/>
                  </a:lnTo>
                  <a:lnTo>
                    <a:pt x="2190368" y="287461"/>
                  </a:lnTo>
                  <a:lnTo>
                    <a:pt x="2178936" y="304416"/>
                  </a:lnTo>
                  <a:lnTo>
                    <a:pt x="2161981" y="315848"/>
                  </a:lnTo>
                  <a:lnTo>
                    <a:pt x="2141218" y="32003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737359" y="1371600"/>
              <a:ext cx="2194560" cy="320040"/>
            </a:xfrm>
            <a:custGeom>
              <a:avLst/>
              <a:gdLst/>
              <a:ahLst/>
              <a:cxnLst/>
              <a:rect l="l" t="t" r="r" b="b"/>
              <a:pathLst>
                <a:path w="2194560" h="320039">
                  <a:moveTo>
                    <a:pt x="0" y="53341"/>
                  </a:move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0" y="0"/>
                  </a:lnTo>
                  <a:lnTo>
                    <a:pt x="2141218" y="0"/>
                  </a:lnTo>
                  <a:lnTo>
                    <a:pt x="2178936" y="15623"/>
                  </a:lnTo>
                  <a:lnTo>
                    <a:pt x="2194559" y="53341"/>
                  </a:lnTo>
                  <a:lnTo>
                    <a:pt x="2194559" y="266698"/>
                  </a:lnTo>
                  <a:lnTo>
                    <a:pt x="2190368" y="287461"/>
                  </a:lnTo>
                  <a:lnTo>
                    <a:pt x="2178936" y="304416"/>
                  </a:lnTo>
                  <a:lnTo>
                    <a:pt x="2161981" y="315848"/>
                  </a:lnTo>
                  <a:lnTo>
                    <a:pt x="2141218" y="320039"/>
                  </a:lnTo>
                  <a:lnTo>
                    <a:pt x="53340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1"/>
                  </a:lnTo>
                  <a:close/>
                </a:path>
              </a:pathLst>
            </a:custGeom>
            <a:ln w="9524">
              <a:solidFill>
                <a:srgbClr val="F1F4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115660" y="1437640"/>
            <a:ext cx="14732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UNIT</a:t>
            </a:r>
            <a:r>
              <a:rPr sz="10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I:</a:t>
            </a:r>
            <a:r>
              <a:rPr sz="10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AGENT</a:t>
            </a:r>
            <a:r>
              <a:rPr sz="10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PERCEPTION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8820" y="1654894"/>
            <a:ext cx="3147060" cy="113792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1.</a:t>
            </a:r>
            <a:r>
              <a:rPr sz="14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140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Ingestion</a:t>
            </a:r>
            <a:r>
              <a:rPr sz="140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Extraction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Candidates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upload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PDF/DOCX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resumes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via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Portal.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PyPDF2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python-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docx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extract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raw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text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streams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without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probabilistic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ML.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job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constraints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parsed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via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HR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portal.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293875" y="1207915"/>
            <a:ext cx="3601720" cy="2430780"/>
            <a:chOff x="4293875" y="1207915"/>
            <a:chExt cx="3601720" cy="2430780"/>
          </a:xfrm>
        </p:grpSpPr>
        <p:pic>
          <p:nvPicPr>
            <p:cNvPr id="19" name="object 1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293875" y="1207915"/>
              <a:ext cx="3601202" cy="243077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343399" y="123443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59" h="2331720">
                  <a:moveTo>
                    <a:pt x="3113524" y="2331719"/>
                  </a:move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6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8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2"/>
                  </a:lnTo>
                  <a:lnTo>
                    <a:pt x="0" y="388627"/>
                  </a:lnTo>
                  <a:lnTo>
                    <a:pt x="3027" y="339879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6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4" y="0"/>
                  </a:lnTo>
                  <a:lnTo>
                    <a:pt x="3164606" y="3370"/>
                  </a:lnTo>
                  <a:lnTo>
                    <a:pt x="3214382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2" y="337544"/>
                  </a:lnTo>
                  <a:lnTo>
                    <a:pt x="3502152" y="388627"/>
                  </a:lnTo>
                  <a:lnTo>
                    <a:pt x="3502152" y="1943092"/>
                  </a:lnTo>
                  <a:lnTo>
                    <a:pt x="3499124" y="1991840"/>
                  </a:lnTo>
                  <a:lnTo>
                    <a:pt x="3490283" y="2038782"/>
                  </a:lnTo>
                  <a:lnTo>
                    <a:pt x="3475993" y="2083552"/>
                  </a:lnTo>
                  <a:lnTo>
                    <a:pt x="3456618" y="2125788"/>
                  </a:lnTo>
                  <a:lnTo>
                    <a:pt x="3432523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4" y="2305560"/>
                  </a:lnTo>
                  <a:lnTo>
                    <a:pt x="3209214" y="2319850"/>
                  </a:lnTo>
                  <a:lnTo>
                    <a:pt x="3162272" y="2328692"/>
                  </a:lnTo>
                  <a:lnTo>
                    <a:pt x="3113524" y="23317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343399" y="123443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59" h="2331720">
                  <a:moveTo>
                    <a:pt x="0" y="388627"/>
                  </a:moveTo>
                  <a:lnTo>
                    <a:pt x="3027" y="339879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6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4" y="0"/>
                  </a:lnTo>
                  <a:lnTo>
                    <a:pt x="3164606" y="3370"/>
                  </a:lnTo>
                  <a:lnTo>
                    <a:pt x="3214382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2" y="337544"/>
                  </a:lnTo>
                  <a:lnTo>
                    <a:pt x="3502152" y="388627"/>
                  </a:lnTo>
                  <a:lnTo>
                    <a:pt x="3502152" y="1943092"/>
                  </a:lnTo>
                  <a:lnTo>
                    <a:pt x="3499124" y="1991840"/>
                  </a:lnTo>
                  <a:lnTo>
                    <a:pt x="3490283" y="2038782"/>
                  </a:lnTo>
                  <a:lnTo>
                    <a:pt x="3475993" y="2083552"/>
                  </a:lnTo>
                  <a:lnTo>
                    <a:pt x="3456618" y="2125788"/>
                  </a:lnTo>
                  <a:lnTo>
                    <a:pt x="3432523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4" y="2305560"/>
                  </a:lnTo>
                  <a:lnTo>
                    <a:pt x="3209214" y="2319850"/>
                  </a:lnTo>
                  <a:lnTo>
                    <a:pt x="3162272" y="2328692"/>
                  </a:lnTo>
                  <a:lnTo>
                    <a:pt x="3113524" y="2331719"/>
                  </a:ln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6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8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2"/>
                  </a:lnTo>
                  <a:lnTo>
                    <a:pt x="0" y="388627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5797" y="1349837"/>
              <a:ext cx="1003925" cy="40956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480559" y="1371599"/>
              <a:ext cx="914400" cy="320040"/>
            </a:xfrm>
            <a:custGeom>
              <a:avLst/>
              <a:gdLst/>
              <a:ahLst/>
              <a:cxnLst/>
              <a:rect l="l" t="t" r="r" b="b"/>
              <a:pathLst>
                <a:path w="914400" h="320039">
                  <a:moveTo>
                    <a:pt x="861058" y="320039"/>
                  </a:move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1"/>
                  </a:ln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861058" y="0"/>
                  </a:lnTo>
                  <a:lnTo>
                    <a:pt x="898776" y="15623"/>
                  </a:lnTo>
                  <a:lnTo>
                    <a:pt x="914399" y="53341"/>
                  </a:lnTo>
                  <a:lnTo>
                    <a:pt x="914399" y="266698"/>
                  </a:lnTo>
                  <a:lnTo>
                    <a:pt x="910208" y="287461"/>
                  </a:lnTo>
                  <a:lnTo>
                    <a:pt x="898776" y="304416"/>
                  </a:lnTo>
                  <a:lnTo>
                    <a:pt x="881821" y="315848"/>
                  </a:lnTo>
                  <a:lnTo>
                    <a:pt x="861058" y="320039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480559" y="1371599"/>
              <a:ext cx="914400" cy="320040"/>
            </a:xfrm>
            <a:custGeom>
              <a:avLst/>
              <a:gdLst/>
              <a:ahLst/>
              <a:cxnLst/>
              <a:rect l="l" t="t" r="r" b="b"/>
              <a:pathLst>
                <a:path w="914400" h="320039">
                  <a:moveTo>
                    <a:pt x="0" y="53341"/>
                  </a:move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861058" y="0"/>
                  </a:lnTo>
                  <a:lnTo>
                    <a:pt x="898776" y="15623"/>
                  </a:lnTo>
                  <a:lnTo>
                    <a:pt x="914399" y="53341"/>
                  </a:lnTo>
                  <a:lnTo>
                    <a:pt x="914399" y="266698"/>
                  </a:lnTo>
                  <a:lnTo>
                    <a:pt x="910208" y="287461"/>
                  </a:lnTo>
                  <a:lnTo>
                    <a:pt x="898776" y="304416"/>
                  </a:lnTo>
                  <a:lnTo>
                    <a:pt x="881821" y="315848"/>
                  </a:lnTo>
                  <a:lnTo>
                    <a:pt x="861058" y="320039"/>
                  </a:ln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1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694492" y="1429511"/>
            <a:ext cx="4762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STEP</a:t>
            </a:r>
            <a:r>
              <a:rPr sz="1100" b="1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02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41637" y="1349837"/>
            <a:ext cx="2284095" cy="409575"/>
            <a:chOff x="5441637" y="1349837"/>
            <a:chExt cx="2284095" cy="409575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1637" y="1349837"/>
              <a:ext cx="2284085" cy="40956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486399" y="1371600"/>
              <a:ext cx="2194560" cy="320040"/>
            </a:xfrm>
            <a:custGeom>
              <a:avLst/>
              <a:gdLst/>
              <a:ahLst/>
              <a:cxnLst/>
              <a:rect l="l" t="t" r="r" b="b"/>
              <a:pathLst>
                <a:path w="2194559" h="320039">
                  <a:moveTo>
                    <a:pt x="2141218" y="320039"/>
                  </a:moveTo>
                  <a:lnTo>
                    <a:pt x="53340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1"/>
                  </a:ln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0" y="0"/>
                  </a:lnTo>
                  <a:lnTo>
                    <a:pt x="2141218" y="0"/>
                  </a:lnTo>
                  <a:lnTo>
                    <a:pt x="2178936" y="15623"/>
                  </a:lnTo>
                  <a:lnTo>
                    <a:pt x="2194559" y="53341"/>
                  </a:lnTo>
                  <a:lnTo>
                    <a:pt x="2194559" y="266698"/>
                  </a:lnTo>
                  <a:lnTo>
                    <a:pt x="2190368" y="287461"/>
                  </a:lnTo>
                  <a:lnTo>
                    <a:pt x="2178936" y="304416"/>
                  </a:lnTo>
                  <a:lnTo>
                    <a:pt x="2161981" y="315848"/>
                  </a:lnTo>
                  <a:lnTo>
                    <a:pt x="2141218" y="32003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486399" y="1371600"/>
              <a:ext cx="2194560" cy="320040"/>
            </a:xfrm>
            <a:custGeom>
              <a:avLst/>
              <a:gdLst/>
              <a:ahLst/>
              <a:cxnLst/>
              <a:rect l="l" t="t" r="r" b="b"/>
              <a:pathLst>
                <a:path w="2194559" h="320039">
                  <a:moveTo>
                    <a:pt x="0" y="53341"/>
                  </a:move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0" y="0"/>
                  </a:lnTo>
                  <a:lnTo>
                    <a:pt x="2141218" y="0"/>
                  </a:lnTo>
                  <a:lnTo>
                    <a:pt x="2178936" y="15623"/>
                  </a:lnTo>
                  <a:lnTo>
                    <a:pt x="2194559" y="53341"/>
                  </a:lnTo>
                  <a:lnTo>
                    <a:pt x="2194559" y="266698"/>
                  </a:lnTo>
                  <a:lnTo>
                    <a:pt x="2190368" y="287461"/>
                  </a:lnTo>
                  <a:lnTo>
                    <a:pt x="2178936" y="304416"/>
                  </a:lnTo>
                  <a:lnTo>
                    <a:pt x="2161981" y="315848"/>
                  </a:lnTo>
                  <a:lnTo>
                    <a:pt x="2141218" y="320039"/>
                  </a:lnTo>
                  <a:lnTo>
                    <a:pt x="53340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1"/>
                  </a:lnTo>
                  <a:close/>
                </a:path>
              </a:pathLst>
            </a:custGeom>
            <a:ln w="9524">
              <a:solidFill>
                <a:srgbClr val="F1F4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895293" y="1437640"/>
            <a:ext cx="14103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ZERO-</a:t>
            </a:r>
            <a:r>
              <a:rPr sz="10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ML</a:t>
            </a:r>
            <a:r>
              <a:rPr sz="1000" b="1" spc="1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1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PREPROCESSING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67860" y="1654894"/>
            <a:ext cx="3165475" cy="113792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2.</a:t>
            </a:r>
            <a:r>
              <a:rPr sz="14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Text</a:t>
            </a:r>
            <a:r>
              <a:rPr sz="14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Preprocessing</a:t>
            </a:r>
            <a:r>
              <a:rPr sz="140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Cleaning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Section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segmentation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boundary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detection, whitespace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normalization,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regex extraction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email,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phone,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total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employment duration.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042915" y="1207915"/>
            <a:ext cx="3601720" cy="2430780"/>
            <a:chOff x="8042915" y="1207915"/>
            <a:chExt cx="3601720" cy="2430780"/>
          </a:xfrm>
        </p:grpSpPr>
        <p:pic>
          <p:nvPicPr>
            <p:cNvPr id="33" name="object 3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042915" y="1207915"/>
              <a:ext cx="3601202" cy="243077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092439" y="123443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59" h="2331720">
                  <a:moveTo>
                    <a:pt x="3113523" y="2331719"/>
                  </a:move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7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8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2"/>
                  </a:lnTo>
                  <a:lnTo>
                    <a:pt x="0" y="388627"/>
                  </a:lnTo>
                  <a:lnTo>
                    <a:pt x="3027" y="339879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7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3" y="0"/>
                  </a:lnTo>
                  <a:lnTo>
                    <a:pt x="3164606" y="3370"/>
                  </a:lnTo>
                  <a:lnTo>
                    <a:pt x="3214381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2" y="337544"/>
                  </a:lnTo>
                  <a:lnTo>
                    <a:pt x="3502152" y="388627"/>
                  </a:lnTo>
                  <a:lnTo>
                    <a:pt x="3502152" y="1943092"/>
                  </a:lnTo>
                  <a:lnTo>
                    <a:pt x="3499124" y="1991840"/>
                  </a:lnTo>
                  <a:lnTo>
                    <a:pt x="3490283" y="2038782"/>
                  </a:lnTo>
                  <a:lnTo>
                    <a:pt x="3475993" y="2083552"/>
                  </a:lnTo>
                  <a:lnTo>
                    <a:pt x="3456618" y="2125788"/>
                  </a:lnTo>
                  <a:lnTo>
                    <a:pt x="3432523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4" y="2305560"/>
                  </a:lnTo>
                  <a:lnTo>
                    <a:pt x="3209214" y="2319850"/>
                  </a:lnTo>
                  <a:lnTo>
                    <a:pt x="3162272" y="2328692"/>
                  </a:lnTo>
                  <a:lnTo>
                    <a:pt x="3113523" y="23317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092439" y="123443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59" h="2331720">
                  <a:moveTo>
                    <a:pt x="0" y="388627"/>
                  </a:moveTo>
                  <a:lnTo>
                    <a:pt x="3027" y="339879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7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3" y="0"/>
                  </a:lnTo>
                  <a:lnTo>
                    <a:pt x="3164606" y="3370"/>
                  </a:lnTo>
                  <a:lnTo>
                    <a:pt x="3214381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2" y="337544"/>
                  </a:lnTo>
                  <a:lnTo>
                    <a:pt x="3502152" y="388627"/>
                  </a:lnTo>
                  <a:lnTo>
                    <a:pt x="3502152" y="1943092"/>
                  </a:lnTo>
                  <a:lnTo>
                    <a:pt x="3499124" y="1991840"/>
                  </a:lnTo>
                  <a:lnTo>
                    <a:pt x="3490283" y="2038782"/>
                  </a:lnTo>
                  <a:lnTo>
                    <a:pt x="3475993" y="2083552"/>
                  </a:lnTo>
                  <a:lnTo>
                    <a:pt x="3456618" y="2125788"/>
                  </a:lnTo>
                  <a:lnTo>
                    <a:pt x="3432523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4" y="2305560"/>
                  </a:lnTo>
                  <a:lnTo>
                    <a:pt x="3209214" y="2319850"/>
                  </a:lnTo>
                  <a:lnTo>
                    <a:pt x="3162272" y="2328692"/>
                  </a:lnTo>
                  <a:lnTo>
                    <a:pt x="3113523" y="2331719"/>
                  </a:ln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7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8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2"/>
                  </a:lnTo>
                  <a:lnTo>
                    <a:pt x="0" y="388627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4837" y="1349837"/>
              <a:ext cx="1003925" cy="40956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229599" y="1371599"/>
              <a:ext cx="914400" cy="320040"/>
            </a:xfrm>
            <a:custGeom>
              <a:avLst/>
              <a:gdLst/>
              <a:ahLst/>
              <a:cxnLst/>
              <a:rect l="l" t="t" r="r" b="b"/>
              <a:pathLst>
                <a:path w="914400" h="320039">
                  <a:moveTo>
                    <a:pt x="861058" y="320039"/>
                  </a:move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1"/>
                  </a:ln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861058" y="0"/>
                  </a:lnTo>
                  <a:lnTo>
                    <a:pt x="898776" y="15623"/>
                  </a:lnTo>
                  <a:lnTo>
                    <a:pt x="914399" y="53341"/>
                  </a:lnTo>
                  <a:lnTo>
                    <a:pt x="914399" y="266698"/>
                  </a:lnTo>
                  <a:lnTo>
                    <a:pt x="910208" y="287461"/>
                  </a:lnTo>
                  <a:lnTo>
                    <a:pt x="898776" y="304416"/>
                  </a:lnTo>
                  <a:lnTo>
                    <a:pt x="881821" y="315848"/>
                  </a:lnTo>
                  <a:lnTo>
                    <a:pt x="861058" y="320039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229599" y="1371599"/>
              <a:ext cx="914400" cy="320040"/>
            </a:xfrm>
            <a:custGeom>
              <a:avLst/>
              <a:gdLst/>
              <a:ahLst/>
              <a:cxnLst/>
              <a:rect l="l" t="t" r="r" b="b"/>
              <a:pathLst>
                <a:path w="914400" h="320039">
                  <a:moveTo>
                    <a:pt x="0" y="53341"/>
                  </a:move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861058" y="0"/>
                  </a:lnTo>
                  <a:lnTo>
                    <a:pt x="898776" y="15623"/>
                  </a:lnTo>
                  <a:lnTo>
                    <a:pt x="914399" y="53341"/>
                  </a:lnTo>
                  <a:lnTo>
                    <a:pt x="914399" y="266698"/>
                  </a:lnTo>
                  <a:lnTo>
                    <a:pt x="910208" y="287461"/>
                  </a:lnTo>
                  <a:lnTo>
                    <a:pt x="898776" y="304416"/>
                  </a:lnTo>
                  <a:lnTo>
                    <a:pt x="881821" y="315848"/>
                  </a:lnTo>
                  <a:lnTo>
                    <a:pt x="861058" y="320039"/>
                  </a:ln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1"/>
                  </a:lnTo>
                  <a:close/>
                </a:path>
              </a:pathLst>
            </a:custGeom>
            <a:ln w="9524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8443532" y="1429511"/>
            <a:ext cx="4762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STEP</a:t>
            </a:r>
            <a:r>
              <a:rPr sz="1100" b="1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03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9190677" y="1349837"/>
            <a:ext cx="2284095" cy="409575"/>
            <a:chOff x="9190677" y="1349837"/>
            <a:chExt cx="2284095" cy="409575"/>
          </a:xfrm>
        </p:grpSpPr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0677" y="1349837"/>
              <a:ext cx="2284085" cy="40956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9235439" y="1371600"/>
              <a:ext cx="2194560" cy="320040"/>
            </a:xfrm>
            <a:custGeom>
              <a:avLst/>
              <a:gdLst/>
              <a:ahLst/>
              <a:cxnLst/>
              <a:rect l="l" t="t" r="r" b="b"/>
              <a:pathLst>
                <a:path w="2194559" h="320039">
                  <a:moveTo>
                    <a:pt x="2141218" y="320039"/>
                  </a:move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1"/>
                  </a:ln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2141218" y="0"/>
                  </a:lnTo>
                  <a:lnTo>
                    <a:pt x="2178936" y="15623"/>
                  </a:lnTo>
                  <a:lnTo>
                    <a:pt x="2194559" y="53341"/>
                  </a:lnTo>
                  <a:lnTo>
                    <a:pt x="2194559" y="266698"/>
                  </a:lnTo>
                  <a:lnTo>
                    <a:pt x="2190368" y="287461"/>
                  </a:lnTo>
                  <a:lnTo>
                    <a:pt x="2178936" y="304416"/>
                  </a:lnTo>
                  <a:lnTo>
                    <a:pt x="2161981" y="315848"/>
                  </a:lnTo>
                  <a:lnTo>
                    <a:pt x="2141218" y="32003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9235439" y="1371600"/>
              <a:ext cx="2194560" cy="320040"/>
            </a:xfrm>
            <a:custGeom>
              <a:avLst/>
              <a:gdLst/>
              <a:ahLst/>
              <a:cxnLst/>
              <a:rect l="l" t="t" r="r" b="b"/>
              <a:pathLst>
                <a:path w="2194559" h="320039">
                  <a:moveTo>
                    <a:pt x="0" y="53341"/>
                  </a:move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2141218" y="0"/>
                  </a:lnTo>
                  <a:lnTo>
                    <a:pt x="2178936" y="15623"/>
                  </a:lnTo>
                  <a:lnTo>
                    <a:pt x="2194559" y="53341"/>
                  </a:lnTo>
                  <a:lnTo>
                    <a:pt x="2194559" y="266698"/>
                  </a:lnTo>
                  <a:lnTo>
                    <a:pt x="2190368" y="287461"/>
                  </a:lnTo>
                  <a:lnTo>
                    <a:pt x="2178936" y="304416"/>
                  </a:lnTo>
                  <a:lnTo>
                    <a:pt x="2161981" y="315848"/>
                  </a:lnTo>
                  <a:lnTo>
                    <a:pt x="2141218" y="320039"/>
                  </a:ln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1"/>
                  </a:lnTo>
                  <a:close/>
                </a:path>
              </a:pathLst>
            </a:custGeom>
            <a:ln w="9524">
              <a:solidFill>
                <a:srgbClr val="F1F4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9591913" y="1437640"/>
            <a:ext cx="15176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UNIT</a:t>
            </a:r>
            <a:r>
              <a:rPr sz="1000" b="1" spc="-25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IV:</a:t>
            </a:r>
            <a:r>
              <a:rPr sz="1000" b="1" spc="-20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10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KNOWLEDGE</a:t>
            </a:r>
            <a:r>
              <a:rPr sz="1000" b="1" spc="-25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20" dirty="0">
                <a:solidFill>
                  <a:srgbClr val="0D9488"/>
                </a:solidFill>
                <a:latin typeface="Calibri" panose="020F0502020204030204"/>
                <a:cs typeface="Calibri" panose="020F0502020204030204"/>
              </a:rPr>
              <a:t>ENGG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216900" y="1654894"/>
            <a:ext cx="3023870" cy="113792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3.</a:t>
            </a:r>
            <a:r>
              <a:rPr sz="14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Ontology</a:t>
            </a:r>
            <a:r>
              <a:rPr sz="14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Taxonomy</a:t>
            </a:r>
            <a:r>
              <a:rPr sz="14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Lookup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Word-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boundary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taxonomy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matching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against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40+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curated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domain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trees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alias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normalizers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(e.g.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Postgres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SimSun-ExtB" panose="02010609060101010101" charset="-122"/>
                <a:cs typeface="SimSun-ExtB" panose="02010609060101010101" charset="-122"/>
              </a:rPr>
              <a:t>➔</a:t>
            </a:r>
            <a:r>
              <a:rPr sz="1200" spc="-330" dirty="0">
                <a:solidFill>
                  <a:srgbClr val="0F172A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PostgreSQL),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paired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hierarchical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degree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tiers.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44835" y="3676794"/>
            <a:ext cx="3601720" cy="2430780"/>
            <a:chOff x="544835" y="3676794"/>
            <a:chExt cx="3601720" cy="2430780"/>
          </a:xfrm>
        </p:grpSpPr>
        <p:pic>
          <p:nvPicPr>
            <p:cNvPr id="47" name="object 4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3676794"/>
              <a:ext cx="3601202" cy="243077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94359" y="370331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60" h="2331720">
                  <a:moveTo>
                    <a:pt x="3113524" y="2331719"/>
                  </a:move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6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7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1"/>
                  </a:lnTo>
                  <a:lnTo>
                    <a:pt x="0" y="388627"/>
                  </a:lnTo>
                  <a:lnTo>
                    <a:pt x="3027" y="339878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6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4" y="0"/>
                  </a:lnTo>
                  <a:lnTo>
                    <a:pt x="3164607" y="3370"/>
                  </a:lnTo>
                  <a:lnTo>
                    <a:pt x="3214382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1" y="337544"/>
                  </a:lnTo>
                  <a:lnTo>
                    <a:pt x="3502151" y="388627"/>
                  </a:lnTo>
                  <a:lnTo>
                    <a:pt x="3502151" y="1943091"/>
                  </a:lnTo>
                  <a:lnTo>
                    <a:pt x="3499124" y="1991840"/>
                  </a:lnTo>
                  <a:lnTo>
                    <a:pt x="3490282" y="2038782"/>
                  </a:lnTo>
                  <a:lnTo>
                    <a:pt x="3475992" y="2083552"/>
                  </a:lnTo>
                  <a:lnTo>
                    <a:pt x="3456618" y="2125787"/>
                  </a:lnTo>
                  <a:lnTo>
                    <a:pt x="3432522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5" y="2305560"/>
                  </a:lnTo>
                  <a:lnTo>
                    <a:pt x="3209214" y="2319850"/>
                  </a:lnTo>
                  <a:lnTo>
                    <a:pt x="3162273" y="2328692"/>
                  </a:lnTo>
                  <a:lnTo>
                    <a:pt x="3113524" y="23317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94359" y="370331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60" h="2331720">
                  <a:moveTo>
                    <a:pt x="0" y="388627"/>
                  </a:moveTo>
                  <a:lnTo>
                    <a:pt x="3027" y="339878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6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4" y="0"/>
                  </a:lnTo>
                  <a:lnTo>
                    <a:pt x="3164607" y="3370"/>
                  </a:lnTo>
                  <a:lnTo>
                    <a:pt x="3214382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1" y="337544"/>
                  </a:lnTo>
                  <a:lnTo>
                    <a:pt x="3502151" y="388627"/>
                  </a:lnTo>
                  <a:lnTo>
                    <a:pt x="3502151" y="1943091"/>
                  </a:lnTo>
                  <a:lnTo>
                    <a:pt x="3499124" y="1991840"/>
                  </a:lnTo>
                  <a:lnTo>
                    <a:pt x="3490282" y="2038782"/>
                  </a:lnTo>
                  <a:lnTo>
                    <a:pt x="3475992" y="2083552"/>
                  </a:lnTo>
                  <a:lnTo>
                    <a:pt x="3456618" y="2125787"/>
                  </a:lnTo>
                  <a:lnTo>
                    <a:pt x="3432522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5" y="2305560"/>
                  </a:lnTo>
                  <a:lnTo>
                    <a:pt x="3209214" y="2319850"/>
                  </a:lnTo>
                  <a:lnTo>
                    <a:pt x="3162273" y="2328692"/>
                  </a:lnTo>
                  <a:lnTo>
                    <a:pt x="3113524" y="2331719"/>
                  </a:ln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6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7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1"/>
                  </a:lnTo>
                  <a:lnTo>
                    <a:pt x="0" y="388627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757" y="3818717"/>
              <a:ext cx="1003925" cy="40956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731519" y="3840479"/>
              <a:ext cx="914400" cy="320040"/>
            </a:xfrm>
            <a:custGeom>
              <a:avLst/>
              <a:gdLst/>
              <a:ahLst/>
              <a:cxnLst/>
              <a:rect l="l" t="t" r="r" b="b"/>
              <a:pathLst>
                <a:path w="914400" h="320039">
                  <a:moveTo>
                    <a:pt x="861058" y="320039"/>
                  </a:move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0"/>
                  </a:ln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861058" y="0"/>
                  </a:lnTo>
                  <a:lnTo>
                    <a:pt x="898776" y="15622"/>
                  </a:lnTo>
                  <a:lnTo>
                    <a:pt x="914399" y="53340"/>
                  </a:lnTo>
                  <a:lnTo>
                    <a:pt x="914399" y="266698"/>
                  </a:lnTo>
                  <a:lnTo>
                    <a:pt x="910208" y="287461"/>
                  </a:lnTo>
                  <a:lnTo>
                    <a:pt x="898776" y="304416"/>
                  </a:lnTo>
                  <a:lnTo>
                    <a:pt x="881821" y="315848"/>
                  </a:lnTo>
                  <a:lnTo>
                    <a:pt x="861058" y="32003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31519" y="3840479"/>
              <a:ext cx="914400" cy="320040"/>
            </a:xfrm>
            <a:custGeom>
              <a:avLst/>
              <a:gdLst/>
              <a:ahLst/>
              <a:cxnLst/>
              <a:rect l="l" t="t" r="r" b="b"/>
              <a:pathLst>
                <a:path w="914400" h="320039">
                  <a:moveTo>
                    <a:pt x="0" y="53340"/>
                  </a:move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861058" y="0"/>
                  </a:lnTo>
                  <a:lnTo>
                    <a:pt x="898776" y="15622"/>
                  </a:lnTo>
                  <a:lnTo>
                    <a:pt x="914399" y="53340"/>
                  </a:lnTo>
                  <a:lnTo>
                    <a:pt x="914399" y="266698"/>
                  </a:lnTo>
                  <a:lnTo>
                    <a:pt x="910208" y="287461"/>
                  </a:lnTo>
                  <a:lnTo>
                    <a:pt x="898776" y="304416"/>
                  </a:lnTo>
                  <a:lnTo>
                    <a:pt x="881821" y="315848"/>
                  </a:lnTo>
                  <a:lnTo>
                    <a:pt x="861058" y="320039"/>
                  </a:ln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0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945452" y="3898391"/>
            <a:ext cx="4762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STEP</a:t>
            </a:r>
            <a:r>
              <a:rPr sz="1100" b="1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04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692597" y="3818717"/>
            <a:ext cx="2284095" cy="409575"/>
            <a:chOff x="1692597" y="3818717"/>
            <a:chExt cx="2284095" cy="409575"/>
          </a:xfrm>
        </p:grpSpPr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2597" y="3818717"/>
              <a:ext cx="2284085" cy="409565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737359" y="3840480"/>
              <a:ext cx="2194560" cy="320040"/>
            </a:xfrm>
            <a:custGeom>
              <a:avLst/>
              <a:gdLst/>
              <a:ahLst/>
              <a:cxnLst/>
              <a:rect l="l" t="t" r="r" b="b"/>
              <a:pathLst>
                <a:path w="2194560" h="320039">
                  <a:moveTo>
                    <a:pt x="2141218" y="320039"/>
                  </a:moveTo>
                  <a:lnTo>
                    <a:pt x="53340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0"/>
                  </a:ln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0" y="0"/>
                  </a:lnTo>
                  <a:lnTo>
                    <a:pt x="2141218" y="0"/>
                  </a:lnTo>
                  <a:lnTo>
                    <a:pt x="2178936" y="15622"/>
                  </a:lnTo>
                  <a:lnTo>
                    <a:pt x="2194559" y="53340"/>
                  </a:lnTo>
                  <a:lnTo>
                    <a:pt x="2194559" y="266698"/>
                  </a:lnTo>
                  <a:lnTo>
                    <a:pt x="2190368" y="287461"/>
                  </a:lnTo>
                  <a:lnTo>
                    <a:pt x="2178936" y="304416"/>
                  </a:lnTo>
                  <a:lnTo>
                    <a:pt x="2161981" y="315848"/>
                  </a:lnTo>
                  <a:lnTo>
                    <a:pt x="2141218" y="32003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737359" y="3840480"/>
              <a:ext cx="2194560" cy="320040"/>
            </a:xfrm>
            <a:custGeom>
              <a:avLst/>
              <a:gdLst/>
              <a:ahLst/>
              <a:cxnLst/>
              <a:rect l="l" t="t" r="r" b="b"/>
              <a:pathLst>
                <a:path w="2194560" h="320039">
                  <a:moveTo>
                    <a:pt x="0" y="53340"/>
                  </a:move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0" y="0"/>
                  </a:lnTo>
                  <a:lnTo>
                    <a:pt x="2141218" y="0"/>
                  </a:lnTo>
                  <a:lnTo>
                    <a:pt x="2178936" y="15622"/>
                  </a:lnTo>
                  <a:lnTo>
                    <a:pt x="2194559" y="53340"/>
                  </a:lnTo>
                  <a:lnTo>
                    <a:pt x="2194559" y="266698"/>
                  </a:lnTo>
                  <a:lnTo>
                    <a:pt x="2190368" y="287461"/>
                  </a:lnTo>
                  <a:lnTo>
                    <a:pt x="2178936" y="304416"/>
                  </a:lnTo>
                  <a:lnTo>
                    <a:pt x="2161981" y="315848"/>
                  </a:lnTo>
                  <a:lnTo>
                    <a:pt x="2141218" y="320039"/>
                  </a:lnTo>
                  <a:lnTo>
                    <a:pt x="53340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0"/>
                  </a:lnTo>
                  <a:close/>
                </a:path>
              </a:pathLst>
            </a:custGeom>
            <a:ln w="9524">
              <a:solidFill>
                <a:srgbClr val="F1F4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2098761" y="3906519"/>
            <a:ext cx="15074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UNIT</a:t>
            </a:r>
            <a:r>
              <a:rPr sz="10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IV:</a:t>
            </a:r>
            <a:r>
              <a:rPr sz="10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INFERENCE</a:t>
            </a:r>
            <a:r>
              <a:rPr sz="10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ENGINE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18820" y="4123774"/>
            <a:ext cx="2994025" cy="113792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4.</a:t>
            </a:r>
            <a:r>
              <a:rPr sz="140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Forward-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Chaining</a:t>
            </a:r>
            <a:r>
              <a:rPr sz="140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Rule</a:t>
            </a:r>
            <a:r>
              <a:rPr sz="140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Inference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Executes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First-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Order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Logic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IF–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THEN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production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rules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over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facts.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Validates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hard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constraints: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minimum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experience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threshold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required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presence.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293875" y="3676794"/>
            <a:ext cx="3601720" cy="2430780"/>
            <a:chOff x="4293875" y="3676794"/>
            <a:chExt cx="3601720" cy="2430780"/>
          </a:xfrm>
        </p:grpSpPr>
        <p:pic>
          <p:nvPicPr>
            <p:cNvPr id="61" name="object 6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293875" y="3676794"/>
              <a:ext cx="3601202" cy="243077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343399" y="370331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59" h="2331720">
                  <a:moveTo>
                    <a:pt x="3113524" y="2331719"/>
                  </a:move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6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7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1"/>
                  </a:lnTo>
                  <a:lnTo>
                    <a:pt x="0" y="388627"/>
                  </a:lnTo>
                  <a:lnTo>
                    <a:pt x="3027" y="339878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6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4" y="0"/>
                  </a:lnTo>
                  <a:lnTo>
                    <a:pt x="3164606" y="3370"/>
                  </a:lnTo>
                  <a:lnTo>
                    <a:pt x="3214382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2" y="337544"/>
                  </a:lnTo>
                  <a:lnTo>
                    <a:pt x="3502152" y="388627"/>
                  </a:lnTo>
                  <a:lnTo>
                    <a:pt x="3502152" y="1943091"/>
                  </a:lnTo>
                  <a:lnTo>
                    <a:pt x="3499124" y="1991840"/>
                  </a:lnTo>
                  <a:lnTo>
                    <a:pt x="3490283" y="2038782"/>
                  </a:lnTo>
                  <a:lnTo>
                    <a:pt x="3475993" y="2083552"/>
                  </a:lnTo>
                  <a:lnTo>
                    <a:pt x="3456618" y="2125787"/>
                  </a:lnTo>
                  <a:lnTo>
                    <a:pt x="3432523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4" y="2305560"/>
                  </a:lnTo>
                  <a:lnTo>
                    <a:pt x="3209214" y="2319850"/>
                  </a:lnTo>
                  <a:lnTo>
                    <a:pt x="3162272" y="2328692"/>
                  </a:lnTo>
                  <a:lnTo>
                    <a:pt x="3113524" y="23317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343399" y="370331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59" h="2331720">
                  <a:moveTo>
                    <a:pt x="0" y="388627"/>
                  </a:moveTo>
                  <a:lnTo>
                    <a:pt x="3027" y="339878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6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4" y="0"/>
                  </a:lnTo>
                  <a:lnTo>
                    <a:pt x="3164606" y="3370"/>
                  </a:lnTo>
                  <a:lnTo>
                    <a:pt x="3214382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2" y="337544"/>
                  </a:lnTo>
                  <a:lnTo>
                    <a:pt x="3502152" y="388627"/>
                  </a:lnTo>
                  <a:lnTo>
                    <a:pt x="3502152" y="1943091"/>
                  </a:lnTo>
                  <a:lnTo>
                    <a:pt x="3499124" y="1991840"/>
                  </a:lnTo>
                  <a:lnTo>
                    <a:pt x="3490283" y="2038782"/>
                  </a:lnTo>
                  <a:lnTo>
                    <a:pt x="3475993" y="2083552"/>
                  </a:lnTo>
                  <a:lnTo>
                    <a:pt x="3456618" y="2125787"/>
                  </a:lnTo>
                  <a:lnTo>
                    <a:pt x="3432523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4" y="2305560"/>
                  </a:lnTo>
                  <a:lnTo>
                    <a:pt x="3209214" y="2319850"/>
                  </a:lnTo>
                  <a:lnTo>
                    <a:pt x="3162272" y="2328692"/>
                  </a:lnTo>
                  <a:lnTo>
                    <a:pt x="3113524" y="2331719"/>
                  </a:ln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6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7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1"/>
                  </a:lnTo>
                  <a:lnTo>
                    <a:pt x="0" y="388627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5797" y="3818717"/>
              <a:ext cx="1003925" cy="409565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4480559" y="3840479"/>
              <a:ext cx="914400" cy="320040"/>
            </a:xfrm>
            <a:custGeom>
              <a:avLst/>
              <a:gdLst/>
              <a:ahLst/>
              <a:cxnLst/>
              <a:rect l="l" t="t" r="r" b="b"/>
              <a:pathLst>
                <a:path w="914400" h="320039">
                  <a:moveTo>
                    <a:pt x="861058" y="320039"/>
                  </a:move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0"/>
                  </a:ln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861058" y="0"/>
                  </a:lnTo>
                  <a:lnTo>
                    <a:pt x="898776" y="15622"/>
                  </a:lnTo>
                  <a:lnTo>
                    <a:pt x="914399" y="53340"/>
                  </a:lnTo>
                  <a:lnTo>
                    <a:pt x="914399" y="266698"/>
                  </a:lnTo>
                  <a:lnTo>
                    <a:pt x="910208" y="287461"/>
                  </a:lnTo>
                  <a:lnTo>
                    <a:pt x="898776" y="304416"/>
                  </a:lnTo>
                  <a:lnTo>
                    <a:pt x="881821" y="315848"/>
                  </a:lnTo>
                  <a:lnTo>
                    <a:pt x="861058" y="320039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480559" y="3840479"/>
              <a:ext cx="914400" cy="320040"/>
            </a:xfrm>
            <a:custGeom>
              <a:avLst/>
              <a:gdLst/>
              <a:ahLst/>
              <a:cxnLst/>
              <a:rect l="l" t="t" r="r" b="b"/>
              <a:pathLst>
                <a:path w="914400" h="320039">
                  <a:moveTo>
                    <a:pt x="0" y="53340"/>
                  </a:move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861058" y="0"/>
                  </a:lnTo>
                  <a:lnTo>
                    <a:pt x="898776" y="15622"/>
                  </a:lnTo>
                  <a:lnTo>
                    <a:pt x="914399" y="53340"/>
                  </a:lnTo>
                  <a:lnTo>
                    <a:pt x="914399" y="266698"/>
                  </a:lnTo>
                  <a:lnTo>
                    <a:pt x="910208" y="287461"/>
                  </a:lnTo>
                  <a:lnTo>
                    <a:pt x="898776" y="304416"/>
                  </a:lnTo>
                  <a:lnTo>
                    <a:pt x="881821" y="315848"/>
                  </a:lnTo>
                  <a:lnTo>
                    <a:pt x="861058" y="320039"/>
                  </a:ln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0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4694492" y="3898391"/>
            <a:ext cx="4762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STEP</a:t>
            </a:r>
            <a:r>
              <a:rPr sz="1100" b="1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05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5441637" y="3818717"/>
            <a:ext cx="2284095" cy="409575"/>
            <a:chOff x="5441637" y="3818717"/>
            <a:chExt cx="2284095" cy="409575"/>
          </a:xfrm>
        </p:grpSpPr>
        <p:pic>
          <p:nvPicPr>
            <p:cNvPr id="69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1637" y="3818717"/>
              <a:ext cx="2284085" cy="409565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5486399" y="3840480"/>
              <a:ext cx="2194560" cy="320040"/>
            </a:xfrm>
            <a:custGeom>
              <a:avLst/>
              <a:gdLst/>
              <a:ahLst/>
              <a:cxnLst/>
              <a:rect l="l" t="t" r="r" b="b"/>
              <a:pathLst>
                <a:path w="2194559" h="320039">
                  <a:moveTo>
                    <a:pt x="2141218" y="320039"/>
                  </a:moveTo>
                  <a:lnTo>
                    <a:pt x="53340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0"/>
                  </a:ln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0" y="0"/>
                  </a:lnTo>
                  <a:lnTo>
                    <a:pt x="2141218" y="0"/>
                  </a:lnTo>
                  <a:lnTo>
                    <a:pt x="2178936" y="15622"/>
                  </a:lnTo>
                  <a:lnTo>
                    <a:pt x="2194559" y="53340"/>
                  </a:lnTo>
                  <a:lnTo>
                    <a:pt x="2194559" y="266698"/>
                  </a:lnTo>
                  <a:lnTo>
                    <a:pt x="2190368" y="287461"/>
                  </a:lnTo>
                  <a:lnTo>
                    <a:pt x="2178936" y="304416"/>
                  </a:lnTo>
                  <a:lnTo>
                    <a:pt x="2161981" y="315848"/>
                  </a:lnTo>
                  <a:lnTo>
                    <a:pt x="2141218" y="32003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5486399" y="3840480"/>
              <a:ext cx="2194560" cy="320040"/>
            </a:xfrm>
            <a:custGeom>
              <a:avLst/>
              <a:gdLst/>
              <a:ahLst/>
              <a:cxnLst/>
              <a:rect l="l" t="t" r="r" b="b"/>
              <a:pathLst>
                <a:path w="2194559" h="320039">
                  <a:moveTo>
                    <a:pt x="0" y="53340"/>
                  </a:move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0" y="0"/>
                  </a:lnTo>
                  <a:lnTo>
                    <a:pt x="2141218" y="0"/>
                  </a:lnTo>
                  <a:lnTo>
                    <a:pt x="2178936" y="15622"/>
                  </a:lnTo>
                  <a:lnTo>
                    <a:pt x="2194559" y="53340"/>
                  </a:lnTo>
                  <a:lnTo>
                    <a:pt x="2194559" y="266698"/>
                  </a:lnTo>
                  <a:lnTo>
                    <a:pt x="2190368" y="287461"/>
                  </a:lnTo>
                  <a:lnTo>
                    <a:pt x="2178936" y="304416"/>
                  </a:lnTo>
                  <a:lnTo>
                    <a:pt x="2161981" y="315848"/>
                  </a:lnTo>
                  <a:lnTo>
                    <a:pt x="2141218" y="320039"/>
                  </a:lnTo>
                  <a:lnTo>
                    <a:pt x="53340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0"/>
                  </a:lnTo>
                  <a:close/>
                </a:path>
              </a:pathLst>
            </a:custGeom>
            <a:ln w="9524">
              <a:solidFill>
                <a:srgbClr val="F1F4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5777302" y="3906519"/>
            <a:ext cx="16522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UNIT</a:t>
            </a:r>
            <a:r>
              <a:rPr sz="1000" b="1" spc="-2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II</a:t>
            </a:r>
            <a:r>
              <a:rPr sz="1000" b="1" spc="-2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000" b="1" spc="-2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III:</a:t>
            </a:r>
            <a:r>
              <a:rPr sz="1000" b="1" spc="-2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HEURISTICS</a:t>
            </a:r>
            <a:r>
              <a:rPr sz="1000" b="1" spc="-2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000" b="1" spc="-1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CSP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467860" y="4123774"/>
            <a:ext cx="3218815" cy="113792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5.</a:t>
            </a:r>
            <a:r>
              <a:rPr sz="14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Heuristic</a:t>
            </a:r>
            <a:r>
              <a:rPr sz="14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Scoring</a:t>
            </a:r>
            <a:r>
              <a:rPr sz="14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CSP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Computes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composite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match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score: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Score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(0.50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×Skill)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(0.25×Exp)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(0.15×Edu)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(0.10×Cert).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Evaluates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multi-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attribute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utility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satisfying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job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criteria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constraints.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8042915" y="3676794"/>
            <a:ext cx="3601720" cy="2430780"/>
            <a:chOff x="8042915" y="3676794"/>
            <a:chExt cx="3601720" cy="2430780"/>
          </a:xfrm>
        </p:grpSpPr>
        <p:pic>
          <p:nvPicPr>
            <p:cNvPr id="75" name="object 7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042915" y="3676794"/>
              <a:ext cx="3601202" cy="243077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8092439" y="370331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59" h="2331720">
                  <a:moveTo>
                    <a:pt x="3113523" y="2331719"/>
                  </a:move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7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7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1"/>
                  </a:lnTo>
                  <a:lnTo>
                    <a:pt x="0" y="388627"/>
                  </a:lnTo>
                  <a:lnTo>
                    <a:pt x="3027" y="339878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7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3" y="0"/>
                  </a:lnTo>
                  <a:lnTo>
                    <a:pt x="3164606" y="3370"/>
                  </a:lnTo>
                  <a:lnTo>
                    <a:pt x="3214381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2" y="337544"/>
                  </a:lnTo>
                  <a:lnTo>
                    <a:pt x="3502152" y="388627"/>
                  </a:lnTo>
                  <a:lnTo>
                    <a:pt x="3502152" y="1943091"/>
                  </a:lnTo>
                  <a:lnTo>
                    <a:pt x="3499124" y="1991840"/>
                  </a:lnTo>
                  <a:lnTo>
                    <a:pt x="3490283" y="2038782"/>
                  </a:lnTo>
                  <a:lnTo>
                    <a:pt x="3475993" y="2083552"/>
                  </a:lnTo>
                  <a:lnTo>
                    <a:pt x="3456618" y="2125787"/>
                  </a:lnTo>
                  <a:lnTo>
                    <a:pt x="3432523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4" y="2305560"/>
                  </a:lnTo>
                  <a:lnTo>
                    <a:pt x="3209214" y="2319850"/>
                  </a:lnTo>
                  <a:lnTo>
                    <a:pt x="3162272" y="2328692"/>
                  </a:lnTo>
                  <a:lnTo>
                    <a:pt x="3113523" y="23317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8092439" y="370331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59" h="2331720">
                  <a:moveTo>
                    <a:pt x="0" y="388627"/>
                  </a:moveTo>
                  <a:lnTo>
                    <a:pt x="3027" y="339878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7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3" y="0"/>
                  </a:lnTo>
                  <a:lnTo>
                    <a:pt x="3164606" y="3370"/>
                  </a:lnTo>
                  <a:lnTo>
                    <a:pt x="3214381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2" y="337544"/>
                  </a:lnTo>
                  <a:lnTo>
                    <a:pt x="3502152" y="388627"/>
                  </a:lnTo>
                  <a:lnTo>
                    <a:pt x="3502152" y="1943091"/>
                  </a:lnTo>
                  <a:lnTo>
                    <a:pt x="3499124" y="1991840"/>
                  </a:lnTo>
                  <a:lnTo>
                    <a:pt x="3490283" y="2038782"/>
                  </a:lnTo>
                  <a:lnTo>
                    <a:pt x="3475993" y="2083552"/>
                  </a:lnTo>
                  <a:lnTo>
                    <a:pt x="3456618" y="2125787"/>
                  </a:lnTo>
                  <a:lnTo>
                    <a:pt x="3432523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4" y="2305560"/>
                  </a:lnTo>
                  <a:lnTo>
                    <a:pt x="3209214" y="2319850"/>
                  </a:lnTo>
                  <a:lnTo>
                    <a:pt x="3162272" y="2328692"/>
                  </a:lnTo>
                  <a:lnTo>
                    <a:pt x="3113523" y="2331719"/>
                  </a:ln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7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7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1"/>
                  </a:lnTo>
                  <a:lnTo>
                    <a:pt x="0" y="388627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4837" y="3818717"/>
              <a:ext cx="1003925" cy="409565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8229599" y="3840479"/>
              <a:ext cx="914400" cy="320040"/>
            </a:xfrm>
            <a:custGeom>
              <a:avLst/>
              <a:gdLst/>
              <a:ahLst/>
              <a:cxnLst/>
              <a:rect l="l" t="t" r="r" b="b"/>
              <a:pathLst>
                <a:path w="914400" h="320039">
                  <a:moveTo>
                    <a:pt x="861058" y="320039"/>
                  </a:move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0"/>
                  </a:ln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861058" y="0"/>
                  </a:lnTo>
                  <a:lnTo>
                    <a:pt x="898776" y="15622"/>
                  </a:lnTo>
                  <a:lnTo>
                    <a:pt x="914399" y="53340"/>
                  </a:lnTo>
                  <a:lnTo>
                    <a:pt x="914399" y="266698"/>
                  </a:lnTo>
                  <a:lnTo>
                    <a:pt x="910208" y="287461"/>
                  </a:lnTo>
                  <a:lnTo>
                    <a:pt x="898776" y="304416"/>
                  </a:lnTo>
                  <a:lnTo>
                    <a:pt x="881821" y="315848"/>
                  </a:lnTo>
                  <a:lnTo>
                    <a:pt x="861058" y="320039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8229599" y="3840479"/>
              <a:ext cx="914400" cy="320040"/>
            </a:xfrm>
            <a:custGeom>
              <a:avLst/>
              <a:gdLst/>
              <a:ahLst/>
              <a:cxnLst/>
              <a:rect l="l" t="t" r="r" b="b"/>
              <a:pathLst>
                <a:path w="914400" h="320039">
                  <a:moveTo>
                    <a:pt x="0" y="53340"/>
                  </a:move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861058" y="0"/>
                  </a:lnTo>
                  <a:lnTo>
                    <a:pt x="898776" y="15622"/>
                  </a:lnTo>
                  <a:lnTo>
                    <a:pt x="914399" y="53340"/>
                  </a:lnTo>
                  <a:lnTo>
                    <a:pt x="914399" y="266698"/>
                  </a:lnTo>
                  <a:lnTo>
                    <a:pt x="910208" y="287461"/>
                  </a:lnTo>
                  <a:lnTo>
                    <a:pt x="898776" y="304416"/>
                  </a:lnTo>
                  <a:lnTo>
                    <a:pt x="881821" y="315848"/>
                  </a:lnTo>
                  <a:lnTo>
                    <a:pt x="861058" y="320039"/>
                  </a:ln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0"/>
                  </a:lnTo>
                  <a:close/>
                </a:path>
              </a:pathLst>
            </a:custGeom>
            <a:ln w="9524">
              <a:solidFill>
                <a:srgbClr val="16A34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/>
          <p:nvPr/>
        </p:nvSpPr>
        <p:spPr>
          <a:xfrm>
            <a:off x="8443532" y="3898391"/>
            <a:ext cx="4762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STEP</a:t>
            </a:r>
            <a:r>
              <a:rPr sz="1100" b="1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06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9190677" y="3818717"/>
            <a:ext cx="2284095" cy="409575"/>
            <a:chOff x="9190677" y="3818717"/>
            <a:chExt cx="2284095" cy="409575"/>
          </a:xfrm>
        </p:grpSpPr>
        <p:pic>
          <p:nvPicPr>
            <p:cNvPr id="83" name="object 8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0677" y="3818717"/>
              <a:ext cx="2284085" cy="409565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9235439" y="3840480"/>
              <a:ext cx="2194560" cy="320040"/>
            </a:xfrm>
            <a:custGeom>
              <a:avLst/>
              <a:gdLst/>
              <a:ahLst/>
              <a:cxnLst/>
              <a:rect l="l" t="t" r="r" b="b"/>
              <a:pathLst>
                <a:path w="2194559" h="320039">
                  <a:moveTo>
                    <a:pt x="2141218" y="320039"/>
                  </a:move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0"/>
                  </a:ln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2141218" y="0"/>
                  </a:lnTo>
                  <a:lnTo>
                    <a:pt x="2178936" y="15622"/>
                  </a:lnTo>
                  <a:lnTo>
                    <a:pt x="2194559" y="53340"/>
                  </a:lnTo>
                  <a:lnTo>
                    <a:pt x="2194559" y="266698"/>
                  </a:lnTo>
                  <a:lnTo>
                    <a:pt x="2190368" y="287461"/>
                  </a:lnTo>
                  <a:lnTo>
                    <a:pt x="2178936" y="304416"/>
                  </a:lnTo>
                  <a:lnTo>
                    <a:pt x="2161981" y="315848"/>
                  </a:lnTo>
                  <a:lnTo>
                    <a:pt x="2141218" y="320039"/>
                  </a:lnTo>
                  <a:close/>
                </a:path>
              </a:pathLst>
            </a:custGeom>
            <a:solidFill>
              <a:srgbClr val="F1F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9235439" y="3840480"/>
              <a:ext cx="2194560" cy="320040"/>
            </a:xfrm>
            <a:custGeom>
              <a:avLst/>
              <a:gdLst/>
              <a:ahLst/>
              <a:cxnLst/>
              <a:rect l="l" t="t" r="r" b="b"/>
              <a:pathLst>
                <a:path w="2194559" h="320039">
                  <a:moveTo>
                    <a:pt x="0" y="53340"/>
                  </a:moveTo>
                  <a:lnTo>
                    <a:pt x="4191" y="32578"/>
                  </a:lnTo>
                  <a:lnTo>
                    <a:pt x="15623" y="15623"/>
                  </a:lnTo>
                  <a:lnTo>
                    <a:pt x="32578" y="4191"/>
                  </a:lnTo>
                  <a:lnTo>
                    <a:pt x="53341" y="0"/>
                  </a:lnTo>
                  <a:lnTo>
                    <a:pt x="2141218" y="0"/>
                  </a:lnTo>
                  <a:lnTo>
                    <a:pt x="2178936" y="15622"/>
                  </a:lnTo>
                  <a:lnTo>
                    <a:pt x="2194559" y="53340"/>
                  </a:lnTo>
                  <a:lnTo>
                    <a:pt x="2194559" y="266698"/>
                  </a:lnTo>
                  <a:lnTo>
                    <a:pt x="2190368" y="287461"/>
                  </a:lnTo>
                  <a:lnTo>
                    <a:pt x="2178936" y="304416"/>
                  </a:lnTo>
                  <a:lnTo>
                    <a:pt x="2161981" y="315848"/>
                  </a:lnTo>
                  <a:lnTo>
                    <a:pt x="2141218" y="320039"/>
                  </a:lnTo>
                  <a:lnTo>
                    <a:pt x="53341" y="320039"/>
                  </a:lnTo>
                  <a:lnTo>
                    <a:pt x="32578" y="315848"/>
                  </a:lnTo>
                  <a:lnTo>
                    <a:pt x="15623" y="304416"/>
                  </a:lnTo>
                  <a:lnTo>
                    <a:pt x="4191" y="287461"/>
                  </a:lnTo>
                  <a:lnTo>
                    <a:pt x="0" y="266698"/>
                  </a:lnTo>
                  <a:lnTo>
                    <a:pt x="0" y="53340"/>
                  </a:lnTo>
                  <a:close/>
                </a:path>
              </a:pathLst>
            </a:custGeom>
            <a:ln w="9524">
              <a:solidFill>
                <a:srgbClr val="F1F4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>
            <a:off x="9650107" y="3906519"/>
            <a:ext cx="13982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UNIT</a:t>
            </a:r>
            <a:r>
              <a:rPr sz="1000" b="1" spc="-3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I:</a:t>
            </a:r>
            <a:r>
              <a:rPr sz="1000" b="1" spc="-3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RATIONAL</a:t>
            </a:r>
            <a:r>
              <a:rPr sz="1000" b="1" spc="-3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1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ACTION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216900" y="4123774"/>
            <a:ext cx="3197860" cy="113792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6.</a:t>
            </a:r>
            <a:r>
              <a:rPr sz="14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Explainable</a:t>
            </a:r>
            <a:r>
              <a:rPr sz="14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Output</a:t>
            </a:r>
            <a:r>
              <a:rPr sz="14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Portals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Synthesizes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human-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readable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decision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logs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detailing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matched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skills,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missing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criteria,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experience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margins.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Dispatches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ranked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pools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React</a:t>
            </a:r>
            <a:r>
              <a:rPr sz="1200" spc="-5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dashboards.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70" dirty="0"/>
              <a:t> </a:t>
            </a:r>
            <a:r>
              <a:rPr spc="-20" dirty="0"/>
              <a:t>Used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11468165" y="155447"/>
            <a:ext cx="205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11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835" y="1207915"/>
            <a:ext cx="5448300" cy="2522220"/>
            <a:chOff x="544835" y="1207915"/>
            <a:chExt cx="5448300" cy="252222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1207915"/>
              <a:ext cx="5448290" cy="25222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234439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4945371" y="2423159"/>
                  </a:moveTo>
                  <a:lnTo>
                    <a:pt x="403868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5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8"/>
                  </a:ln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8" y="0"/>
                  </a:lnTo>
                  <a:lnTo>
                    <a:pt x="4945371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2"/>
                  </a:lnTo>
                  <a:lnTo>
                    <a:pt x="5349239" y="403868"/>
                  </a:lnTo>
                  <a:lnTo>
                    <a:pt x="5349239" y="2019291"/>
                  </a:lnTo>
                  <a:lnTo>
                    <a:pt x="5346522" y="2066391"/>
                  </a:lnTo>
                  <a:lnTo>
                    <a:pt x="5338573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4" y="2271890"/>
                  </a:lnTo>
                  <a:lnTo>
                    <a:pt x="5230949" y="2304869"/>
                  </a:lnTo>
                  <a:lnTo>
                    <a:pt x="5197970" y="2334434"/>
                  </a:lnTo>
                  <a:lnTo>
                    <a:pt x="5161880" y="2360282"/>
                  </a:lnTo>
                  <a:lnTo>
                    <a:pt x="5122982" y="2382110"/>
                  </a:lnTo>
                  <a:lnTo>
                    <a:pt x="5081579" y="2399615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1" y="24231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359" y="1234439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0" y="403868"/>
                  </a:move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8" y="0"/>
                  </a:lnTo>
                  <a:lnTo>
                    <a:pt x="4945371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2"/>
                  </a:lnTo>
                  <a:lnTo>
                    <a:pt x="5349239" y="403868"/>
                  </a:lnTo>
                  <a:lnTo>
                    <a:pt x="5349239" y="2019291"/>
                  </a:lnTo>
                  <a:lnTo>
                    <a:pt x="5346522" y="2066391"/>
                  </a:lnTo>
                  <a:lnTo>
                    <a:pt x="5338573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4" y="2271890"/>
                  </a:lnTo>
                  <a:lnTo>
                    <a:pt x="5230949" y="2304869"/>
                  </a:lnTo>
                  <a:lnTo>
                    <a:pt x="5197970" y="2334434"/>
                  </a:lnTo>
                  <a:lnTo>
                    <a:pt x="5161880" y="2360282"/>
                  </a:lnTo>
                  <a:lnTo>
                    <a:pt x="5122982" y="2382110"/>
                  </a:lnTo>
                  <a:lnTo>
                    <a:pt x="5081579" y="2399615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1" y="2423159"/>
                  </a:lnTo>
                  <a:lnTo>
                    <a:pt x="403868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5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8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549597" y="1212677"/>
            <a:ext cx="5438775" cy="528955"/>
            <a:chOff x="549597" y="1212677"/>
            <a:chExt cx="5438775" cy="52895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7" y="1212677"/>
              <a:ext cx="5438765" cy="5284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59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4359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1943" y="1357807"/>
              <a:ext cx="221258" cy="20824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810684" y="1332166"/>
            <a:ext cx="31388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CLIENT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FRONTEND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TIER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(REACT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VITE)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924" y="1938782"/>
            <a:ext cx="4615815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1180" indent="122555">
              <a:lnSpc>
                <a:spcPct val="100000"/>
              </a:lnSpc>
              <a:spcBef>
                <a:spcPts val="100"/>
              </a:spcBef>
              <a:buChar char="•"/>
              <a:tabLst>
                <a:tab pos="135255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React</a:t>
            </a:r>
            <a:r>
              <a:rPr sz="135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18</a:t>
            </a:r>
            <a:r>
              <a:rPr sz="135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35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Vite: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Lightning-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fast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Hot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Module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Replacement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responsive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single-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page</a:t>
            </a:r>
            <a:r>
              <a:rPr sz="1200" spc="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architecture.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5080" indent="122555">
              <a:lnSpc>
                <a:spcPct val="100000"/>
              </a:lnSpc>
              <a:spcBef>
                <a:spcPts val="400"/>
              </a:spcBef>
              <a:buChar char="•"/>
              <a:tabLst>
                <a:tab pos="135255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Portal</a:t>
            </a:r>
            <a:r>
              <a:rPr sz="135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(Port</a:t>
            </a:r>
            <a:r>
              <a:rPr sz="135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5173):</a:t>
            </a:r>
            <a:r>
              <a:rPr sz="13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Drag-and-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drop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resume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upload,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profile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management,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real-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time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match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previews.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317500" indent="122555">
              <a:lnSpc>
                <a:spcPct val="100000"/>
              </a:lnSpc>
              <a:spcBef>
                <a:spcPts val="400"/>
              </a:spcBef>
              <a:buChar char="•"/>
              <a:tabLst>
                <a:tab pos="135255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HR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Recruiter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Portal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(Port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5174):</a:t>
            </a:r>
            <a:r>
              <a:rPr sz="135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Job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posting,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search,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ranking,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XAI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proof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modal.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85090" indent="122555">
              <a:lnSpc>
                <a:spcPct val="100000"/>
              </a:lnSpc>
              <a:spcBef>
                <a:spcPts val="400"/>
              </a:spcBef>
              <a:buChar char="•"/>
              <a:tabLst>
                <a:tab pos="135255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Pure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Vanilla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CSS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Lucide</a:t>
            </a:r>
            <a:r>
              <a:rPr sz="135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Icons:</a:t>
            </a:r>
            <a:r>
              <a:rPr sz="135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High-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performance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styling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without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heavy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CSS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frameworks,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paired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sleek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UI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icons.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95827" y="1207915"/>
            <a:ext cx="5448300" cy="2522220"/>
            <a:chOff x="6195827" y="1207915"/>
            <a:chExt cx="5448300" cy="2522220"/>
          </a:xfrm>
        </p:grpSpPr>
        <p:pic>
          <p:nvPicPr>
            <p:cNvPr id="16" name="object 1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95827" y="1207915"/>
              <a:ext cx="5448290" cy="252221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45352" y="1234439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4945372" y="2423159"/>
                  </a:moveTo>
                  <a:lnTo>
                    <a:pt x="403867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5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8"/>
                  </a:ln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7" y="0"/>
                  </a:lnTo>
                  <a:lnTo>
                    <a:pt x="4945372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2"/>
                  </a:lnTo>
                  <a:lnTo>
                    <a:pt x="5349240" y="403868"/>
                  </a:lnTo>
                  <a:lnTo>
                    <a:pt x="5349240" y="2019291"/>
                  </a:lnTo>
                  <a:lnTo>
                    <a:pt x="5346523" y="2066391"/>
                  </a:lnTo>
                  <a:lnTo>
                    <a:pt x="5338574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5" y="2271890"/>
                  </a:lnTo>
                  <a:lnTo>
                    <a:pt x="5230950" y="2304869"/>
                  </a:lnTo>
                  <a:lnTo>
                    <a:pt x="5197971" y="2334434"/>
                  </a:lnTo>
                  <a:lnTo>
                    <a:pt x="5161881" y="2360282"/>
                  </a:lnTo>
                  <a:lnTo>
                    <a:pt x="5122983" y="2382110"/>
                  </a:lnTo>
                  <a:lnTo>
                    <a:pt x="5081580" y="2399615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2" y="24231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45352" y="1234439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0" y="403868"/>
                  </a:move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7" y="0"/>
                  </a:lnTo>
                  <a:lnTo>
                    <a:pt x="4945372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2"/>
                  </a:lnTo>
                  <a:lnTo>
                    <a:pt x="5349240" y="403868"/>
                  </a:lnTo>
                  <a:lnTo>
                    <a:pt x="5349240" y="2019291"/>
                  </a:lnTo>
                  <a:lnTo>
                    <a:pt x="5346523" y="2066391"/>
                  </a:lnTo>
                  <a:lnTo>
                    <a:pt x="5338574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5" y="2271890"/>
                  </a:lnTo>
                  <a:lnTo>
                    <a:pt x="5230950" y="2304869"/>
                  </a:lnTo>
                  <a:lnTo>
                    <a:pt x="5197971" y="2334434"/>
                  </a:lnTo>
                  <a:lnTo>
                    <a:pt x="5161881" y="2360282"/>
                  </a:lnTo>
                  <a:lnTo>
                    <a:pt x="5122983" y="2382110"/>
                  </a:lnTo>
                  <a:lnTo>
                    <a:pt x="5081580" y="2399615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2" y="2423159"/>
                  </a:lnTo>
                  <a:lnTo>
                    <a:pt x="403867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5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8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6200589" y="1212677"/>
            <a:ext cx="5438775" cy="528955"/>
            <a:chOff x="6200589" y="1212677"/>
            <a:chExt cx="5438775" cy="52895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0589" y="1212677"/>
              <a:ext cx="5438765" cy="52843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245352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45352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34117" y="1357807"/>
              <a:ext cx="221258" cy="208243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682858" y="1332166"/>
            <a:ext cx="27038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BACKEND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REST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API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SECURITY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TIER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31916" y="1938782"/>
            <a:ext cx="4716780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2890" indent="122555">
              <a:lnSpc>
                <a:spcPct val="100000"/>
              </a:lnSpc>
              <a:spcBef>
                <a:spcPts val="100"/>
              </a:spcBef>
              <a:buChar char="•"/>
              <a:tabLst>
                <a:tab pos="135255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Python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3.10+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35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FastAPI:</a:t>
            </a:r>
            <a:r>
              <a:rPr sz="135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High-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throughput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asynchronous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ASGI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web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framework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handling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parsing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inference.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321945" indent="122555">
              <a:lnSpc>
                <a:spcPct val="100000"/>
              </a:lnSpc>
              <a:spcBef>
                <a:spcPts val="400"/>
              </a:spcBef>
              <a:buChar char="•"/>
              <a:tabLst>
                <a:tab pos="135255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PyJWT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Authentication:</a:t>
            </a:r>
            <a:r>
              <a:rPr sz="135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Stateless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JSON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Web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Token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authentication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safeguarding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endpoints.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5080" indent="122555">
              <a:lnSpc>
                <a:spcPct val="100000"/>
              </a:lnSpc>
              <a:spcBef>
                <a:spcPts val="400"/>
              </a:spcBef>
              <a:buChar char="•"/>
              <a:tabLst>
                <a:tab pos="135255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Bcrypt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Cryptography:</a:t>
            </a:r>
            <a:r>
              <a:rPr sz="135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Cryptographic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password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hashing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verification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using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passlib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bcrypt.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461010" indent="122555">
              <a:lnSpc>
                <a:spcPct val="100000"/>
              </a:lnSpc>
              <a:spcBef>
                <a:spcPts val="400"/>
              </a:spcBef>
              <a:buChar char="•"/>
              <a:tabLst>
                <a:tab pos="135255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Pydantic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v2:</a:t>
            </a:r>
            <a:r>
              <a:rPr sz="135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Strict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schema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validation,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type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safety,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automatic OpenAPI documentation.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4835" y="3722513"/>
            <a:ext cx="5448300" cy="2522220"/>
            <a:chOff x="544835" y="3722513"/>
            <a:chExt cx="5448300" cy="2522220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835" y="3722513"/>
              <a:ext cx="5448290" cy="252221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94359" y="3749038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4945371" y="2423159"/>
                  </a:moveTo>
                  <a:lnTo>
                    <a:pt x="403868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4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7"/>
                  </a:ln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8" y="0"/>
                  </a:lnTo>
                  <a:lnTo>
                    <a:pt x="4945371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1"/>
                  </a:lnTo>
                  <a:lnTo>
                    <a:pt x="5349239" y="403867"/>
                  </a:lnTo>
                  <a:lnTo>
                    <a:pt x="5349239" y="2019291"/>
                  </a:lnTo>
                  <a:lnTo>
                    <a:pt x="5346522" y="2066391"/>
                  </a:lnTo>
                  <a:lnTo>
                    <a:pt x="5338573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4" y="2271890"/>
                  </a:lnTo>
                  <a:lnTo>
                    <a:pt x="5230949" y="2304869"/>
                  </a:lnTo>
                  <a:lnTo>
                    <a:pt x="5197970" y="2334434"/>
                  </a:lnTo>
                  <a:lnTo>
                    <a:pt x="5161880" y="2360282"/>
                  </a:lnTo>
                  <a:lnTo>
                    <a:pt x="5122982" y="2382110"/>
                  </a:lnTo>
                  <a:lnTo>
                    <a:pt x="5081579" y="2399614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1" y="24231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94359" y="3749038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0" y="403867"/>
                  </a:move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8" y="0"/>
                  </a:lnTo>
                  <a:lnTo>
                    <a:pt x="4945371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1"/>
                  </a:lnTo>
                  <a:lnTo>
                    <a:pt x="5349239" y="403867"/>
                  </a:lnTo>
                  <a:lnTo>
                    <a:pt x="5349239" y="2019291"/>
                  </a:lnTo>
                  <a:lnTo>
                    <a:pt x="5346522" y="2066391"/>
                  </a:lnTo>
                  <a:lnTo>
                    <a:pt x="5338573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4" y="2271890"/>
                  </a:lnTo>
                  <a:lnTo>
                    <a:pt x="5230949" y="2304869"/>
                  </a:lnTo>
                  <a:lnTo>
                    <a:pt x="5197970" y="2334434"/>
                  </a:lnTo>
                  <a:lnTo>
                    <a:pt x="5161880" y="2360282"/>
                  </a:lnTo>
                  <a:lnTo>
                    <a:pt x="5122982" y="2382110"/>
                  </a:lnTo>
                  <a:lnTo>
                    <a:pt x="5081579" y="2399614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1" y="2423159"/>
                  </a:lnTo>
                  <a:lnTo>
                    <a:pt x="403868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4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7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/>
          <p:cNvGrpSpPr/>
          <p:nvPr/>
        </p:nvGrpSpPr>
        <p:grpSpPr>
          <a:xfrm>
            <a:off x="549597" y="3727276"/>
            <a:ext cx="5438775" cy="528955"/>
            <a:chOff x="549597" y="3727276"/>
            <a:chExt cx="5438775" cy="528955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7" y="3727276"/>
              <a:ext cx="5438765" cy="52843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94359" y="3749038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5276086" y="438912"/>
                  </a:moveTo>
                  <a:lnTo>
                    <a:pt x="73153" y="438912"/>
                  </a:lnTo>
                  <a:lnTo>
                    <a:pt x="44678" y="433163"/>
                  </a:lnTo>
                  <a:lnTo>
                    <a:pt x="21426" y="417486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6"/>
                  </a:lnTo>
                  <a:lnTo>
                    <a:pt x="5304561" y="433163"/>
                  </a:lnTo>
                  <a:lnTo>
                    <a:pt x="5276086" y="438912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94359" y="3749038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6"/>
                  </a:lnTo>
                  <a:lnTo>
                    <a:pt x="5304561" y="433163"/>
                  </a:lnTo>
                  <a:lnTo>
                    <a:pt x="5276086" y="438912"/>
                  </a:lnTo>
                  <a:lnTo>
                    <a:pt x="73153" y="438912"/>
                  </a:lnTo>
                  <a:lnTo>
                    <a:pt x="44678" y="433163"/>
                  </a:lnTo>
                  <a:lnTo>
                    <a:pt x="21426" y="417486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4611" y="3872406"/>
              <a:ext cx="221258" cy="208243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923352" y="3846765"/>
            <a:ext cx="29178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EXPERT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SYSTEM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DOCUMENT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PARSER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80924" y="4453381"/>
            <a:ext cx="4730750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9875" indent="122555">
              <a:lnSpc>
                <a:spcPct val="100000"/>
              </a:lnSpc>
              <a:spcBef>
                <a:spcPts val="100"/>
              </a:spcBef>
              <a:buChar char="•"/>
              <a:tabLst>
                <a:tab pos="135255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PyPDF2</a:t>
            </a:r>
            <a:r>
              <a:rPr sz="135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35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python-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docx:</a:t>
            </a:r>
            <a:r>
              <a:rPr sz="1350" b="1" spc="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ML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document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text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stream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extraction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100%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factual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accuracy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hallucination.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626745" indent="122555">
              <a:lnSpc>
                <a:spcPct val="100000"/>
              </a:lnSpc>
              <a:spcBef>
                <a:spcPts val="400"/>
              </a:spcBef>
              <a:buChar char="•"/>
              <a:tabLst>
                <a:tab pos="135255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Forward</a:t>
            </a:r>
            <a:r>
              <a:rPr sz="1350" b="1" spc="-5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Chaining</a:t>
            </a:r>
            <a:r>
              <a:rPr sz="1350" b="1" spc="-4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Engine:</a:t>
            </a:r>
            <a:r>
              <a:rPr sz="13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Custom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inference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engine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applying First-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Order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Horn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clause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production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rules.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828040" indent="122555">
              <a:lnSpc>
                <a:spcPct val="100000"/>
              </a:lnSpc>
              <a:spcBef>
                <a:spcPts val="400"/>
              </a:spcBef>
              <a:buChar char="•"/>
              <a:tabLst>
                <a:tab pos="135255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40+</a:t>
            </a:r>
            <a:r>
              <a:rPr sz="1350" b="1" spc="-5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Skill</a:t>
            </a:r>
            <a:r>
              <a:rPr sz="1350" b="1" spc="-4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Taxonomies:</a:t>
            </a:r>
            <a:r>
              <a:rPr sz="13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Ontology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dictionary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covering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major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programming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languages,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cloud,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data,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cyber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tools.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5080" indent="122555">
              <a:lnSpc>
                <a:spcPct val="100000"/>
              </a:lnSpc>
              <a:spcBef>
                <a:spcPts val="400"/>
              </a:spcBef>
              <a:buChar char="•"/>
              <a:tabLst>
                <a:tab pos="135255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350" b="1" spc="-4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Regex</a:t>
            </a:r>
            <a:r>
              <a:rPr sz="1350" b="1" spc="-4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Engine:</a:t>
            </a:r>
            <a:r>
              <a:rPr sz="135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Word-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boundary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regex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patterns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email,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phone,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employment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duration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matching.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195827" y="3722513"/>
            <a:ext cx="5448300" cy="2522220"/>
            <a:chOff x="6195827" y="3722513"/>
            <a:chExt cx="5448300" cy="2522220"/>
          </a:xfrm>
        </p:grpSpPr>
        <p:pic>
          <p:nvPicPr>
            <p:cNvPr id="38" name="object 3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95827" y="3722513"/>
              <a:ext cx="5448290" cy="252221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245352" y="3749038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4945372" y="2423159"/>
                  </a:moveTo>
                  <a:lnTo>
                    <a:pt x="403867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4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7"/>
                  </a:ln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7" y="0"/>
                  </a:lnTo>
                  <a:lnTo>
                    <a:pt x="4945372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1"/>
                  </a:lnTo>
                  <a:lnTo>
                    <a:pt x="5349240" y="403867"/>
                  </a:lnTo>
                  <a:lnTo>
                    <a:pt x="5349240" y="2019291"/>
                  </a:lnTo>
                  <a:lnTo>
                    <a:pt x="5346523" y="2066391"/>
                  </a:lnTo>
                  <a:lnTo>
                    <a:pt x="5338574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5" y="2271890"/>
                  </a:lnTo>
                  <a:lnTo>
                    <a:pt x="5230950" y="2304869"/>
                  </a:lnTo>
                  <a:lnTo>
                    <a:pt x="5197971" y="2334434"/>
                  </a:lnTo>
                  <a:lnTo>
                    <a:pt x="5161881" y="2360282"/>
                  </a:lnTo>
                  <a:lnTo>
                    <a:pt x="5122983" y="2382110"/>
                  </a:lnTo>
                  <a:lnTo>
                    <a:pt x="5081580" y="2399614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2" y="24231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245352" y="3749038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0" y="403867"/>
                  </a:move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7" y="0"/>
                  </a:lnTo>
                  <a:lnTo>
                    <a:pt x="4945372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1"/>
                  </a:lnTo>
                  <a:lnTo>
                    <a:pt x="5349240" y="403867"/>
                  </a:lnTo>
                  <a:lnTo>
                    <a:pt x="5349240" y="2019291"/>
                  </a:lnTo>
                  <a:lnTo>
                    <a:pt x="5346523" y="2066391"/>
                  </a:lnTo>
                  <a:lnTo>
                    <a:pt x="5338574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5" y="2271890"/>
                  </a:lnTo>
                  <a:lnTo>
                    <a:pt x="5230950" y="2304869"/>
                  </a:lnTo>
                  <a:lnTo>
                    <a:pt x="5197971" y="2334434"/>
                  </a:lnTo>
                  <a:lnTo>
                    <a:pt x="5161881" y="2360282"/>
                  </a:lnTo>
                  <a:lnTo>
                    <a:pt x="5122983" y="2382110"/>
                  </a:lnTo>
                  <a:lnTo>
                    <a:pt x="5081580" y="2399614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2" y="2423159"/>
                  </a:lnTo>
                  <a:lnTo>
                    <a:pt x="403867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4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7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/>
          <p:cNvGrpSpPr/>
          <p:nvPr/>
        </p:nvGrpSpPr>
        <p:grpSpPr>
          <a:xfrm>
            <a:off x="6200589" y="3727276"/>
            <a:ext cx="5438775" cy="528955"/>
            <a:chOff x="6200589" y="3727276"/>
            <a:chExt cx="5438775" cy="528955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0589" y="3727276"/>
              <a:ext cx="5438765" cy="52843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245352" y="3749038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5276086" y="438912"/>
                  </a:moveTo>
                  <a:lnTo>
                    <a:pt x="73153" y="438912"/>
                  </a:lnTo>
                  <a:lnTo>
                    <a:pt x="44678" y="433163"/>
                  </a:lnTo>
                  <a:lnTo>
                    <a:pt x="21426" y="417486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6"/>
                  </a:lnTo>
                  <a:lnTo>
                    <a:pt x="5304561" y="433163"/>
                  </a:lnTo>
                  <a:lnTo>
                    <a:pt x="5276086" y="438912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245352" y="3749038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6"/>
                  </a:lnTo>
                  <a:lnTo>
                    <a:pt x="5304561" y="433163"/>
                  </a:lnTo>
                  <a:lnTo>
                    <a:pt x="5276086" y="438912"/>
                  </a:lnTo>
                  <a:lnTo>
                    <a:pt x="73153" y="438912"/>
                  </a:lnTo>
                  <a:lnTo>
                    <a:pt x="44678" y="433163"/>
                  </a:lnTo>
                  <a:lnTo>
                    <a:pt x="21426" y="417486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16A34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71333" y="3872406"/>
              <a:ext cx="221258" cy="208243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620074" y="3846765"/>
            <a:ext cx="28263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SUPABASE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POSTGRESQL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TEST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SUITE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31916" y="4453381"/>
            <a:ext cx="4582160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7000" indent="122555">
              <a:lnSpc>
                <a:spcPct val="100000"/>
              </a:lnSpc>
              <a:spcBef>
                <a:spcPts val="100"/>
              </a:spcBef>
              <a:buChar char="•"/>
              <a:tabLst>
                <a:tab pos="135255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Supabase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Database:</a:t>
            </a:r>
            <a:r>
              <a:rPr sz="135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Managed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PostgreSQL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database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storing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candidates,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jobs,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application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records.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5080" indent="122555">
              <a:lnSpc>
                <a:spcPct val="100000"/>
              </a:lnSpc>
              <a:spcBef>
                <a:spcPts val="400"/>
              </a:spcBef>
              <a:buChar char="•"/>
              <a:tabLst>
                <a:tab pos="135255" algn="l"/>
              </a:tabLst>
            </a:pPr>
            <a:r>
              <a:rPr sz="13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Row-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Level</a:t>
            </a:r>
            <a:r>
              <a:rPr sz="135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Security</a:t>
            </a:r>
            <a:r>
              <a:rPr sz="135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(RLS):</a:t>
            </a:r>
            <a:r>
              <a:rPr sz="1350" b="1" spc="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Database-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level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security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policies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restricting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access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strictly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user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role.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22860" indent="122555">
              <a:lnSpc>
                <a:spcPct val="100000"/>
              </a:lnSpc>
              <a:spcBef>
                <a:spcPts val="400"/>
              </a:spcBef>
              <a:buChar char="•"/>
              <a:tabLst>
                <a:tab pos="135255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Pytest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Test</a:t>
            </a:r>
            <a:r>
              <a:rPr sz="135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Suite:</a:t>
            </a:r>
            <a:r>
              <a:rPr sz="135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Comprehensive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automated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unit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tests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verifying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evaluation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logic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parser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accuracy.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238760" indent="122555">
              <a:lnSpc>
                <a:spcPct val="100000"/>
              </a:lnSpc>
              <a:spcBef>
                <a:spcPts val="400"/>
              </a:spcBef>
              <a:buChar char="•"/>
              <a:tabLst>
                <a:tab pos="135255" algn="l"/>
              </a:tabLst>
            </a:pP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HTTPX</a:t>
            </a:r>
            <a:r>
              <a:rPr sz="13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Asynchronous</a:t>
            </a:r>
            <a:r>
              <a:rPr sz="13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Client:</a:t>
            </a:r>
            <a:r>
              <a:rPr sz="1350" b="1" spc="-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Automated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end-to-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end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integration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testing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across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FastAPI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REST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endpoints.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110" dirty="0"/>
              <a:t> </a:t>
            </a:r>
            <a:r>
              <a:rPr spc="-10" dirty="0"/>
              <a:t>Description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468165" y="155447"/>
            <a:ext cx="205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835" y="1207915"/>
            <a:ext cx="3601720" cy="2430780"/>
            <a:chOff x="544835" y="1207915"/>
            <a:chExt cx="3601720" cy="243078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1207915"/>
              <a:ext cx="3601202" cy="24307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23443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60" h="2331720">
                  <a:moveTo>
                    <a:pt x="3113524" y="2331719"/>
                  </a:move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6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8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2"/>
                  </a:lnTo>
                  <a:lnTo>
                    <a:pt x="0" y="388627"/>
                  </a:lnTo>
                  <a:lnTo>
                    <a:pt x="3027" y="339879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6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4" y="0"/>
                  </a:lnTo>
                  <a:lnTo>
                    <a:pt x="3164607" y="3370"/>
                  </a:lnTo>
                  <a:lnTo>
                    <a:pt x="3214382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1" y="337544"/>
                  </a:lnTo>
                  <a:lnTo>
                    <a:pt x="3502151" y="388627"/>
                  </a:lnTo>
                  <a:lnTo>
                    <a:pt x="3502151" y="1943092"/>
                  </a:lnTo>
                  <a:lnTo>
                    <a:pt x="3499124" y="1991840"/>
                  </a:lnTo>
                  <a:lnTo>
                    <a:pt x="3490282" y="2038782"/>
                  </a:lnTo>
                  <a:lnTo>
                    <a:pt x="3475992" y="2083552"/>
                  </a:lnTo>
                  <a:lnTo>
                    <a:pt x="3456618" y="2125788"/>
                  </a:lnTo>
                  <a:lnTo>
                    <a:pt x="3432522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5" y="2305560"/>
                  </a:lnTo>
                  <a:lnTo>
                    <a:pt x="3209214" y="2319850"/>
                  </a:lnTo>
                  <a:lnTo>
                    <a:pt x="3162273" y="2328692"/>
                  </a:lnTo>
                  <a:lnTo>
                    <a:pt x="3113524" y="23317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359" y="123443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60" h="2331720">
                  <a:moveTo>
                    <a:pt x="0" y="388627"/>
                  </a:moveTo>
                  <a:lnTo>
                    <a:pt x="3027" y="339879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6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4" y="0"/>
                  </a:lnTo>
                  <a:lnTo>
                    <a:pt x="3164607" y="3370"/>
                  </a:lnTo>
                  <a:lnTo>
                    <a:pt x="3214382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1" y="337544"/>
                  </a:lnTo>
                  <a:lnTo>
                    <a:pt x="3502151" y="388627"/>
                  </a:lnTo>
                  <a:lnTo>
                    <a:pt x="3502151" y="1943092"/>
                  </a:lnTo>
                  <a:lnTo>
                    <a:pt x="3499124" y="1991840"/>
                  </a:lnTo>
                  <a:lnTo>
                    <a:pt x="3490282" y="2038782"/>
                  </a:lnTo>
                  <a:lnTo>
                    <a:pt x="3475992" y="2083552"/>
                  </a:lnTo>
                  <a:lnTo>
                    <a:pt x="3456618" y="2125788"/>
                  </a:lnTo>
                  <a:lnTo>
                    <a:pt x="3432522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5" y="2305560"/>
                  </a:lnTo>
                  <a:lnTo>
                    <a:pt x="3209214" y="2319850"/>
                  </a:lnTo>
                  <a:lnTo>
                    <a:pt x="3162273" y="2328692"/>
                  </a:lnTo>
                  <a:lnTo>
                    <a:pt x="3113524" y="2331719"/>
                  </a:ln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6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8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2"/>
                  </a:lnTo>
                  <a:lnTo>
                    <a:pt x="0" y="388627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549597" y="1212677"/>
            <a:ext cx="3592195" cy="528955"/>
            <a:chOff x="549597" y="1212677"/>
            <a:chExt cx="3592195" cy="52895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7" y="1212677"/>
              <a:ext cx="3591677" cy="5284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59" y="12344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60" h="439419">
                  <a:moveTo>
                    <a:pt x="3428998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4" y="12290"/>
                  </a:lnTo>
                  <a:lnTo>
                    <a:pt x="3496583" y="45158"/>
                  </a:lnTo>
                  <a:lnTo>
                    <a:pt x="3502151" y="73153"/>
                  </a:lnTo>
                  <a:lnTo>
                    <a:pt x="3502151" y="365758"/>
                  </a:lnTo>
                  <a:lnTo>
                    <a:pt x="3496403" y="394233"/>
                  </a:lnTo>
                  <a:lnTo>
                    <a:pt x="3480725" y="417485"/>
                  </a:lnTo>
                  <a:lnTo>
                    <a:pt x="3457473" y="433163"/>
                  </a:lnTo>
                  <a:lnTo>
                    <a:pt x="3428998" y="438911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4359" y="12344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6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4" y="12290"/>
                  </a:lnTo>
                  <a:lnTo>
                    <a:pt x="3496583" y="45158"/>
                  </a:lnTo>
                  <a:lnTo>
                    <a:pt x="3502151" y="73153"/>
                  </a:lnTo>
                  <a:lnTo>
                    <a:pt x="3502151" y="365758"/>
                  </a:lnTo>
                  <a:lnTo>
                    <a:pt x="3496403" y="394233"/>
                  </a:lnTo>
                  <a:lnTo>
                    <a:pt x="3480725" y="417485"/>
                  </a:lnTo>
                  <a:lnTo>
                    <a:pt x="3457473" y="433163"/>
                  </a:lnTo>
                  <a:lnTo>
                    <a:pt x="3428998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126644" y="1332166"/>
            <a:ext cx="24117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MODULE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1: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DOCUMENT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PARSER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410" y="1927288"/>
            <a:ext cx="2879090" cy="1636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5725" indent="119380">
              <a:lnSpc>
                <a:spcPct val="100000"/>
              </a:lnSpc>
              <a:spcBef>
                <a:spcPts val="1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Purpose:</a:t>
            </a:r>
            <a:r>
              <a:rPr sz="1300" b="1" spc="-1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Ingests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PDF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DOCX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resumes 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extracts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raw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text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buffers.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5080" indent="119380">
              <a:lnSpc>
                <a:spcPct val="100000"/>
              </a:lnSpc>
              <a:spcBef>
                <a:spcPts val="400"/>
              </a:spcBef>
              <a:buChar char="•"/>
              <a:tabLst>
                <a:tab pos="132080" algn="l"/>
              </a:tabLst>
            </a:pP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Algorithm:</a:t>
            </a:r>
            <a:r>
              <a:rPr sz="1300" b="1" spc="-8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200" spc="7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word-boundary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regex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email,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phone,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total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employment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duration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without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statistical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models.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313055" indent="119380">
              <a:lnSpc>
                <a:spcPct val="100000"/>
              </a:lnSpc>
              <a:spcBef>
                <a:spcPts val="4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Outputs:</a:t>
            </a:r>
            <a:r>
              <a:rPr sz="1300" b="1" spc="-1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Structured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profile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dictionary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verified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contact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work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history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data.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93875" y="1207915"/>
            <a:ext cx="3601720" cy="2430780"/>
            <a:chOff x="4293875" y="1207915"/>
            <a:chExt cx="3601720" cy="2430780"/>
          </a:xfrm>
        </p:grpSpPr>
        <p:pic>
          <p:nvPicPr>
            <p:cNvPr id="15" name="object 1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293875" y="1207915"/>
              <a:ext cx="3601202" cy="243077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343399" y="123443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59" h="2331720">
                  <a:moveTo>
                    <a:pt x="3113524" y="2331719"/>
                  </a:move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6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8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2"/>
                  </a:lnTo>
                  <a:lnTo>
                    <a:pt x="0" y="388627"/>
                  </a:lnTo>
                  <a:lnTo>
                    <a:pt x="3027" y="339879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6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4" y="0"/>
                  </a:lnTo>
                  <a:lnTo>
                    <a:pt x="3164606" y="3370"/>
                  </a:lnTo>
                  <a:lnTo>
                    <a:pt x="3214382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2" y="337544"/>
                  </a:lnTo>
                  <a:lnTo>
                    <a:pt x="3502152" y="388627"/>
                  </a:lnTo>
                  <a:lnTo>
                    <a:pt x="3502152" y="1943092"/>
                  </a:lnTo>
                  <a:lnTo>
                    <a:pt x="3499124" y="1991840"/>
                  </a:lnTo>
                  <a:lnTo>
                    <a:pt x="3490283" y="2038782"/>
                  </a:lnTo>
                  <a:lnTo>
                    <a:pt x="3475993" y="2083552"/>
                  </a:lnTo>
                  <a:lnTo>
                    <a:pt x="3456618" y="2125788"/>
                  </a:lnTo>
                  <a:lnTo>
                    <a:pt x="3432523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4" y="2305560"/>
                  </a:lnTo>
                  <a:lnTo>
                    <a:pt x="3209214" y="2319850"/>
                  </a:lnTo>
                  <a:lnTo>
                    <a:pt x="3162272" y="2328692"/>
                  </a:lnTo>
                  <a:lnTo>
                    <a:pt x="3113524" y="23317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343399" y="123443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59" h="2331720">
                  <a:moveTo>
                    <a:pt x="0" y="388627"/>
                  </a:moveTo>
                  <a:lnTo>
                    <a:pt x="3027" y="339879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6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4" y="0"/>
                  </a:lnTo>
                  <a:lnTo>
                    <a:pt x="3164606" y="3370"/>
                  </a:lnTo>
                  <a:lnTo>
                    <a:pt x="3214382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2" y="337544"/>
                  </a:lnTo>
                  <a:lnTo>
                    <a:pt x="3502152" y="388627"/>
                  </a:lnTo>
                  <a:lnTo>
                    <a:pt x="3502152" y="1943092"/>
                  </a:lnTo>
                  <a:lnTo>
                    <a:pt x="3499124" y="1991840"/>
                  </a:lnTo>
                  <a:lnTo>
                    <a:pt x="3490283" y="2038782"/>
                  </a:lnTo>
                  <a:lnTo>
                    <a:pt x="3475993" y="2083552"/>
                  </a:lnTo>
                  <a:lnTo>
                    <a:pt x="3456618" y="2125788"/>
                  </a:lnTo>
                  <a:lnTo>
                    <a:pt x="3432523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4" y="2305560"/>
                  </a:lnTo>
                  <a:lnTo>
                    <a:pt x="3209214" y="2319850"/>
                  </a:lnTo>
                  <a:lnTo>
                    <a:pt x="3162272" y="2328692"/>
                  </a:lnTo>
                  <a:lnTo>
                    <a:pt x="3113524" y="2331719"/>
                  </a:ln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6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8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2"/>
                  </a:lnTo>
                  <a:lnTo>
                    <a:pt x="0" y="388627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4298637" y="1212677"/>
            <a:ext cx="3592195" cy="528955"/>
            <a:chOff x="4298637" y="1212677"/>
            <a:chExt cx="3592195" cy="52895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8637" y="1212677"/>
              <a:ext cx="3591677" cy="52843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343399" y="12344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59" h="439419">
                  <a:moveTo>
                    <a:pt x="3428998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4" y="12290"/>
                  </a:lnTo>
                  <a:lnTo>
                    <a:pt x="3496583" y="45158"/>
                  </a:lnTo>
                  <a:lnTo>
                    <a:pt x="3502152" y="73153"/>
                  </a:lnTo>
                  <a:lnTo>
                    <a:pt x="3502152" y="365758"/>
                  </a:lnTo>
                  <a:lnTo>
                    <a:pt x="3496403" y="394233"/>
                  </a:lnTo>
                  <a:lnTo>
                    <a:pt x="3480726" y="417485"/>
                  </a:lnTo>
                  <a:lnTo>
                    <a:pt x="3457473" y="433163"/>
                  </a:lnTo>
                  <a:lnTo>
                    <a:pt x="3428998" y="438911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343399" y="12344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59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4" y="12290"/>
                  </a:lnTo>
                  <a:lnTo>
                    <a:pt x="3496583" y="45158"/>
                  </a:lnTo>
                  <a:lnTo>
                    <a:pt x="3502152" y="73153"/>
                  </a:lnTo>
                  <a:lnTo>
                    <a:pt x="3502152" y="365758"/>
                  </a:lnTo>
                  <a:lnTo>
                    <a:pt x="3496403" y="394233"/>
                  </a:lnTo>
                  <a:lnTo>
                    <a:pt x="3480726" y="417485"/>
                  </a:lnTo>
                  <a:lnTo>
                    <a:pt x="3457473" y="433163"/>
                  </a:lnTo>
                  <a:lnTo>
                    <a:pt x="3428998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934316" y="1332166"/>
            <a:ext cx="2296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MODULE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2: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KNOWLEDGE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BASE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06450" y="1927288"/>
            <a:ext cx="2929255" cy="1636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9380">
              <a:lnSpc>
                <a:spcPct val="100000"/>
              </a:lnSpc>
              <a:spcBef>
                <a:spcPts val="1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Purpose:</a:t>
            </a:r>
            <a:r>
              <a:rPr sz="1300" b="1" spc="-1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Maintains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domain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knowledge 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base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40+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technologies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educational hierarchies.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470535" indent="119380">
              <a:lnSpc>
                <a:spcPct val="100000"/>
              </a:lnSpc>
              <a:spcBef>
                <a:spcPts val="400"/>
              </a:spcBef>
              <a:buChar char="•"/>
              <a:tabLst>
                <a:tab pos="132080" algn="l"/>
              </a:tabLst>
            </a:pP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Algorithm:</a:t>
            </a:r>
            <a:r>
              <a:rPr sz="1300" b="1" spc="-9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Ontology</a:t>
            </a:r>
            <a:r>
              <a:rPr sz="1200" spc="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word-boundary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matching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alias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normalization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(e.g. Postgres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SimSun-ExtB" panose="02010609060101010101" charset="-122"/>
                <a:cs typeface="SimSun-ExtB" panose="02010609060101010101" charset="-122"/>
              </a:rPr>
              <a:t>➔</a:t>
            </a:r>
            <a:r>
              <a:rPr sz="1200" spc="-330" dirty="0">
                <a:solidFill>
                  <a:srgbClr val="0F172A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PostgreSQL).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217805" indent="119380">
              <a:lnSpc>
                <a:spcPct val="100000"/>
              </a:lnSpc>
              <a:spcBef>
                <a:spcPts val="4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Outputs:</a:t>
            </a:r>
            <a:r>
              <a:rPr sz="1300" b="1" spc="-1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Standardized</a:t>
            </a:r>
            <a:r>
              <a:rPr sz="12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set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degree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tier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classification.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42915" y="1207915"/>
            <a:ext cx="3601720" cy="2430780"/>
            <a:chOff x="8042915" y="1207915"/>
            <a:chExt cx="3601720" cy="2430780"/>
          </a:xfrm>
        </p:grpSpPr>
        <p:pic>
          <p:nvPicPr>
            <p:cNvPr id="25" name="object 2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042915" y="1207915"/>
              <a:ext cx="3601202" cy="243077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092439" y="123443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59" h="2331720">
                  <a:moveTo>
                    <a:pt x="3113523" y="2331719"/>
                  </a:move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7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8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2"/>
                  </a:lnTo>
                  <a:lnTo>
                    <a:pt x="0" y="388627"/>
                  </a:lnTo>
                  <a:lnTo>
                    <a:pt x="3027" y="339879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7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3" y="0"/>
                  </a:lnTo>
                  <a:lnTo>
                    <a:pt x="3164606" y="3370"/>
                  </a:lnTo>
                  <a:lnTo>
                    <a:pt x="3214381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2" y="337544"/>
                  </a:lnTo>
                  <a:lnTo>
                    <a:pt x="3502152" y="388627"/>
                  </a:lnTo>
                  <a:lnTo>
                    <a:pt x="3502152" y="1943092"/>
                  </a:lnTo>
                  <a:lnTo>
                    <a:pt x="3499124" y="1991840"/>
                  </a:lnTo>
                  <a:lnTo>
                    <a:pt x="3490283" y="2038782"/>
                  </a:lnTo>
                  <a:lnTo>
                    <a:pt x="3475993" y="2083552"/>
                  </a:lnTo>
                  <a:lnTo>
                    <a:pt x="3456618" y="2125788"/>
                  </a:lnTo>
                  <a:lnTo>
                    <a:pt x="3432523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4" y="2305560"/>
                  </a:lnTo>
                  <a:lnTo>
                    <a:pt x="3209214" y="2319850"/>
                  </a:lnTo>
                  <a:lnTo>
                    <a:pt x="3162272" y="2328692"/>
                  </a:lnTo>
                  <a:lnTo>
                    <a:pt x="3113523" y="23317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092439" y="1234439"/>
              <a:ext cx="3502660" cy="2331720"/>
            </a:xfrm>
            <a:custGeom>
              <a:avLst/>
              <a:gdLst/>
              <a:ahLst/>
              <a:cxnLst/>
              <a:rect l="l" t="t" r="r" b="b"/>
              <a:pathLst>
                <a:path w="3502659" h="2331720">
                  <a:moveTo>
                    <a:pt x="0" y="388627"/>
                  </a:moveTo>
                  <a:lnTo>
                    <a:pt x="3027" y="339879"/>
                  </a:lnTo>
                  <a:lnTo>
                    <a:pt x="11869" y="292937"/>
                  </a:lnTo>
                  <a:lnTo>
                    <a:pt x="26159" y="248166"/>
                  </a:lnTo>
                  <a:lnTo>
                    <a:pt x="45533" y="205931"/>
                  </a:lnTo>
                  <a:lnTo>
                    <a:pt x="69629" y="166596"/>
                  </a:lnTo>
                  <a:lnTo>
                    <a:pt x="98080" y="130524"/>
                  </a:lnTo>
                  <a:lnTo>
                    <a:pt x="130524" y="98080"/>
                  </a:lnTo>
                  <a:lnTo>
                    <a:pt x="166596" y="69629"/>
                  </a:lnTo>
                  <a:lnTo>
                    <a:pt x="205931" y="45533"/>
                  </a:lnTo>
                  <a:lnTo>
                    <a:pt x="248167" y="26159"/>
                  </a:lnTo>
                  <a:lnTo>
                    <a:pt x="292937" y="11869"/>
                  </a:lnTo>
                  <a:lnTo>
                    <a:pt x="339879" y="3027"/>
                  </a:lnTo>
                  <a:lnTo>
                    <a:pt x="388627" y="0"/>
                  </a:lnTo>
                  <a:lnTo>
                    <a:pt x="3113523" y="0"/>
                  </a:lnTo>
                  <a:lnTo>
                    <a:pt x="3164606" y="3370"/>
                  </a:lnTo>
                  <a:lnTo>
                    <a:pt x="3214381" y="13314"/>
                  </a:lnTo>
                  <a:lnTo>
                    <a:pt x="3262245" y="29582"/>
                  </a:lnTo>
                  <a:lnTo>
                    <a:pt x="3307593" y="51923"/>
                  </a:lnTo>
                  <a:lnTo>
                    <a:pt x="3349821" y="80088"/>
                  </a:lnTo>
                  <a:lnTo>
                    <a:pt x="3388325" y="113826"/>
                  </a:lnTo>
                  <a:lnTo>
                    <a:pt x="3422063" y="152330"/>
                  </a:lnTo>
                  <a:lnTo>
                    <a:pt x="3450228" y="194558"/>
                  </a:lnTo>
                  <a:lnTo>
                    <a:pt x="3472569" y="239906"/>
                  </a:lnTo>
                  <a:lnTo>
                    <a:pt x="3488837" y="287769"/>
                  </a:lnTo>
                  <a:lnTo>
                    <a:pt x="3498782" y="337544"/>
                  </a:lnTo>
                  <a:lnTo>
                    <a:pt x="3502152" y="388627"/>
                  </a:lnTo>
                  <a:lnTo>
                    <a:pt x="3502152" y="1943092"/>
                  </a:lnTo>
                  <a:lnTo>
                    <a:pt x="3499124" y="1991840"/>
                  </a:lnTo>
                  <a:lnTo>
                    <a:pt x="3490283" y="2038782"/>
                  </a:lnTo>
                  <a:lnTo>
                    <a:pt x="3475993" y="2083552"/>
                  </a:lnTo>
                  <a:lnTo>
                    <a:pt x="3456618" y="2125788"/>
                  </a:lnTo>
                  <a:lnTo>
                    <a:pt x="3432523" y="2165123"/>
                  </a:lnTo>
                  <a:lnTo>
                    <a:pt x="3404071" y="2201195"/>
                  </a:lnTo>
                  <a:lnTo>
                    <a:pt x="3371627" y="2233639"/>
                  </a:lnTo>
                  <a:lnTo>
                    <a:pt x="3335555" y="2262090"/>
                  </a:lnTo>
                  <a:lnTo>
                    <a:pt x="3296220" y="2286186"/>
                  </a:lnTo>
                  <a:lnTo>
                    <a:pt x="3253984" y="2305560"/>
                  </a:lnTo>
                  <a:lnTo>
                    <a:pt x="3209214" y="2319850"/>
                  </a:lnTo>
                  <a:lnTo>
                    <a:pt x="3162272" y="2328692"/>
                  </a:lnTo>
                  <a:lnTo>
                    <a:pt x="3113523" y="2331719"/>
                  </a:lnTo>
                  <a:lnTo>
                    <a:pt x="388627" y="2331719"/>
                  </a:lnTo>
                  <a:lnTo>
                    <a:pt x="339879" y="2328692"/>
                  </a:lnTo>
                  <a:lnTo>
                    <a:pt x="292937" y="2319850"/>
                  </a:lnTo>
                  <a:lnTo>
                    <a:pt x="248167" y="2305560"/>
                  </a:lnTo>
                  <a:lnTo>
                    <a:pt x="205931" y="2286186"/>
                  </a:lnTo>
                  <a:lnTo>
                    <a:pt x="166596" y="2262090"/>
                  </a:lnTo>
                  <a:lnTo>
                    <a:pt x="130524" y="2233639"/>
                  </a:lnTo>
                  <a:lnTo>
                    <a:pt x="98080" y="2201195"/>
                  </a:lnTo>
                  <a:lnTo>
                    <a:pt x="69629" y="2165123"/>
                  </a:lnTo>
                  <a:lnTo>
                    <a:pt x="45533" y="2125788"/>
                  </a:lnTo>
                  <a:lnTo>
                    <a:pt x="26159" y="2083552"/>
                  </a:lnTo>
                  <a:lnTo>
                    <a:pt x="11869" y="2038782"/>
                  </a:lnTo>
                  <a:lnTo>
                    <a:pt x="3027" y="1991840"/>
                  </a:lnTo>
                  <a:lnTo>
                    <a:pt x="0" y="1943092"/>
                  </a:lnTo>
                  <a:lnTo>
                    <a:pt x="0" y="388627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8047677" y="1212677"/>
            <a:ext cx="3592195" cy="528955"/>
            <a:chOff x="8047677" y="1212677"/>
            <a:chExt cx="3592195" cy="52895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7677" y="1212677"/>
              <a:ext cx="3591677" cy="52843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092439" y="12344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59" h="439419">
                  <a:moveTo>
                    <a:pt x="3428998" y="438911"/>
                  </a:moveTo>
                  <a:lnTo>
                    <a:pt x="73153" y="438911"/>
                  </a:lnTo>
                  <a:lnTo>
                    <a:pt x="44679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9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3" y="12290"/>
                  </a:lnTo>
                  <a:lnTo>
                    <a:pt x="3496583" y="45158"/>
                  </a:lnTo>
                  <a:lnTo>
                    <a:pt x="3502152" y="73153"/>
                  </a:lnTo>
                  <a:lnTo>
                    <a:pt x="3502152" y="365758"/>
                  </a:lnTo>
                  <a:lnTo>
                    <a:pt x="3496403" y="394233"/>
                  </a:lnTo>
                  <a:lnTo>
                    <a:pt x="3480726" y="417485"/>
                  </a:lnTo>
                  <a:lnTo>
                    <a:pt x="3457473" y="433163"/>
                  </a:lnTo>
                  <a:lnTo>
                    <a:pt x="3428998" y="438911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092439" y="1234439"/>
              <a:ext cx="3502660" cy="439420"/>
            </a:xfrm>
            <a:custGeom>
              <a:avLst/>
              <a:gdLst/>
              <a:ahLst/>
              <a:cxnLst/>
              <a:rect l="l" t="t" r="r" b="b"/>
              <a:pathLst>
                <a:path w="3502659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9" y="5748"/>
                  </a:lnTo>
                  <a:lnTo>
                    <a:pt x="73153" y="0"/>
                  </a:lnTo>
                  <a:lnTo>
                    <a:pt x="3428998" y="0"/>
                  </a:lnTo>
                  <a:lnTo>
                    <a:pt x="3469583" y="12290"/>
                  </a:lnTo>
                  <a:lnTo>
                    <a:pt x="3496583" y="45158"/>
                  </a:lnTo>
                  <a:lnTo>
                    <a:pt x="3502152" y="73153"/>
                  </a:lnTo>
                  <a:lnTo>
                    <a:pt x="3502152" y="365758"/>
                  </a:lnTo>
                  <a:lnTo>
                    <a:pt x="3496403" y="394233"/>
                  </a:lnTo>
                  <a:lnTo>
                    <a:pt x="3480726" y="417485"/>
                  </a:lnTo>
                  <a:lnTo>
                    <a:pt x="3457473" y="433163"/>
                  </a:lnTo>
                  <a:lnTo>
                    <a:pt x="3428998" y="438911"/>
                  </a:lnTo>
                  <a:lnTo>
                    <a:pt x="73153" y="438911"/>
                  </a:lnTo>
                  <a:lnTo>
                    <a:pt x="44679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887659" y="1332166"/>
            <a:ext cx="189483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MODULE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3: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RULE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ENGINE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55490" y="1927288"/>
            <a:ext cx="2871470" cy="1636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9380">
              <a:lnSpc>
                <a:spcPct val="100000"/>
              </a:lnSpc>
              <a:spcBef>
                <a:spcPts val="1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Purpose:</a:t>
            </a:r>
            <a:r>
              <a:rPr sz="1300" b="1" spc="-10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Applies</a:t>
            </a:r>
            <a:r>
              <a:rPr sz="1200" spc="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first-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principles</a:t>
            </a:r>
            <a:r>
              <a:rPr sz="1200" spc="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production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over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facts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against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job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criteria.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86360" indent="119380">
              <a:lnSpc>
                <a:spcPct val="100000"/>
              </a:lnSpc>
              <a:spcBef>
                <a:spcPts val="400"/>
              </a:spcBef>
              <a:buChar char="•"/>
              <a:tabLst>
                <a:tab pos="132080" algn="l"/>
              </a:tabLst>
            </a:pP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Algorithm:</a:t>
            </a:r>
            <a:r>
              <a:rPr sz="1300" b="1" spc="-1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First-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Order</a:t>
            </a:r>
            <a:r>
              <a:rPr sz="1200" spc="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Logic</a:t>
            </a:r>
            <a:r>
              <a:rPr sz="1200" spc="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Horn</a:t>
            </a:r>
            <a:r>
              <a:rPr sz="1200" spc="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clauses: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evaluates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experience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ratio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degree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hierarchy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(Ph.D.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&gt;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Master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&gt;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Bachelor).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142875" indent="119380">
              <a:lnSpc>
                <a:spcPct val="100000"/>
              </a:lnSpc>
              <a:spcBef>
                <a:spcPts val="4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Outputs:</a:t>
            </a:r>
            <a:r>
              <a:rPr sz="1300" b="1" spc="-10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Boolean</a:t>
            </a:r>
            <a:r>
              <a:rPr sz="1200" spc="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</a:t>
            </a:r>
            <a:r>
              <a:rPr sz="1200" spc="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satisfaction</a:t>
            </a:r>
            <a:r>
              <a:rPr sz="1200" spc="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matrix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detailed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step-by-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step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mathematical reasoning.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44835" y="3722513"/>
            <a:ext cx="5448300" cy="2522220"/>
            <a:chOff x="544835" y="3722513"/>
            <a:chExt cx="5448300" cy="2522220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835" y="3722513"/>
              <a:ext cx="5448290" cy="252221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94359" y="3749038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4945371" y="2423159"/>
                  </a:moveTo>
                  <a:lnTo>
                    <a:pt x="403868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4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7"/>
                  </a:ln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8" y="0"/>
                  </a:lnTo>
                  <a:lnTo>
                    <a:pt x="4945371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1"/>
                  </a:lnTo>
                  <a:lnTo>
                    <a:pt x="5349239" y="403867"/>
                  </a:lnTo>
                  <a:lnTo>
                    <a:pt x="5349239" y="2019291"/>
                  </a:lnTo>
                  <a:lnTo>
                    <a:pt x="5346522" y="2066391"/>
                  </a:lnTo>
                  <a:lnTo>
                    <a:pt x="5338573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4" y="2271890"/>
                  </a:lnTo>
                  <a:lnTo>
                    <a:pt x="5230949" y="2304869"/>
                  </a:lnTo>
                  <a:lnTo>
                    <a:pt x="5197970" y="2334434"/>
                  </a:lnTo>
                  <a:lnTo>
                    <a:pt x="5161880" y="2360282"/>
                  </a:lnTo>
                  <a:lnTo>
                    <a:pt x="5122982" y="2382110"/>
                  </a:lnTo>
                  <a:lnTo>
                    <a:pt x="5081579" y="2399614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1" y="24231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94359" y="3749038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0" y="403867"/>
                  </a:move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8" y="0"/>
                  </a:lnTo>
                  <a:lnTo>
                    <a:pt x="4945371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1"/>
                  </a:lnTo>
                  <a:lnTo>
                    <a:pt x="5349239" y="403867"/>
                  </a:lnTo>
                  <a:lnTo>
                    <a:pt x="5349239" y="2019291"/>
                  </a:lnTo>
                  <a:lnTo>
                    <a:pt x="5346522" y="2066391"/>
                  </a:lnTo>
                  <a:lnTo>
                    <a:pt x="5338573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4" y="2271890"/>
                  </a:lnTo>
                  <a:lnTo>
                    <a:pt x="5230949" y="2304869"/>
                  </a:lnTo>
                  <a:lnTo>
                    <a:pt x="5197970" y="2334434"/>
                  </a:lnTo>
                  <a:lnTo>
                    <a:pt x="5161880" y="2360282"/>
                  </a:lnTo>
                  <a:lnTo>
                    <a:pt x="5122982" y="2382110"/>
                  </a:lnTo>
                  <a:lnTo>
                    <a:pt x="5081579" y="2399614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1" y="2423159"/>
                  </a:lnTo>
                  <a:lnTo>
                    <a:pt x="403868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4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7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549597" y="3727276"/>
            <a:ext cx="5438775" cy="528955"/>
            <a:chOff x="549597" y="3727276"/>
            <a:chExt cx="5438775" cy="528955"/>
          </a:xfrm>
        </p:grpSpPr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597" y="3727276"/>
              <a:ext cx="5438765" cy="52843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94359" y="3749038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5276086" y="438912"/>
                  </a:moveTo>
                  <a:lnTo>
                    <a:pt x="73153" y="438912"/>
                  </a:lnTo>
                  <a:lnTo>
                    <a:pt x="44678" y="433163"/>
                  </a:lnTo>
                  <a:lnTo>
                    <a:pt x="21426" y="417486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6"/>
                  </a:lnTo>
                  <a:lnTo>
                    <a:pt x="5304561" y="433163"/>
                  </a:lnTo>
                  <a:lnTo>
                    <a:pt x="5276086" y="438912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94359" y="3749038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6"/>
                  </a:lnTo>
                  <a:lnTo>
                    <a:pt x="5304561" y="433163"/>
                  </a:lnTo>
                  <a:lnTo>
                    <a:pt x="5276086" y="438912"/>
                  </a:lnTo>
                  <a:lnTo>
                    <a:pt x="73153" y="438912"/>
                  </a:lnTo>
                  <a:lnTo>
                    <a:pt x="44678" y="433163"/>
                  </a:lnTo>
                  <a:lnTo>
                    <a:pt x="21426" y="417486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222590" y="3846765"/>
            <a:ext cx="40354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MODULE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4: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HEURISTIC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SCORER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RANKER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61874" y="4670487"/>
            <a:ext cx="4766945" cy="127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67385" indent="119380">
              <a:lnSpc>
                <a:spcPct val="100000"/>
              </a:lnSpc>
              <a:spcBef>
                <a:spcPts val="1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Purpose:</a:t>
            </a:r>
            <a:r>
              <a:rPr sz="1300" b="1" spc="-1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Ranks</a:t>
            </a:r>
            <a:r>
              <a:rPr sz="12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applicants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objectively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using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multi-criteria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utility formulation.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5080" indent="119380">
              <a:lnSpc>
                <a:spcPct val="100000"/>
              </a:lnSpc>
              <a:spcBef>
                <a:spcPts val="400"/>
              </a:spcBef>
              <a:buChar char="•"/>
              <a:tabLst>
                <a:tab pos="132080" algn="l"/>
              </a:tabLst>
            </a:pP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Algorithm:</a:t>
            </a:r>
            <a:r>
              <a:rPr sz="1300" b="1" spc="-1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Weighted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heuristic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scoring: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Score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(0.50×Skills)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(0.25×Exp) </a:t>
            </a:r>
            <a:r>
              <a:rPr sz="1200" spc="-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+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(0.15×Edu)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(0.10×Certifications).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Sorts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candidates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deterministically.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212725" indent="119380">
              <a:lnSpc>
                <a:spcPct val="100000"/>
              </a:lnSpc>
              <a:spcBef>
                <a:spcPts val="4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Outputs:</a:t>
            </a:r>
            <a:r>
              <a:rPr sz="1300" b="1" spc="-1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leaderboard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0–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100%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composite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scores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random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variance.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195827" y="3722513"/>
            <a:ext cx="5448300" cy="2522220"/>
            <a:chOff x="6195827" y="3722513"/>
            <a:chExt cx="5448300" cy="2522220"/>
          </a:xfrm>
        </p:grpSpPr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5827" y="3722513"/>
              <a:ext cx="5448290" cy="252221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245352" y="3749038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4945372" y="2423159"/>
                  </a:moveTo>
                  <a:lnTo>
                    <a:pt x="403867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4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7"/>
                  </a:ln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7" y="0"/>
                  </a:lnTo>
                  <a:lnTo>
                    <a:pt x="4945372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1"/>
                  </a:lnTo>
                  <a:lnTo>
                    <a:pt x="5349240" y="403867"/>
                  </a:lnTo>
                  <a:lnTo>
                    <a:pt x="5349240" y="2019291"/>
                  </a:lnTo>
                  <a:lnTo>
                    <a:pt x="5346523" y="2066391"/>
                  </a:lnTo>
                  <a:lnTo>
                    <a:pt x="5338574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5" y="2271890"/>
                  </a:lnTo>
                  <a:lnTo>
                    <a:pt x="5230950" y="2304869"/>
                  </a:lnTo>
                  <a:lnTo>
                    <a:pt x="5197971" y="2334434"/>
                  </a:lnTo>
                  <a:lnTo>
                    <a:pt x="5161881" y="2360282"/>
                  </a:lnTo>
                  <a:lnTo>
                    <a:pt x="5122983" y="2382110"/>
                  </a:lnTo>
                  <a:lnTo>
                    <a:pt x="5081580" y="2399614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2" y="24231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245352" y="3749038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0" y="403867"/>
                  </a:move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7" y="0"/>
                  </a:lnTo>
                  <a:lnTo>
                    <a:pt x="4945372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1"/>
                  </a:lnTo>
                  <a:lnTo>
                    <a:pt x="5349240" y="403867"/>
                  </a:lnTo>
                  <a:lnTo>
                    <a:pt x="5349240" y="2019291"/>
                  </a:lnTo>
                  <a:lnTo>
                    <a:pt x="5346523" y="2066391"/>
                  </a:lnTo>
                  <a:lnTo>
                    <a:pt x="5338574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5" y="2271890"/>
                  </a:lnTo>
                  <a:lnTo>
                    <a:pt x="5230950" y="2304869"/>
                  </a:lnTo>
                  <a:lnTo>
                    <a:pt x="5197971" y="2334434"/>
                  </a:lnTo>
                  <a:lnTo>
                    <a:pt x="5161881" y="2360282"/>
                  </a:lnTo>
                  <a:lnTo>
                    <a:pt x="5122983" y="2382110"/>
                  </a:lnTo>
                  <a:lnTo>
                    <a:pt x="5081580" y="2399614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2" y="2423159"/>
                  </a:lnTo>
                  <a:lnTo>
                    <a:pt x="403867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4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7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/>
          <p:cNvGrpSpPr/>
          <p:nvPr/>
        </p:nvGrpSpPr>
        <p:grpSpPr>
          <a:xfrm>
            <a:off x="6200589" y="3727276"/>
            <a:ext cx="5438775" cy="528955"/>
            <a:chOff x="6200589" y="3727276"/>
            <a:chExt cx="5438775" cy="528955"/>
          </a:xfrm>
        </p:grpSpPr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00589" y="3727276"/>
              <a:ext cx="5438765" cy="52843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245352" y="3749038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5276086" y="438912"/>
                  </a:moveTo>
                  <a:lnTo>
                    <a:pt x="73153" y="438912"/>
                  </a:lnTo>
                  <a:lnTo>
                    <a:pt x="44678" y="433163"/>
                  </a:lnTo>
                  <a:lnTo>
                    <a:pt x="21426" y="417486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6"/>
                  </a:lnTo>
                  <a:lnTo>
                    <a:pt x="5304561" y="433163"/>
                  </a:lnTo>
                  <a:lnTo>
                    <a:pt x="5276086" y="438912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245352" y="3749038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6"/>
                  </a:lnTo>
                  <a:lnTo>
                    <a:pt x="5304561" y="433163"/>
                  </a:lnTo>
                  <a:lnTo>
                    <a:pt x="5276086" y="438912"/>
                  </a:lnTo>
                  <a:lnTo>
                    <a:pt x="73153" y="438912"/>
                  </a:lnTo>
                  <a:lnTo>
                    <a:pt x="44678" y="433163"/>
                  </a:lnTo>
                  <a:lnTo>
                    <a:pt x="21426" y="417486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16A34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7155251" y="3846765"/>
            <a:ext cx="34836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MODULE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5: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DUAL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PORTALS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XAI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DASHBOARD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512866" y="4670487"/>
            <a:ext cx="4738370" cy="127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5920" indent="119380">
              <a:lnSpc>
                <a:spcPct val="100000"/>
              </a:lnSpc>
              <a:spcBef>
                <a:spcPts val="1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Purpose:</a:t>
            </a:r>
            <a:r>
              <a:rPr sz="1300" b="1" spc="-1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Provides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interactive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web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interfaces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Candidates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HR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Recruiters.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502920" indent="119380">
              <a:lnSpc>
                <a:spcPct val="100000"/>
              </a:lnSpc>
              <a:spcBef>
                <a:spcPts val="400"/>
              </a:spcBef>
              <a:buChar char="•"/>
              <a:tabLst>
                <a:tab pos="132080" algn="l"/>
              </a:tabLst>
            </a:pP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Algorithm:</a:t>
            </a:r>
            <a:r>
              <a:rPr sz="1300" b="1" spc="-1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Role-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based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route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protection,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real-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time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match</a:t>
            </a:r>
            <a:r>
              <a:rPr sz="12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preview calculation,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interactive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modal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rendering.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 marR="5080" indent="119380">
              <a:lnSpc>
                <a:spcPct val="100000"/>
              </a:lnSpc>
              <a:spcBef>
                <a:spcPts val="4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Outputs:</a:t>
            </a:r>
            <a:r>
              <a:rPr sz="1300" b="1" spc="-1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Production-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grade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Portal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(Port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5173)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HR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Dashboard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(Port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5174)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granular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audit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logs.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Preliminary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dirty="0"/>
              <a:t>Expected</a:t>
            </a:r>
            <a:r>
              <a:rPr spc="-70" dirty="0"/>
              <a:t> </a:t>
            </a:r>
            <a:r>
              <a:rPr spc="-10" dirty="0"/>
              <a:t>Results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468165" y="155447"/>
            <a:ext cx="205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13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835" y="1207915"/>
            <a:ext cx="5448300" cy="4030979"/>
            <a:chOff x="544835" y="1207915"/>
            <a:chExt cx="5448300" cy="4030979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1207915"/>
              <a:ext cx="5448290" cy="40309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234439"/>
              <a:ext cx="5349240" cy="3931920"/>
            </a:xfrm>
            <a:custGeom>
              <a:avLst/>
              <a:gdLst/>
              <a:ahLst/>
              <a:cxnLst/>
              <a:rect l="l" t="t" r="r" b="b"/>
              <a:pathLst>
                <a:path w="5349240" h="3931920">
                  <a:moveTo>
                    <a:pt x="4693906" y="3931919"/>
                  </a:moveTo>
                  <a:lnTo>
                    <a:pt x="655333" y="3931919"/>
                  </a:lnTo>
                  <a:lnTo>
                    <a:pt x="606424" y="3930122"/>
                  </a:lnTo>
                  <a:lnTo>
                    <a:pt x="558492" y="3924814"/>
                  </a:lnTo>
                  <a:lnTo>
                    <a:pt x="511663" y="3916122"/>
                  </a:lnTo>
                  <a:lnTo>
                    <a:pt x="466064" y="3904173"/>
                  </a:lnTo>
                  <a:lnTo>
                    <a:pt x="421821" y="3889094"/>
                  </a:lnTo>
                  <a:lnTo>
                    <a:pt x="379061" y="3871011"/>
                  </a:lnTo>
                  <a:lnTo>
                    <a:pt x="337911" y="3850051"/>
                  </a:lnTo>
                  <a:lnTo>
                    <a:pt x="298497" y="3826341"/>
                  </a:lnTo>
                  <a:lnTo>
                    <a:pt x="260946" y="3800008"/>
                  </a:lnTo>
                  <a:lnTo>
                    <a:pt x="225386" y="3771177"/>
                  </a:lnTo>
                  <a:lnTo>
                    <a:pt x="191942" y="3739977"/>
                  </a:lnTo>
                  <a:lnTo>
                    <a:pt x="160742" y="3706533"/>
                  </a:lnTo>
                  <a:lnTo>
                    <a:pt x="131911" y="3670973"/>
                  </a:lnTo>
                  <a:lnTo>
                    <a:pt x="105578" y="3633422"/>
                  </a:lnTo>
                  <a:lnTo>
                    <a:pt x="81868" y="3594009"/>
                  </a:lnTo>
                  <a:lnTo>
                    <a:pt x="60908" y="3552858"/>
                  </a:lnTo>
                  <a:lnTo>
                    <a:pt x="42825" y="3510098"/>
                  </a:lnTo>
                  <a:lnTo>
                    <a:pt x="27746" y="3465855"/>
                  </a:lnTo>
                  <a:lnTo>
                    <a:pt x="15797" y="3420256"/>
                  </a:lnTo>
                  <a:lnTo>
                    <a:pt x="7105" y="3373427"/>
                  </a:lnTo>
                  <a:lnTo>
                    <a:pt x="1797" y="3325495"/>
                  </a:lnTo>
                  <a:lnTo>
                    <a:pt x="0" y="3276586"/>
                  </a:lnTo>
                  <a:lnTo>
                    <a:pt x="0" y="655332"/>
                  </a:lnTo>
                  <a:lnTo>
                    <a:pt x="1797" y="606424"/>
                  </a:lnTo>
                  <a:lnTo>
                    <a:pt x="7105" y="558492"/>
                  </a:lnTo>
                  <a:lnTo>
                    <a:pt x="15797" y="511663"/>
                  </a:lnTo>
                  <a:lnTo>
                    <a:pt x="27746" y="466064"/>
                  </a:lnTo>
                  <a:lnTo>
                    <a:pt x="42825" y="421821"/>
                  </a:lnTo>
                  <a:lnTo>
                    <a:pt x="60908" y="379061"/>
                  </a:lnTo>
                  <a:lnTo>
                    <a:pt x="81868" y="337910"/>
                  </a:lnTo>
                  <a:lnTo>
                    <a:pt x="105578" y="298497"/>
                  </a:lnTo>
                  <a:lnTo>
                    <a:pt x="131911" y="260946"/>
                  </a:lnTo>
                  <a:lnTo>
                    <a:pt x="160742" y="225386"/>
                  </a:lnTo>
                  <a:lnTo>
                    <a:pt x="191942" y="191942"/>
                  </a:lnTo>
                  <a:lnTo>
                    <a:pt x="225386" y="160742"/>
                  </a:lnTo>
                  <a:lnTo>
                    <a:pt x="260946" y="131911"/>
                  </a:lnTo>
                  <a:lnTo>
                    <a:pt x="298497" y="105578"/>
                  </a:lnTo>
                  <a:lnTo>
                    <a:pt x="337911" y="81868"/>
                  </a:lnTo>
                  <a:lnTo>
                    <a:pt x="379061" y="60908"/>
                  </a:lnTo>
                  <a:lnTo>
                    <a:pt x="421821" y="42825"/>
                  </a:lnTo>
                  <a:lnTo>
                    <a:pt x="466064" y="27746"/>
                  </a:lnTo>
                  <a:lnTo>
                    <a:pt x="511663" y="15797"/>
                  </a:lnTo>
                  <a:lnTo>
                    <a:pt x="558492" y="7105"/>
                  </a:lnTo>
                  <a:lnTo>
                    <a:pt x="606424" y="1797"/>
                  </a:lnTo>
                  <a:lnTo>
                    <a:pt x="655333" y="0"/>
                  </a:lnTo>
                  <a:lnTo>
                    <a:pt x="4693906" y="0"/>
                  </a:lnTo>
                  <a:lnTo>
                    <a:pt x="4745798" y="2056"/>
                  </a:lnTo>
                  <a:lnTo>
                    <a:pt x="4797042" y="8163"/>
                  </a:lnTo>
                  <a:lnTo>
                    <a:pt x="4847419" y="18231"/>
                  </a:lnTo>
                  <a:lnTo>
                    <a:pt x="4896709" y="32168"/>
                  </a:lnTo>
                  <a:lnTo>
                    <a:pt x="4944691" y="49884"/>
                  </a:lnTo>
                  <a:lnTo>
                    <a:pt x="4991147" y="71286"/>
                  </a:lnTo>
                  <a:lnTo>
                    <a:pt x="5035855" y="96284"/>
                  </a:lnTo>
                  <a:lnTo>
                    <a:pt x="5078596" y="124787"/>
                  </a:lnTo>
                  <a:lnTo>
                    <a:pt x="5119150" y="156703"/>
                  </a:lnTo>
                  <a:lnTo>
                    <a:pt x="5157297" y="191942"/>
                  </a:lnTo>
                  <a:lnTo>
                    <a:pt x="5192536" y="230089"/>
                  </a:lnTo>
                  <a:lnTo>
                    <a:pt x="5224452" y="270643"/>
                  </a:lnTo>
                  <a:lnTo>
                    <a:pt x="5252955" y="313384"/>
                  </a:lnTo>
                  <a:lnTo>
                    <a:pt x="5277953" y="358092"/>
                  </a:lnTo>
                  <a:lnTo>
                    <a:pt x="5299355" y="404547"/>
                  </a:lnTo>
                  <a:lnTo>
                    <a:pt x="5317071" y="452530"/>
                  </a:lnTo>
                  <a:lnTo>
                    <a:pt x="5331008" y="501820"/>
                  </a:lnTo>
                  <a:lnTo>
                    <a:pt x="5341076" y="552197"/>
                  </a:lnTo>
                  <a:lnTo>
                    <a:pt x="5347183" y="603441"/>
                  </a:lnTo>
                  <a:lnTo>
                    <a:pt x="5349239" y="655332"/>
                  </a:lnTo>
                  <a:lnTo>
                    <a:pt x="5349239" y="3276586"/>
                  </a:lnTo>
                  <a:lnTo>
                    <a:pt x="5347442" y="3325495"/>
                  </a:lnTo>
                  <a:lnTo>
                    <a:pt x="5342134" y="3373427"/>
                  </a:lnTo>
                  <a:lnTo>
                    <a:pt x="5333442" y="3420256"/>
                  </a:lnTo>
                  <a:lnTo>
                    <a:pt x="5321493" y="3465855"/>
                  </a:lnTo>
                  <a:lnTo>
                    <a:pt x="5306414" y="3510098"/>
                  </a:lnTo>
                  <a:lnTo>
                    <a:pt x="5288331" y="3552858"/>
                  </a:lnTo>
                  <a:lnTo>
                    <a:pt x="5267371" y="3594009"/>
                  </a:lnTo>
                  <a:lnTo>
                    <a:pt x="5243661" y="3633422"/>
                  </a:lnTo>
                  <a:lnTo>
                    <a:pt x="5217328" y="3670973"/>
                  </a:lnTo>
                  <a:lnTo>
                    <a:pt x="5188497" y="3706533"/>
                  </a:lnTo>
                  <a:lnTo>
                    <a:pt x="5157297" y="3739977"/>
                  </a:lnTo>
                  <a:lnTo>
                    <a:pt x="5123853" y="3771177"/>
                  </a:lnTo>
                  <a:lnTo>
                    <a:pt x="5088292" y="3800008"/>
                  </a:lnTo>
                  <a:lnTo>
                    <a:pt x="5050742" y="3826341"/>
                  </a:lnTo>
                  <a:lnTo>
                    <a:pt x="5011328" y="3850051"/>
                  </a:lnTo>
                  <a:lnTo>
                    <a:pt x="4970178" y="3871011"/>
                  </a:lnTo>
                  <a:lnTo>
                    <a:pt x="4927418" y="3889094"/>
                  </a:lnTo>
                  <a:lnTo>
                    <a:pt x="4883175" y="3904173"/>
                  </a:lnTo>
                  <a:lnTo>
                    <a:pt x="4837576" y="3916122"/>
                  </a:lnTo>
                  <a:lnTo>
                    <a:pt x="4790747" y="3924814"/>
                  </a:lnTo>
                  <a:lnTo>
                    <a:pt x="4742815" y="3930122"/>
                  </a:lnTo>
                  <a:lnTo>
                    <a:pt x="4693906" y="39319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359" y="1234439"/>
              <a:ext cx="5349240" cy="3931920"/>
            </a:xfrm>
            <a:custGeom>
              <a:avLst/>
              <a:gdLst/>
              <a:ahLst/>
              <a:cxnLst/>
              <a:rect l="l" t="t" r="r" b="b"/>
              <a:pathLst>
                <a:path w="5349240" h="3931920">
                  <a:moveTo>
                    <a:pt x="0" y="655332"/>
                  </a:moveTo>
                  <a:lnTo>
                    <a:pt x="1797" y="606424"/>
                  </a:lnTo>
                  <a:lnTo>
                    <a:pt x="7105" y="558492"/>
                  </a:lnTo>
                  <a:lnTo>
                    <a:pt x="15797" y="511663"/>
                  </a:lnTo>
                  <a:lnTo>
                    <a:pt x="27746" y="466064"/>
                  </a:lnTo>
                  <a:lnTo>
                    <a:pt x="42825" y="421821"/>
                  </a:lnTo>
                  <a:lnTo>
                    <a:pt x="60908" y="379061"/>
                  </a:lnTo>
                  <a:lnTo>
                    <a:pt x="81868" y="337910"/>
                  </a:lnTo>
                  <a:lnTo>
                    <a:pt x="105578" y="298497"/>
                  </a:lnTo>
                  <a:lnTo>
                    <a:pt x="131911" y="260946"/>
                  </a:lnTo>
                  <a:lnTo>
                    <a:pt x="160742" y="225386"/>
                  </a:lnTo>
                  <a:lnTo>
                    <a:pt x="191942" y="191942"/>
                  </a:lnTo>
                  <a:lnTo>
                    <a:pt x="225386" y="160742"/>
                  </a:lnTo>
                  <a:lnTo>
                    <a:pt x="260946" y="131911"/>
                  </a:lnTo>
                  <a:lnTo>
                    <a:pt x="298497" y="105578"/>
                  </a:lnTo>
                  <a:lnTo>
                    <a:pt x="337911" y="81868"/>
                  </a:lnTo>
                  <a:lnTo>
                    <a:pt x="379061" y="60908"/>
                  </a:lnTo>
                  <a:lnTo>
                    <a:pt x="421821" y="42825"/>
                  </a:lnTo>
                  <a:lnTo>
                    <a:pt x="466064" y="27746"/>
                  </a:lnTo>
                  <a:lnTo>
                    <a:pt x="511663" y="15797"/>
                  </a:lnTo>
                  <a:lnTo>
                    <a:pt x="558492" y="7105"/>
                  </a:lnTo>
                  <a:lnTo>
                    <a:pt x="606424" y="1797"/>
                  </a:lnTo>
                  <a:lnTo>
                    <a:pt x="655333" y="0"/>
                  </a:lnTo>
                  <a:lnTo>
                    <a:pt x="4693906" y="0"/>
                  </a:lnTo>
                  <a:lnTo>
                    <a:pt x="4745798" y="2056"/>
                  </a:lnTo>
                  <a:lnTo>
                    <a:pt x="4797042" y="8163"/>
                  </a:lnTo>
                  <a:lnTo>
                    <a:pt x="4847419" y="18231"/>
                  </a:lnTo>
                  <a:lnTo>
                    <a:pt x="4896709" y="32168"/>
                  </a:lnTo>
                  <a:lnTo>
                    <a:pt x="4944691" y="49884"/>
                  </a:lnTo>
                  <a:lnTo>
                    <a:pt x="4991147" y="71286"/>
                  </a:lnTo>
                  <a:lnTo>
                    <a:pt x="5035855" y="96284"/>
                  </a:lnTo>
                  <a:lnTo>
                    <a:pt x="5078596" y="124787"/>
                  </a:lnTo>
                  <a:lnTo>
                    <a:pt x="5119150" y="156703"/>
                  </a:lnTo>
                  <a:lnTo>
                    <a:pt x="5157297" y="191942"/>
                  </a:lnTo>
                  <a:lnTo>
                    <a:pt x="5192536" y="230089"/>
                  </a:lnTo>
                  <a:lnTo>
                    <a:pt x="5224452" y="270643"/>
                  </a:lnTo>
                  <a:lnTo>
                    <a:pt x="5252955" y="313384"/>
                  </a:lnTo>
                  <a:lnTo>
                    <a:pt x="5277953" y="358092"/>
                  </a:lnTo>
                  <a:lnTo>
                    <a:pt x="5299355" y="404547"/>
                  </a:lnTo>
                  <a:lnTo>
                    <a:pt x="5317071" y="452530"/>
                  </a:lnTo>
                  <a:lnTo>
                    <a:pt x="5331008" y="501820"/>
                  </a:lnTo>
                  <a:lnTo>
                    <a:pt x="5341076" y="552197"/>
                  </a:lnTo>
                  <a:lnTo>
                    <a:pt x="5347183" y="603441"/>
                  </a:lnTo>
                  <a:lnTo>
                    <a:pt x="5349239" y="655332"/>
                  </a:lnTo>
                  <a:lnTo>
                    <a:pt x="5349239" y="3276586"/>
                  </a:lnTo>
                  <a:lnTo>
                    <a:pt x="5347442" y="3325495"/>
                  </a:lnTo>
                  <a:lnTo>
                    <a:pt x="5342134" y="3373427"/>
                  </a:lnTo>
                  <a:lnTo>
                    <a:pt x="5333442" y="3420256"/>
                  </a:lnTo>
                  <a:lnTo>
                    <a:pt x="5321493" y="3465855"/>
                  </a:lnTo>
                  <a:lnTo>
                    <a:pt x="5306414" y="3510098"/>
                  </a:lnTo>
                  <a:lnTo>
                    <a:pt x="5288331" y="3552858"/>
                  </a:lnTo>
                  <a:lnTo>
                    <a:pt x="5267371" y="3594009"/>
                  </a:lnTo>
                  <a:lnTo>
                    <a:pt x="5243661" y="3633422"/>
                  </a:lnTo>
                  <a:lnTo>
                    <a:pt x="5217328" y="3670973"/>
                  </a:lnTo>
                  <a:lnTo>
                    <a:pt x="5188497" y="3706533"/>
                  </a:lnTo>
                  <a:lnTo>
                    <a:pt x="5157297" y="3739977"/>
                  </a:lnTo>
                  <a:lnTo>
                    <a:pt x="5123853" y="3771177"/>
                  </a:lnTo>
                  <a:lnTo>
                    <a:pt x="5088292" y="3800008"/>
                  </a:lnTo>
                  <a:lnTo>
                    <a:pt x="5050742" y="3826341"/>
                  </a:lnTo>
                  <a:lnTo>
                    <a:pt x="5011328" y="3850051"/>
                  </a:lnTo>
                  <a:lnTo>
                    <a:pt x="4970178" y="3871011"/>
                  </a:lnTo>
                  <a:lnTo>
                    <a:pt x="4927418" y="3889094"/>
                  </a:lnTo>
                  <a:lnTo>
                    <a:pt x="4883175" y="3904173"/>
                  </a:lnTo>
                  <a:lnTo>
                    <a:pt x="4837576" y="3916122"/>
                  </a:lnTo>
                  <a:lnTo>
                    <a:pt x="4790747" y="3924814"/>
                  </a:lnTo>
                  <a:lnTo>
                    <a:pt x="4742815" y="3930122"/>
                  </a:lnTo>
                  <a:lnTo>
                    <a:pt x="4693906" y="3931919"/>
                  </a:lnTo>
                  <a:lnTo>
                    <a:pt x="655333" y="3931919"/>
                  </a:lnTo>
                  <a:lnTo>
                    <a:pt x="606424" y="3930122"/>
                  </a:lnTo>
                  <a:lnTo>
                    <a:pt x="558492" y="3924814"/>
                  </a:lnTo>
                  <a:lnTo>
                    <a:pt x="511663" y="3916122"/>
                  </a:lnTo>
                  <a:lnTo>
                    <a:pt x="466064" y="3904173"/>
                  </a:lnTo>
                  <a:lnTo>
                    <a:pt x="421821" y="3889094"/>
                  </a:lnTo>
                  <a:lnTo>
                    <a:pt x="379061" y="3871011"/>
                  </a:lnTo>
                  <a:lnTo>
                    <a:pt x="337911" y="3850051"/>
                  </a:lnTo>
                  <a:lnTo>
                    <a:pt x="298497" y="3826341"/>
                  </a:lnTo>
                  <a:lnTo>
                    <a:pt x="260946" y="3800008"/>
                  </a:lnTo>
                  <a:lnTo>
                    <a:pt x="225386" y="3771177"/>
                  </a:lnTo>
                  <a:lnTo>
                    <a:pt x="191942" y="3739977"/>
                  </a:lnTo>
                  <a:lnTo>
                    <a:pt x="160742" y="3706533"/>
                  </a:lnTo>
                  <a:lnTo>
                    <a:pt x="131911" y="3670973"/>
                  </a:lnTo>
                  <a:lnTo>
                    <a:pt x="105578" y="3633422"/>
                  </a:lnTo>
                  <a:lnTo>
                    <a:pt x="81868" y="3594009"/>
                  </a:lnTo>
                  <a:lnTo>
                    <a:pt x="60908" y="3552858"/>
                  </a:lnTo>
                  <a:lnTo>
                    <a:pt x="42825" y="3510098"/>
                  </a:lnTo>
                  <a:lnTo>
                    <a:pt x="27746" y="3465855"/>
                  </a:lnTo>
                  <a:lnTo>
                    <a:pt x="15797" y="3420256"/>
                  </a:lnTo>
                  <a:lnTo>
                    <a:pt x="7105" y="3373427"/>
                  </a:lnTo>
                  <a:lnTo>
                    <a:pt x="1797" y="3325495"/>
                  </a:lnTo>
                  <a:lnTo>
                    <a:pt x="0" y="3276586"/>
                  </a:lnTo>
                  <a:lnTo>
                    <a:pt x="0" y="655332"/>
                  </a:lnTo>
                  <a:close/>
                </a:path>
              </a:pathLst>
            </a:custGeom>
            <a:ln w="19049">
              <a:solidFill>
                <a:srgbClr val="1E39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549597" y="1212677"/>
            <a:ext cx="5438775" cy="528955"/>
            <a:chOff x="549597" y="1212677"/>
            <a:chExt cx="5438775" cy="52895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7" y="1212677"/>
              <a:ext cx="5438765" cy="5284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59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4359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7497" y="1357807"/>
              <a:ext cx="221258" cy="20824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886238" y="1332166"/>
            <a:ext cx="29889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MULTI-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CRITERIA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SCORING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BREAKDOWN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4575" y="2261635"/>
            <a:ext cx="4248785" cy="248539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319405">
              <a:lnSpc>
                <a:spcPct val="100000"/>
              </a:lnSpc>
              <a:spcBef>
                <a:spcPts val="965"/>
              </a:spcBef>
            </a:pP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Score</a:t>
            </a:r>
            <a:r>
              <a:rPr sz="1400" b="1" spc="-4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(0.50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×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S)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14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(0.25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×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E)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(0.15</a:t>
            </a:r>
            <a:r>
              <a:rPr sz="14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×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Ed)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(0.10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×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C)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32080" indent="-119380">
              <a:lnSpc>
                <a:spcPct val="100000"/>
              </a:lnSpc>
              <a:spcBef>
                <a:spcPts val="805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Technical</a:t>
            </a:r>
            <a:r>
              <a:rPr sz="13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Skills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(50%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Weight)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4/4</a:t>
            </a:r>
            <a:r>
              <a:rPr sz="1200" b="1" spc="-6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Mandatory</a:t>
            </a:r>
            <a:r>
              <a:rPr sz="1200" b="1" spc="-3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Skills</a:t>
            </a:r>
            <a:r>
              <a:rPr sz="1200" b="1" spc="-3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Matched</a:t>
            </a:r>
            <a:r>
              <a:rPr sz="1200" b="1" spc="-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6A34A"/>
                </a:solidFill>
                <a:latin typeface="SimSun-ExtB" panose="02010609060101010101" charset="-122"/>
                <a:cs typeface="SimSun-ExtB" panose="02010609060101010101" charset="-122"/>
              </a:rPr>
              <a:t>➔</a:t>
            </a:r>
            <a:r>
              <a:rPr sz="1200" spc="-295" dirty="0">
                <a:solidFill>
                  <a:srgbClr val="16A34A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50.0</a:t>
            </a:r>
            <a:r>
              <a:rPr sz="1200" b="1" spc="-3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1200" b="1" spc="-3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50</a:t>
            </a:r>
            <a:r>
              <a:rPr sz="1200" b="1" spc="-3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pts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32080" indent="-119380">
              <a:lnSpc>
                <a:spcPct val="100000"/>
              </a:lnSpc>
              <a:spcBef>
                <a:spcPts val="5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Experience</a:t>
            </a:r>
            <a:r>
              <a:rPr sz="13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Ratio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(25%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Weight)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5.0</a:t>
            </a:r>
            <a:r>
              <a:rPr sz="1200" b="1" spc="-4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yrs</a:t>
            </a:r>
            <a:r>
              <a:rPr sz="12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vs</a:t>
            </a:r>
            <a:r>
              <a:rPr sz="12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3.0</a:t>
            </a:r>
            <a:r>
              <a:rPr sz="1200" b="1" spc="-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yrs</a:t>
            </a:r>
            <a:r>
              <a:rPr sz="12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required</a:t>
            </a:r>
            <a:r>
              <a:rPr sz="12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(+2.0</a:t>
            </a:r>
            <a:r>
              <a:rPr sz="12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yrs</a:t>
            </a:r>
            <a:r>
              <a:rPr sz="12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extra)</a:t>
            </a:r>
            <a:r>
              <a:rPr sz="1200" b="1" spc="1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6A34A"/>
                </a:solidFill>
                <a:latin typeface="SimSun-ExtB" panose="02010609060101010101" charset="-122"/>
                <a:cs typeface="SimSun-ExtB" panose="02010609060101010101" charset="-122"/>
              </a:rPr>
              <a:t>➔</a:t>
            </a:r>
            <a:r>
              <a:rPr sz="1200" spc="-295" dirty="0">
                <a:solidFill>
                  <a:srgbClr val="16A34A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25.0</a:t>
            </a:r>
            <a:r>
              <a:rPr sz="12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12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25</a:t>
            </a:r>
            <a:r>
              <a:rPr sz="12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pts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32080" indent="-119380">
              <a:lnSpc>
                <a:spcPct val="100000"/>
              </a:lnSpc>
              <a:spcBef>
                <a:spcPts val="5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Education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Level</a:t>
            </a: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(15%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Weight)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B.Tech</a:t>
            </a:r>
            <a:r>
              <a:rPr sz="1200" b="1" spc="-5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CSE</a:t>
            </a:r>
            <a:r>
              <a:rPr sz="1200" b="1" spc="-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satisfies</a:t>
            </a:r>
            <a:r>
              <a:rPr sz="1200" b="1" spc="-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Degree</a:t>
            </a:r>
            <a:r>
              <a:rPr sz="1200" b="1" spc="-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Constraint</a:t>
            </a:r>
            <a:r>
              <a:rPr sz="1200" b="1" spc="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16A34A"/>
                </a:solidFill>
                <a:latin typeface="SimSun-ExtB" panose="02010609060101010101" charset="-122"/>
                <a:cs typeface="SimSun-ExtB" panose="02010609060101010101" charset="-122"/>
              </a:rPr>
              <a:t>➔</a:t>
            </a:r>
            <a:r>
              <a:rPr sz="1200" spc="-295" dirty="0">
                <a:solidFill>
                  <a:srgbClr val="16A34A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15.0</a:t>
            </a:r>
            <a:r>
              <a:rPr sz="1200" b="1" spc="-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1200" b="1" spc="-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15</a:t>
            </a:r>
            <a:r>
              <a:rPr sz="1200" b="1" spc="-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pts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32080" indent="-119380">
              <a:lnSpc>
                <a:spcPct val="100000"/>
              </a:lnSpc>
              <a:spcBef>
                <a:spcPts val="500"/>
              </a:spcBef>
              <a:buChar char="•"/>
              <a:tabLst>
                <a:tab pos="132080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Certifications</a:t>
            </a: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(10%</a:t>
            </a:r>
            <a:r>
              <a:rPr sz="130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Weight)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AWS</a:t>
            </a:r>
            <a:r>
              <a:rPr sz="1200" b="1" spc="-4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Solutions</a:t>
            </a:r>
            <a:r>
              <a:rPr sz="1200" b="1" spc="-2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Architect</a:t>
            </a:r>
            <a:r>
              <a:rPr sz="1200" b="1" spc="-1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matched </a:t>
            </a:r>
            <a:r>
              <a:rPr sz="1200" dirty="0">
                <a:solidFill>
                  <a:srgbClr val="0284C7"/>
                </a:solidFill>
                <a:latin typeface="SimSun-ExtB" panose="02010609060101010101" charset="-122"/>
                <a:cs typeface="SimSun-ExtB" panose="02010609060101010101" charset="-122"/>
              </a:rPr>
              <a:t>➔</a:t>
            </a:r>
            <a:r>
              <a:rPr sz="1200" spc="-295" dirty="0">
                <a:solidFill>
                  <a:srgbClr val="0284C7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12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7.5</a:t>
            </a:r>
            <a:r>
              <a:rPr sz="1200" b="1" spc="-2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/</a:t>
            </a:r>
            <a:r>
              <a:rPr sz="1200" b="1" spc="-1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10</a:t>
            </a:r>
            <a:r>
              <a:rPr sz="1200" b="1" spc="-2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pts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7985">
              <a:lnSpc>
                <a:spcPct val="100000"/>
              </a:lnSpc>
              <a:spcBef>
                <a:spcPts val="495"/>
              </a:spcBef>
            </a:pPr>
            <a:r>
              <a:rPr sz="1350" dirty="0">
                <a:solidFill>
                  <a:srgbClr val="0F2547"/>
                </a:solidFill>
                <a:latin typeface="SimSun-ExtB" panose="02010609060101010101" charset="-122"/>
                <a:cs typeface="SimSun-ExtB" panose="02010609060101010101" charset="-122"/>
              </a:rPr>
              <a:t>★</a:t>
            </a:r>
            <a:r>
              <a:rPr sz="1350" spc="-330" dirty="0">
                <a:solidFill>
                  <a:srgbClr val="0F2547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FINAL</a:t>
            </a:r>
            <a:r>
              <a:rPr sz="1350" b="1" spc="-5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COMPOSITE</a:t>
            </a:r>
            <a:r>
              <a:rPr sz="135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SCORE:</a:t>
            </a:r>
            <a:r>
              <a:rPr sz="13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87.5%</a:t>
            </a:r>
            <a:r>
              <a:rPr sz="1350" b="1" spc="25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350" b="1" spc="25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RANK</a:t>
            </a:r>
            <a:r>
              <a:rPr sz="135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#1</a:t>
            </a:r>
            <a:r>
              <a:rPr sz="135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3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12</a:t>
            </a:r>
            <a:endParaRPr sz="13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95827" y="1207915"/>
            <a:ext cx="5448300" cy="4030979"/>
            <a:chOff x="6195827" y="1207915"/>
            <a:chExt cx="5448300" cy="4030979"/>
          </a:xfrm>
        </p:grpSpPr>
        <p:pic>
          <p:nvPicPr>
            <p:cNvPr id="16" name="object 1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95827" y="1207915"/>
              <a:ext cx="5448290" cy="403097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45352" y="1234439"/>
              <a:ext cx="5349240" cy="3931920"/>
            </a:xfrm>
            <a:custGeom>
              <a:avLst/>
              <a:gdLst/>
              <a:ahLst/>
              <a:cxnLst/>
              <a:rect l="l" t="t" r="r" b="b"/>
              <a:pathLst>
                <a:path w="5349240" h="3931920">
                  <a:moveTo>
                    <a:pt x="4693906" y="3931919"/>
                  </a:moveTo>
                  <a:lnTo>
                    <a:pt x="655332" y="3931919"/>
                  </a:lnTo>
                  <a:lnTo>
                    <a:pt x="606424" y="3930122"/>
                  </a:lnTo>
                  <a:lnTo>
                    <a:pt x="558492" y="3924814"/>
                  </a:lnTo>
                  <a:lnTo>
                    <a:pt x="511663" y="3916122"/>
                  </a:lnTo>
                  <a:lnTo>
                    <a:pt x="466064" y="3904173"/>
                  </a:lnTo>
                  <a:lnTo>
                    <a:pt x="421821" y="3889094"/>
                  </a:lnTo>
                  <a:lnTo>
                    <a:pt x="379061" y="3871011"/>
                  </a:lnTo>
                  <a:lnTo>
                    <a:pt x="337911" y="3850051"/>
                  </a:lnTo>
                  <a:lnTo>
                    <a:pt x="298497" y="3826341"/>
                  </a:lnTo>
                  <a:lnTo>
                    <a:pt x="260946" y="3800008"/>
                  </a:lnTo>
                  <a:lnTo>
                    <a:pt x="225386" y="3771177"/>
                  </a:lnTo>
                  <a:lnTo>
                    <a:pt x="191942" y="3739977"/>
                  </a:lnTo>
                  <a:lnTo>
                    <a:pt x="160742" y="3706533"/>
                  </a:lnTo>
                  <a:lnTo>
                    <a:pt x="131911" y="3670973"/>
                  </a:lnTo>
                  <a:lnTo>
                    <a:pt x="105578" y="3633422"/>
                  </a:lnTo>
                  <a:lnTo>
                    <a:pt x="81868" y="3594009"/>
                  </a:lnTo>
                  <a:lnTo>
                    <a:pt x="60908" y="3552858"/>
                  </a:lnTo>
                  <a:lnTo>
                    <a:pt x="42825" y="3510098"/>
                  </a:lnTo>
                  <a:lnTo>
                    <a:pt x="27746" y="3465855"/>
                  </a:lnTo>
                  <a:lnTo>
                    <a:pt x="15797" y="3420256"/>
                  </a:lnTo>
                  <a:lnTo>
                    <a:pt x="7105" y="3373427"/>
                  </a:lnTo>
                  <a:lnTo>
                    <a:pt x="1797" y="3325495"/>
                  </a:lnTo>
                  <a:lnTo>
                    <a:pt x="0" y="3276586"/>
                  </a:lnTo>
                  <a:lnTo>
                    <a:pt x="0" y="655332"/>
                  </a:lnTo>
                  <a:lnTo>
                    <a:pt x="1797" y="606424"/>
                  </a:lnTo>
                  <a:lnTo>
                    <a:pt x="7105" y="558492"/>
                  </a:lnTo>
                  <a:lnTo>
                    <a:pt x="15797" y="511663"/>
                  </a:lnTo>
                  <a:lnTo>
                    <a:pt x="27746" y="466064"/>
                  </a:lnTo>
                  <a:lnTo>
                    <a:pt x="42825" y="421821"/>
                  </a:lnTo>
                  <a:lnTo>
                    <a:pt x="60908" y="379061"/>
                  </a:lnTo>
                  <a:lnTo>
                    <a:pt x="81868" y="337910"/>
                  </a:lnTo>
                  <a:lnTo>
                    <a:pt x="105578" y="298497"/>
                  </a:lnTo>
                  <a:lnTo>
                    <a:pt x="131911" y="260946"/>
                  </a:lnTo>
                  <a:lnTo>
                    <a:pt x="160742" y="225386"/>
                  </a:lnTo>
                  <a:lnTo>
                    <a:pt x="191942" y="191942"/>
                  </a:lnTo>
                  <a:lnTo>
                    <a:pt x="225386" y="160742"/>
                  </a:lnTo>
                  <a:lnTo>
                    <a:pt x="260946" y="131911"/>
                  </a:lnTo>
                  <a:lnTo>
                    <a:pt x="298497" y="105578"/>
                  </a:lnTo>
                  <a:lnTo>
                    <a:pt x="337911" y="81868"/>
                  </a:lnTo>
                  <a:lnTo>
                    <a:pt x="379061" y="60908"/>
                  </a:lnTo>
                  <a:lnTo>
                    <a:pt x="421821" y="42825"/>
                  </a:lnTo>
                  <a:lnTo>
                    <a:pt x="466064" y="27746"/>
                  </a:lnTo>
                  <a:lnTo>
                    <a:pt x="511663" y="15797"/>
                  </a:lnTo>
                  <a:lnTo>
                    <a:pt x="558492" y="7105"/>
                  </a:lnTo>
                  <a:lnTo>
                    <a:pt x="606424" y="1797"/>
                  </a:lnTo>
                  <a:lnTo>
                    <a:pt x="655332" y="0"/>
                  </a:lnTo>
                  <a:lnTo>
                    <a:pt x="4693906" y="0"/>
                  </a:lnTo>
                  <a:lnTo>
                    <a:pt x="4745797" y="2056"/>
                  </a:lnTo>
                  <a:lnTo>
                    <a:pt x="4797042" y="8163"/>
                  </a:lnTo>
                  <a:lnTo>
                    <a:pt x="4847419" y="18231"/>
                  </a:lnTo>
                  <a:lnTo>
                    <a:pt x="4896709" y="32168"/>
                  </a:lnTo>
                  <a:lnTo>
                    <a:pt x="4944691" y="49884"/>
                  </a:lnTo>
                  <a:lnTo>
                    <a:pt x="4991147" y="71286"/>
                  </a:lnTo>
                  <a:lnTo>
                    <a:pt x="5035855" y="96284"/>
                  </a:lnTo>
                  <a:lnTo>
                    <a:pt x="5078596" y="124787"/>
                  </a:lnTo>
                  <a:lnTo>
                    <a:pt x="5119150" y="156703"/>
                  </a:lnTo>
                  <a:lnTo>
                    <a:pt x="5157297" y="191942"/>
                  </a:lnTo>
                  <a:lnTo>
                    <a:pt x="5192536" y="230089"/>
                  </a:lnTo>
                  <a:lnTo>
                    <a:pt x="5224452" y="270643"/>
                  </a:lnTo>
                  <a:lnTo>
                    <a:pt x="5252955" y="313384"/>
                  </a:lnTo>
                  <a:lnTo>
                    <a:pt x="5277953" y="358092"/>
                  </a:lnTo>
                  <a:lnTo>
                    <a:pt x="5299356" y="404547"/>
                  </a:lnTo>
                  <a:lnTo>
                    <a:pt x="5317071" y="452530"/>
                  </a:lnTo>
                  <a:lnTo>
                    <a:pt x="5331008" y="501820"/>
                  </a:lnTo>
                  <a:lnTo>
                    <a:pt x="5341076" y="552197"/>
                  </a:lnTo>
                  <a:lnTo>
                    <a:pt x="5347184" y="603441"/>
                  </a:lnTo>
                  <a:lnTo>
                    <a:pt x="5349240" y="655332"/>
                  </a:lnTo>
                  <a:lnTo>
                    <a:pt x="5349240" y="3276586"/>
                  </a:lnTo>
                  <a:lnTo>
                    <a:pt x="5347442" y="3325495"/>
                  </a:lnTo>
                  <a:lnTo>
                    <a:pt x="5342134" y="3373427"/>
                  </a:lnTo>
                  <a:lnTo>
                    <a:pt x="5333443" y="3420256"/>
                  </a:lnTo>
                  <a:lnTo>
                    <a:pt x="5321494" y="3465855"/>
                  </a:lnTo>
                  <a:lnTo>
                    <a:pt x="5306414" y="3510098"/>
                  </a:lnTo>
                  <a:lnTo>
                    <a:pt x="5288332" y="3552858"/>
                  </a:lnTo>
                  <a:lnTo>
                    <a:pt x="5267372" y="3594009"/>
                  </a:lnTo>
                  <a:lnTo>
                    <a:pt x="5243662" y="3633422"/>
                  </a:lnTo>
                  <a:lnTo>
                    <a:pt x="5217328" y="3670973"/>
                  </a:lnTo>
                  <a:lnTo>
                    <a:pt x="5188497" y="3706533"/>
                  </a:lnTo>
                  <a:lnTo>
                    <a:pt x="5157297" y="3739977"/>
                  </a:lnTo>
                  <a:lnTo>
                    <a:pt x="5123853" y="3771177"/>
                  </a:lnTo>
                  <a:lnTo>
                    <a:pt x="5088292" y="3800008"/>
                  </a:lnTo>
                  <a:lnTo>
                    <a:pt x="5050742" y="3826341"/>
                  </a:lnTo>
                  <a:lnTo>
                    <a:pt x="5011328" y="3850051"/>
                  </a:lnTo>
                  <a:lnTo>
                    <a:pt x="4970178" y="3871011"/>
                  </a:lnTo>
                  <a:lnTo>
                    <a:pt x="4927418" y="3889094"/>
                  </a:lnTo>
                  <a:lnTo>
                    <a:pt x="4883175" y="3904173"/>
                  </a:lnTo>
                  <a:lnTo>
                    <a:pt x="4837575" y="3916122"/>
                  </a:lnTo>
                  <a:lnTo>
                    <a:pt x="4790746" y="3924814"/>
                  </a:lnTo>
                  <a:lnTo>
                    <a:pt x="4742814" y="3930122"/>
                  </a:lnTo>
                  <a:lnTo>
                    <a:pt x="4693906" y="393191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45352" y="1234439"/>
              <a:ext cx="5349240" cy="3931920"/>
            </a:xfrm>
            <a:custGeom>
              <a:avLst/>
              <a:gdLst/>
              <a:ahLst/>
              <a:cxnLst/>
              <a:rect l="l" t="t" r="r" b="b"/>
              <a:pathLst>
                <a:path w="5349240" h="3931920">
                  <a:moveTo>
                    <a:pt x="0" y="655332"/>
                  </a:moveTo>
                  <a:lnTo>
                    <a:pt x="1797" y="606424"/>
                  </a:lnTo>
                  <a:lnTo>
                    <a:pt x="7105" y="558492"/>
                  </a:lnTo>
                  <a:lnTo>
                    <a:pt x="15797" y="511663"/>
                  </a:lnTo>
                  <a:lnTo>
                    <a:pt x="27746" y="466064"/>
                  </a:lnTo>
                  <a:lnTo>
                    <a:pt x="42825" y="421821"/>
                  </a:lnTo>
                  <a:lnTo>
                    <a:pt x="60908" y="379061"/>
                  </a:lnTo>
                  <a:lnTo>
                    <a:pt x="81868" y="337910"/>
                  </a:lnTo>
                  <a:lnTo>
                    <a:pt x="105578" y="298497"/>
                  </a:lnTo>
                  <a:lnTo>
                    <a:pt x="131911" y="260946"/>
                  </a:lnTo>
                  <a:lnTo>
                    <a:pt x="160742" y="225386"/>
                  </a:lnTo>
                  <a:lnTo>
                    <a:pt x="191942" y="191942"/>
                  </a:lnTo>
                  <a:lnTo>
                    <a:pt x="225386" y="160742"/>
                  </a:lnTo>
                  <a:lnTo>
                    <a:pt x="260946" y="131911"/>
                  </a:lnTo>
                  <a:lnTo>
                    <a:pt x="298497" y="105578"/>
                  </a:lnTo>
                  <a:lnTo>
                    <a:pt x="337911" y="81868"/>
                  </a:lnTo>
                  <a:lnTo>
                    <a:pt x="379061" y="60908"/>
                  </a:lnTo>
                  <a:lnTo>
                    <a:pt x="421821" y="42825"/>
                  </a:lnTo>
                  <a:lnTo>
                    <a:pt x="466064" y="27746"/>
                  </a:lnTo>
                  <a:lnTo>
                    <a:pt x="511663" y="15797"/>
                  </a:lnTo>
                  <a:lnTo>
                    <a:pt x="558492" y="7105"/>
                  </a:lnTo>
                  <a:lnTo>
                    <a:pt x="606424" y="1797"/>
                  </a:lnTo>
                  <a:lnTo>
                    <a:pt x="655332" y="0"/>
                  </a:lnTo>
                  <a:lnTo>
                    <a:pt x="4693906" y="0"/>
                  </a:lnTo>
                  <a:lnTo>
                    <a:pt x="4745797" y="2056"/>
                  </a:lnTo>
                  <a:lnTo>
                    <a:pt x="4797042" y="8163"/>
                  </a:lnTo>
                  <a:lnTo>
                    <a:pt x="4847419" y="18231"/>
                  </a:lnTo>
                  <a:lnTo>
                    <a:pt x="4896709" y="32168"/>
                  </a:lnTo>
                  <a:lnTo>
                    <a:pt x="4944691" y="49884"/>
                  </a:lnTo>
                  <a:lnTo>
                    <a:pt x="4991147" y="71286"/>
                  </a:lnTo>
                  <a:lnTo>
                    <a:pt x="5035855" y="96284"/>
                  </a:lnTo>
                  <a:lnTo>
                    <a:pt x="5078596" y="124787"/>
                  </a:lnTo>
                  <a:lnTo>
                    <a:pt x="5119150" y="156703"/>
                  </a:lnTo>
                  <a:lnTo>
                    <a:pt x="5157297" y="191942"/>
                  </a:lnTo>
                  <a:lnTo>
                    <a:pt x="5192536" y="230089"/>
                  </a:lnTo>
                  <a:lnTo>
                    <a:pt x="5224452" y="270643"/>
                  </a:lnTo>
                  <a:lnTo>
                    <a:pt x="5252955" y="313384"/>
                  </a:lnTo>
                  <a:lnTo>
                    <a:pt x="5277953" y="358092"/>
                  </a:lnTo>
                  <a:lnTo>
                    <a:pt x="5299356" y="404547"/>
                  </a:lnTo>
                  <a:lnTo>
                    <a:pt x="5317071" y="452530"/>
                  </a:lnTo>
                  <a:lnTo>
                    <a:pt x="5331008" y="501820"/>
                  </a:lnTo>
                  <a:lnTo>
                    <a:pt x="5341076" y="552197"/>
                  </a:lnTo>
                  <a:lnTo>
                    <a:pt x="5347184" y="603441"/>
                  </a:lnTo>
                  <a:lnTo>
                    <a:pt x="5349240" y="655332"/>
                  </a:lnTo>
                  <a:lnTo>
                    <a:pt x="5349240" y="3276586"/>
                  </a:lnTo>
                  <a:lnTo>
                    <a:pt x="5347442" y="3325495"/>
                  </a:lnTo>
                  <a:lnTo>
                    <a:pt x="5342134" y="3373427"/>
                  </a:lnTo>
                  <a:lnTo>
                    <a:pt x="5333443" y="3420256"/>
                  </a:lnTo>
                  <a:lnTo>
                    <a:pt x="5321494" y="3465855"/>
                  </a:lnTo>
                  <a:lnTo>
                    <a:pt x="5306414" y="3510098"/>
                  </a:lnTo>
                  <a:lnTo>
                    <a:pt x="5288332" y="3552858"/>
                  </a:lnTo>
                  <a:lnTo>
                    <a:pt x="5267372" y="3594009"/>
                  </a:lnTo>
                  <a:lnTo>
                    <a:pt x="5243662" y="3633422"/>
                  </a:lnTo>
                  <a:lnTo>
                    <a:pt x="5217328" y="3670973"/>
                  </a:lnTo>
                  <a:lnTo>
                    <a:pt x="5188497" y="3706533"/>
                  </a:lnTo>
                  <a:lnTo>
                    <a:pt x="5157297" y="3739977"/>
                  </a:lnTo>
                  <a:lnTo>
                    <a:pt x="5123853" y="3771177"/>
                  </a:lnTo>
                  <a:lnTo>
                    <a:pt x="5088292" y="3800008"/>
                  </a:lnTo>
                  <a:lnTo>
                    <a:pt x="5050742" y="3826341"/>
                  </a:lnTo>
                  <a:lnTo>
                    <a:pt x="5011328" y="3850051"/>
                  </a:lnTo>
                  <a:lnTo>
                    <a:pt x="4970178" y="3871011"/>
                  </a:lnTo>
                  <a:lnTo>
                    <a:pt x="4927418" y="3889094"/>
                  </a:lnTo>
                  <a:lnTo>
                    <a:pt x="4883175" y="3904173"/>
                  </a:lnTo>
                  <a:lnTo>
                    <a:pt x="4837575" y="3916122"/>
                  </a:lnTo>
                  <a:lnTo>
                    <a:pt x="4790746" y="3924814"/>
                  </a:lnTo>
                  <a:lnTo>
                    <a:pt x="4742814" y="3930122"/>
                  </a:lnTo>
                  <a:lnTo>
                    <a:pt x="4693906" y="3931919"/>
                  </a:lnTo>
                  <a:lnTo>
                    <a:pt x="655332" y="3931919"/>
                  </a:lnTo>
                  <a:lnTo>
                    <a:pt x="606424" y="3930122"/>
                  </a:lnTo>
                  <a:lnTo>
                    <a:pt x="558492" y="3924814"/>
                  </a:lnTo>
                  <a:lnTo>
                    <a:pt x="511663" y="3916122"/>
                  </a:lnTo>
                  <a:lnTo>
                    <a:pt x="466064" y="3904173"/>
                  </a:lnTo>
                  <a:lnTo>
                    <a:pt x="421821" y="3889094"/>
                  </a:lnTo>
                  <a:lnTo>
                    <a:pt x="379061" y="3871011"/>
                  </a:lnTo>
                  <a:lnTo>
                    <a:pt x="337911" y="3850051"/>
                  </a:lnTo>
                  <a:lnTo>
                    <a:pt x="298497" y="3826341"/>
                  </a:lnTo>
                  <a:lnTo>
                    <a:pt x="260946" y="3800008"/>
                  </a:lnTo>
                  <a:lnTo>
                    <a:pt x="225386" y="3771177"/>
                  </a:lnTo>
                  <a:lnTo>
                    <a:pt x="191942" y="3739977"/>
                  </a:lnTo>
                  <a:lnTo>
                    <a:pt x="160742" y="3706533"/>
                  </a:lnTo>
                  <a:lnTo>
                    <a:pt x="131911" y="3670973"/>
                  </a:lnTo>
                  <a:lnTo>
                    <a:pt x="105578" y="3633422"/>
                  </a:lnTo>
                  <a:lnTo>
                    <a:pt x="81868" y="3594009"/>
                  </a:lnTo>
                  <a:lnTo>
                    <a:pt x="60908" y="3552858"/>
                  </a:lnTo>
                  <a:lnTo>
                    <a:pt x="42825" y="3510098"/>
                  </a:lnTo>
                  <a:lnTo>
                    <a:pt x="27746" y="3465855"/>
                  </a:lnTo>
                  <a:lnTo>
                    <a:pt x="15797" y="3420256"/>
                  </a:lnTo>
                  <a:lnTo>
                    <a:pt x="7105" y="3373427"/>
                  </a:lnTo>
                  <a:lnTo>
                    <a:pt x="1797" y="3325495"/>
                  </a:lnTo>
                  <a:lnTo>
                    <a:pt x="0" y="3276586"/>
                  </a:lnTo>
                  <a:lnTo>
                    <a:pt x="0" y="655332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6200589" y="1212677"/>
            <a:ext cx="5438775" cy="528955"/>
            <a:chOff x="6200589" y="1212677"/>
            <a:chExt cx="5438775" cy="52895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0589" y="1212677"/>
              <a:ext cx="5438765" cy="52843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245352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45352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7097" y="1357807"/>
              <a:ext cx="221258" cy="208243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095838" y="1332166"/>
            <a:ext cx="38544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EXPLAINABLE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DECISION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PROOF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TRACE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(XAI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MODAL)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5568" y="1987296"/>
            <a:ext cx="4228465" cy="30435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80060">
              <a:lnSpc>
                <a:spcPct val="100000"/>
              </a:lnSpc>
              <a:spcBef>
                <a:spcPts val="900"/>
              </a:spcBef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Candidate: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John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Doe</a:t>
            </a:r>
            <a:r>
              <a:rPr sz="1300" b="1" spc="25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300" b="1" spc="25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Role: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Senior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Python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Developer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216535" indent="-203835">
              <a:lnSpc>
                <a:spcPct val="100000"/>
              </a:lnSpc>
              <a:spcBef>
                <a:spcPts val="800"/>
              </a:spcBef>
              <a:buFont typeface="SimSun-ExtB" panose="02010609060101010101" charset="-122"/>
              <a:buChar char="✓"/>
              <a:tabLst>
                <a:tab pos="216535" algn="l"/>
              </a:tabLst>
            </a:pPr>
            <a:r>
              <a:rPr sz="13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Skills</a:t>
            </a:r>
            <a:r>
              <a:rPr sz="1300" b="1" spc="-4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Matched</a:t>
            </a:r>
            <a:r>
              <a:rPr sz="1300" b="1" spc="-3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(4/4)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Python,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FastAPI, Docker,</a:t>
            </a:r>
            <a:r>
              <a:rPr sz="12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PostgreSQL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300" dirty="0">
                <a:solidFill>
                  <a:srgbClr val="D97706"/>
                </a:solidFill>
                <a:latin typeface="SimSun-ExtB" panose="02010609060101010101" charset="-122"/>
                <a:cs typeface="SimSun-ExtB" panose="02010609060101010101" charset="-122"/>
              </a:rPr>
              <a:t>✖</a:t>
            </a:r>
            <a:r>
              <a:rPr sz="1300" spc="-345" dirty="0">
                <a:solidFill>
                  <a:srgbClr val="D97706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1300" b="1" dirty="0">
                <a:solidFill>
                  <a:srgbClr val="D97706"/>
                </a:solidFill>
                <a:latin typeface="Calibri" panose="020F0502020204030204"/>
                <a:cs typeface="Calibri" panose="020F0502020204030204"/>
              </a:rPr>
              <a:t>Missing</a:t>
            </a:r>
            <a:r>
              <a:rPr sz="1300" b="1" spc="-35" dirty="0">
                <a:solidFill>
                  <a:srgbClr val="D97706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D97706"/>
                </a:solidFill>
                <a:latin typeface="Calibri" panose="020F0502020204030204"/>
                <a:cs typeface="Calibri" panose="020F0502020204030204"/>
              </a:rPr>
              <a:t>Preferred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Kubernetes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(Optional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bonus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skill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penalty)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16535" indent="-203835">
              <a:lnSpc>
                <a:spcPct val="100000"/>
              </a:lnSpc>
              <a:spcBef>
                <a:spcPts val="400"/>
              </a:spcBef>
              <a:buFont typeface="SimSun-ExtB" panose="02010609060101010101" charset="-122"/>
              <a:buChar char="✓"/>
              <a:tabLst>
                <a:tab pos="216535" algn="l"/>
              </a:tabLst>
            </a:pPr>
            <a:r>
              <a:rPr sz="1300" b="1" spc="-1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Experience </a:t>
            </a:r>
            <a:r>
              <a:rPr sz="13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Rule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5.0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yrs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provided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vs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3.0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yrs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required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(+2.0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yrs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extra)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16535" indent="-203835">
              <a:lnSpc>
                <a:spcPct val="100000"/>
              </a:lnSpc>
              <a:spcBef>
                <a:spcPts val="400"/>
              </a:spcBef>
              <a:buFont typeface="SimSun-ExtB" panose="02010609060101010101" charset="-122"/>
              <a:buChar char="✓"/>
              <a:tabLst>
                <a:tab pos="216535" algn="l"/>
              </a:tabLst>
            </a:pPr>
            <a:r>
              <a:rPr sz="1300" b="1" spc="-1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Education Criteria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B.Tech</a:t>
            </a:r>
            <a:r>
              <a:rPr sz="12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Computer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Science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(Degree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level</a:t>
            </a:r>
            <a:r>
              <a:rPr sz="12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satisfied)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16535" indent="-203835">
              <a:lnSpc>
                <a:spcPct val="100000"/>
              </a:lnSpc>
              <a:spcBef>
                <a:spcPts val="400"/>
              </a:spcBef>
              <a:buFont typeface="SimSun-ExtB" panose="02010609060101010101" charset="-122"/>
              <a:buChar char="✓"/>
              <a:tabLst>
                <a:tab pos="216535" algn="l"/>
              </a:tabLst>
            </a:pPr>
            <a:r>
              <a:rPr sz="1300" b="1" spc="-1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Certifications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AWS</a:t>
            </a:r>
            <a:r>
              <a:rPr sz="12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Certified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Solutions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Architect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verified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12725" indent="-200025">
              <a:lnSpc>
                <a:spcPct val="100000"/>
              </a:lnSpc>
              <a:spcBef>
                <a:spcPts val="400"/>
              </a:spcBef>
              <a:buFont typeface="Times New Roman" panose="02020603050405020304"/>
              <a:buChar char="►"/>
              <a:tabLst>
                <a:tab pos="212725" algn="l"/>
              </a:tabLst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Recruiter</a:t>
            </a:r>
            <a:r>
              <a:rPr sz="1300" b="1" spc="-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Action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1557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SHORTLISTED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complete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verifiable</a:t>
            </a:r>
            <a:r>
              <a:rPr sz="12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audit</a:t>
            </a:r>
            <a:r>
              <a:rPr sz="12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trail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35" dirty="0"/>
              <a:t> </a:t>
            </a:r>
            <a:r>
              <a:rPr spc="-10" dirty="0"/>
              <a:t>Schedule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468165" y="155447"/>
            <a:ext cx="205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8009" y="1228089"/>
          <a:ext cx="11089640" cy="3977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9305"/>
                <a:gridCol w="1600200"/>
                <a:gridCol w="1600200"/>
                <a:gridCol w="1600200"/>
                <a:gridCol w="1600200"/>
              </a:tblGrid>
              <a:tr h="561340"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Project</a:t>
                      </a:r>
                      <a:r>
                        <a:rPr sz="1300" b="1" spc="-3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Activity</a:t>
                      </a:r>
                      <a:r>
                        <a:rPr sz="1300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/</a:t>
                      </a:r>
                      <a:r>
                        <a:rPr sz="1300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Work</a:t>
                      </a:r>
                      <a:r>
                        <a:rPr sz="1300" b="1" spc="-3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Phase</a:t>
                      </a:r>
                      <a:endParaRPr sz="13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5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Month</a:t>
                      </a:r>
                      <a:r>
                        <a:rPr sz="1300" b="1" spc="-6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spc="-5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3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444500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(Review</a:t>
                      </a:r>
                      <a:r>
                        <a:rPr sz="1300" b="1" spc="-3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1)</a:t>
                      </a:r>
                      <a:endParaRPr sz="13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Month</a:t>
                      </a:r>
                      <a:r>
                        <a:rPr sz="1300" b="1" spc="-6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spc="-5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3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444500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(Review</a:t>
                      </a:r>
                      <a:r>
                        <a:rPr sz="1300" b="1" spc="-3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1)</a:t>
                      </a:r>
                      <a:endParaRPr sz="13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Month</a:t>
                      </a:r>
                      <a:r>
                        <a:rPr sz="1300" b="1" spc="-6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spc="-5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3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444500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(Review</a:t>
                      </a:r>
                      <a:r>
                        <a:rPr sz="1300" b="1" spc="-3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2)</a:t>
                      </a:r>
                      <a:endParaRPr sz="13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F2547"/>
                    </a:solidFill>
                  </a:tcPr>
                </a:tc>
                <a:tc>
                  <a:txBody>
                    <a:bodyPr/>
                    <a:lstStyle/>
                    <a:p>
                      <a:pPr marL="325120" marR="300355" indent="18605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Month</a:t>
                      </a:r>
                      <a:r>
                        <a:rPr sz="1300" b="1" spc="-6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spc="-5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4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(Final</a:t>
                      </a:r>
                      <a:r>
                        <a:rPr sz="1300" b="1" spc="-6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Review)</a:t>
                      </a:r>
                      <a:endParaRPr sz="13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F2547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1.</a:t>
                      </a:r>
                      <a:r>
                        <a:rPr sz="12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Literature</a:t>
                      </a:r>
                      <a:r>
                        <a:rPr sz="12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Survey</a:t>
                      </a:r>
                      <a:r>
                        <a:rPr sz="12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12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Domain</a:t>
                      </a:r>
                      <a:r>
                        <a:rPr sz="12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Problem</a:t>
                      </a:r>
                      <a:r>
                        <a:rPr sz="12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Formulation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48005" indent="-191135">
                        <a:lnSpc>
                          <a:spcPct val="100000"/>
                        </a:lnSpc>
                        <a:buFont typeface="SimSun-ExtB" panose="02010609060101010101" charset="-122"/>
                        <a:buChar char="✓"/>
                        <a:tabLst>
                          <a:tab pos="548005" algn="l"/>
                        </a:tabLst>
                      </a:pPr>
                      <a:r>
                        <a:rPr sz="1200" b="1" spc="-10" dirty="0">
                          <a:solidFill>
                            <a:srgbClr val="16A34A"/>
                          </a:solidFill>
                          <a:latin typeface="Calibri" panose="020F0502020204030204"/>
                          <a:cs typeface="Calibri" panose="020F0502020204030204"/>
                        </a:rPr>
                        <a:t>Completed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554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2.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Knowledge</a:t>
                      </a:r>
                      <a:r>
                        <a:rPr sz="1200" b="1" spc="-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Representation</a:t>
                      </a:r>
                      <a:r>
                        <a:rPr sz="1200" b="1" spc="-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1200" b="1" spc="-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Skill</a:t>
                      </a:r>
                      <a:r>
                        <a:rPr sz="1200" b="1" spc="-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Taxonomy</a:t>
                      </a:r>
                      <a:r>
                        <a:rPr sz="1200" b="1" spc="-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Design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48005" indent="-191135">
                        <a:lnSpc>
                          <a:spcPct val="100000"/>
                        </a:lnSpc>
                        <a:buFont typeface="SimSun-ExtB" panose="02010609060101010101" charset="-122"/>
                        <a:buChar char="✓"/>
                        <a:tabLst>
                          <a:tab pos="548005" algn="l"/>
                        </a:tabLst>
                      </a:pPr>
                      <a:r>
                        <a:rPr sz="1200" b="1" spc="-10" dirty="0">
                          <a:solidFill>
                            <a:srgbClr val="16A34A"/>
                          </a:solidFill>
                          <a:latin typeface="Calibri" panose="020F0502020204030204"/>
                          <a:cs typeface="Calibri" panose="020F0502020204030204"/>
                        </a:rPr>
                        <a:t>Completed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48005" indent="-191135">
                        <a:lnSpc>
                          <a:spcPct val="100000"/>
                        </a:lnSpc>
                        <a:buFont typeface="SimSun-ExtB" panose="02010609060101010101" charset="-122"/>
                        <a:buChar char="✓"/>
                        <a:tabLst>
                          <a:tab pos="548005" algn="l"/>
                        </a:tabLst>
                      </a:pPr>
                      <a:r>
                        <a:rPr sz="1200" b="1" spc="-10" dirty="0">
                          <a:solidFill>
                            <a:srgbClr val="16A34A"/>
                          </a:solidFill>
                          <a:latin typeface="Calibri" panose="020F0502020204030204"/>
                          <a:cs typeface="Calibri" panose="020F0502020204030204"/>
                        </a:rPr>
                        <a:t>Completed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1F4F9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3.</a:t>
                      </a:r>
                      <a:r>
                        <a:rPr sz="1200" b="1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Forward</a:t>
                      </a:r>
                      <a:r>
                        <a:rPr sz="12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Chaining</a:t>
                      </a:r>
                      <a:r>
                        <a:rPr sz="12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Rule</a:t>
                      </a:r>
                      <a:r>
                        <a:rPr sz="12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Engine</a:t>
                      </a:r>
                      <a:r>
                        <a:rPr sz="12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12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Parser</a:t>
                      </a:r>
                      <a:r>
                        <a:rPr sz="12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Development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48005" indent="-191135">
                        <a:lnSpc>
                          <a:spcPct val="100000"/>
                        </a:lnSpc>
                        <a:buFont typeface="SimSun-ExtB" panose="02010609060101010101" charset="-122"/>
                        <a:buChar char="✓"/>
                        <a:tabLst>
                          <a:tab pos="548005" algn="l"/>
                        </a:tabLst>
                      </a:pPr>
                      <a:r>
                        <a:rPr sz="1200" b="1" spc="-10" dirty="0">
                          <a:solidFill>
                            <a:srgbClr val="16A34A"/>
                          </a:solidFill>
                          <a:latin typeface="Calibri" panose="020F0502020204030204"/>
                          <a:cs typeface="Calibri" panose="020F0502020204030204"/>
                        </a:rPr>
                        <a:t>Completed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48005" indent="-191135">
                        <a:lnSpc>
                          <a:spcPct val="100000"/>
                        </a:lnSpc>
                        <a:buFont typeface="SimSun-ExtB" panose="02010609060101010101" charset="-122"/>
                        <a:buChar char="✓"/>
                        <a:tabLst>
                          <a:tab pos="548005" algn="l"/>
                        </a:tabLst>
                      </a:pPr>
                      <a:r>
                        <a:rPr sz="1200" b="1" spc="-10" dirty="0">
                          <a:solidFill>
                            <a:srgbClr val="16A34A"/>
                          </a:solidFill>
                          <a:latin typeface="Calibri" panose="020F0502020204030204"/>
                          <a:cs typeface="Calibri" panose="020F0502020204030204"/>
                        </a:rPr>
                        <a:t>Completed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554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4.</a:t>
                      </a:r>
                      <a:r>
                        <a:rPr sz="1200" b="1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FastAPI</a:t>
                      </a:r>
                      <a:r>
                        <a:rPr sz="1200" b="1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REST</a:t>
                      </a:r>
                      <a:r>
                        <a:rPr sz="1200" b="1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Backend</a:t>
                      </a:r>
                      <a:r>
                        <a:rPr sz="12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1200" b="1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Supabase</a:t>
                      </a:r>
                      <a:r>
                        <a:rPr sz="1200" b="1" spc="-3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Database</a:t>
                      </a:r>
                      <a:r>
                        <a:rPr sz="12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Setup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45465" indent="-191135">
                        <a:lnSpc>
                          <a:spcPct val="100000"/>
                        </a:lnSpc>
                        <a:buFont typeface="SimSun-ExtB" panose="02010609060101010101" charset="-122"/>
                        <a:buChar char="✓"/>
                        <a:tabLst>
                          <a:tab pos="545465" algn="l"/>
                        </a:tabLst>
                      </a:pPr>
                      <a:r>
                        <a:rPr sz="1200" b="1" dirty="0">
                          <a:solidFill>
                            <a:srgbClr val="0284C7"/>
                          </a:solidFill>
                          <a:latin typeface="Calibri" panose="020F0502020204030204"/>
                          <a:cs typeface="Calibri" panose="020F0502020204030204"/>
                        </a:rPr>
                        <a:t>In</a:t>
                      </a:r>
                      <a:r>
                        <a:rPr sz="1200" b="1" spc="-30" dirty="0">
                          <a:solidFill>
                            <a:srgbClr val="0284C7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284C7"/>
                          </a:solidFill>
                          <a:latin typeface="Calibri" panose="020F0502020204030204"/>
                          <a:cs typeface="Calibri" panose="020F0502020204030204"/>
                        </a:rPr>
                        <a:t>Progress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1F4F9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5.</a:t>
                      </a:r>
                      <a:r>
                        <a:rPr sz="12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Candidate</a:t>
                      </a:r>
                      <a:r>
                        <a:rPr sz="12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12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HR</a:t>
                      </a:r>
                      <a:r>
                        <a:rPr sz="12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React</a:t>
                      </a:r>
                      <a:r>
                        <a:rPr sz="12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Portals</a:t>
                      </a:r>
                      <a:r>
                        <a:rPr sz="12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12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XAI</a:t>
                      </a:r>
                      <a:r>
                        <a:rPr sz="12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Dashboard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45465" indent="-191135">
                        <a:lnSpc>
                          <a:spcPct val="100000"/>
                        </a:lnSpc>
                        <a:buFont typeface="SimSun-ExtB" panose="02010609060101010101" charset="-122"/>
                        <a:buChar char="✓"/>
                        <a:tabLst>
                          <a:tab pos="545465" algn="l"/>
                        </a:tabLst>
                      </a:pPr>
                      <a:r>
                        <a:rPr sz="1200" b="1" dirty="0">
                          <a:solidFill>
                            <a:srgbClr val="0284C7"/>
                          </a:solidFill>
                          <a:latin typeface="Calibri" panose="020F0502020204030204"/>
                          <a:cs typeface="Calibri" panose="020F0502020204030204"/>
                        </a:rPr>
                        <a:t>In</a:t>
                      </a:r>
                      <a:r>
                        <a:rPr sz="1200" b="1" spc="-30" dirty="0">
                          <a:solidFill>
                            <a:srgbClr val="0284C7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284C7"/>
                          </a:solidFill>
                          <a:latin typeface="Calibri" panose="020F0502020204030204"/>
                          <a:cs typeface="Calibri" panose="020F0502020204030204"/>
                        </a:rPr>
                        <a:t>Progress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475568"/>
                          </a:solidFill>
                          <a:latin typeface="Calibri" panose="020F0502020204030204"/>
                          <a:cs typeface="Calibri" panose="020F0502020204030204"/>
                        </a:rPr>
                        <a:t>Planned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</a:tr>
              <a:tr h="554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6.</a:t>
                      </a:r>
                      <a:r>
                        <a:rPr sz="1200" b="1" spc="-25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System</a:t>
                      </a:r>
                      <a:r>
                        <a:rPr sz="12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Benchmarking,</a:t>
                      </a:r>
                      <a:r>
                        <a:rPr sz="12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Testing</a:t>
                      </a:r>
                      <a:r>
                        <a:rPr sz="12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12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Final</a:t>
                      </a:r>
                      <a:r>
                        <a:rPr sz="1200" b="1" spc="-2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F172A"/>
                          </a:solidFill>
                          <a:latin typeface="Calibri" panose="020F0502020204030204"/>
                          <a:cs typeface="Calibri" panose="020F0502020204030204"/>
                        </a:rPr>
                        <a:t>Documentation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475568"/>
                          </a:solidFill>
                          <a:latin typeface="Calibri" panose="020F0502020204030204"/>
                          <a:cs typeface="Calibri" panose="020F0502020204030204"/>
                        </a:rPr>
                        <a:t>Planned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Current</a:t>
            </a:r>
            <a:r>
              <a:rPr spc="-114" dirty="0"/>
              <a:t> </a:t>
            </a:r>
            <a:r>
              <a:rPr spc="-10" dirty="0"/>
              <a:t>Progress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468165" y="155447"/>
            <a:ext cx="205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15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835" y="1207915"/>
            <a:ext cx="5448300" cy="5036820"/>
            <a:chOff x="544835" y="1207915"/>
            <a:chExt cx="5448300" cy="503682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1207915"/>
              <a:ext cx="5448290" cy="50368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234439"/>
              <a:ext cx="5349240" cy="4937760"/>
            </a:xfrm>
            <a:custGeom>
              <a:avLst/>
              <a:gdLst/>
              <a:ahLst/>
              <a:cxnLst/>
              <a:rect l="l" t="t" r="r" b="b"/>
              <a:pathLst>
                <a:path w="5349240" h="4937760">
                  <a:moveTo>
                    <a:pt x="4526263" y="4937759"/>
                  </a:moveTo>
                  <a:lnTo>
                    <a:pt x="822976" y="4937759"/>
                  </a:lnTo>
                  <a:lnTo>
                    <a:pt x="774620" y="4936362"/>
                  </a:lnTo>
                  <a:lnTo>
                    <a:pt x="726999" y="4932223"/>
                  </a:lnTo>
                  <a:lnTo>
                    <a:pt x="680192" y="4925418"/>
                  </a:lnTo>
                  <a:lnTo>
                    <a:pt x="634275" y="4916024"/>
                  </a:lnTo>
                  <a:lnTo>
                    <a:pt x="589325" y="4904120"/>
                  </a:lnTo>
                  <a:lnTo>
                    <a:pt x="545420" y="4889781"/>
                  </a:lnTo>
                  <a:lnTo>
                    <a:pt x="502636" y="4873086"/>
                  </a:lnTo>
                  <a:lnTo>
                    <a:pt x="461052" y="4854111"/>
                  </a:lnTo>
                  <a:lnTo>
                    <a:pt x="420743" y="4832934"/>
                  </a:lnTo>
                  <a:lnTo>
                    <a:pt x="381788" y="4809632"/>
                  </a:lnTo>
                  <a:lnTo>
                    <a:pt x="344263" y="4784282"/>
                  </a:lnTo>
                  <a:lnTo>
                    <a:pt x="308246" y="4756961"/>
                  </a:lnTo>
                  <a:lnTo>
                    <a:pt x="273814" y="4727746"/>
                  </a:lnTo>
                  <a:lnTo>
                    <a:pt x="241044" y="4696715"/>
                  </a:lnTo>
                  <a:lnTo>
                    <a:pt x="210013" y="4663945"/>
                  </a:lnTo>
                  <a:lnTo>
                    <a:pt x="180798" y="4629513"/>
                  </a:lnTo>
                  <a:lnTo>
                    <a:pt x="153477" y="4593496"/>
                  </a:lnTo>
                  <a:lnTo>
                    <a:pt x="128127" y="4555971"/>
                  </a:lnTo>
                  <a:lnTo>
                    <a:pt x="104825" y="4517016"/>
                  </a:lnTo>
                  <a:lnTo>
                    <a:pt x="83648" y="4476707"/>
                  </a:lnTo>
                  <a:lnTo>
                    <a:pt x="64673" y="4435123"/>
                  </a:lnTo>
                  <a:lnTo>
                    <a:pt x="47978" y="4392339"/>
                  </a:lnTo>
                  <a:lnTo>
                    <a:pt x="33639" y="4348434"/>
                  </a:lnTo>
                  <a:lnTo>
                    <a:pt x="21735" y="4303484"/>
                  </a:lnTo>
                  <a:lnTo>
                    <a:pt x="12341" y="4257567"/>
                  </a:lnTo>
                  <a:lnTo>
                    <a:pt x="5536" y="4210759"/>
                  </a:lnTo>
                  <a:lnTo>
                    <a:pt x="1397" y="4163139"/>
                  </a:lnTo>
                  <a:lnTo>
                    <a:pt x="0" y="4114783"/>
                  </a:lnTo>
                  <a:lnTo>
                    <a:pt x="0" y="822976"/>
                  </a:lnTo>
                  <a:lnTo>
                    <a:pt x="1397" y="774620"/>
                  </a:lnTo>
                  <a:lnTo>
                    <a:pt x="5536" y="727000"/>
                  </a:lnTo>
                  <a:lnTo>
                    <a:pt x="12341" y="680192"/>
                  </a:lnTo>
                  <a:lnTo>
                    <a:pt x="21735" y="634275"/>
                  </a:lnTo>
                  <a:lnTo>
                    <a:pt x="33639" y="589325"/>
                  </a:lnTo>
                  <a:lnTo>
                    <a:pt x="47978" y="545420"/>
                  </a:lnTo>
                  <a:lnTo>
                    <a:pt x="64673" y="502636"/>
                  </a:lnTo>
                  <a:lnTo>
                    <a:pt x="83648" y="461052"/>
                  </a:lnTo>
                  <a:lnTo>
                    <a:pt x="104825" y="420743"/>
                  </a:lnTo>
                  <a:lnTo>
                    <a:pt x="128127" y="381788"/>
                  </a:lnTo>
                  <a:lnTo>
                    <a:pt x="153477" y="344263"/>
                  </a:lnTo>
                  <a:lnTo>
                    <a:pt x="180798" y="308246"/>
                  </a:lnTo>
                  <a:lnTo>
                    <a:pt x="210013" y="273814"/>
                  </a:lnTo>
                  <a:lnTo>
                    <a:pt x="241044" y="241044"/>
                  </a:lnTo>
                  <a:lnTo>
                    <a:pt x="273814" y="210013"/>
                  </a:lnTo>
                  <a:lnTo>
                    <a:pt x="308246" y="180798"/>
                  </a:lnTo>
                  <a:lnTo>
                    <a:pt x="344263" y="153477"/>
                  </a:lnTo>
                  <a:lnTo>
                    <a:pt x="381788" y="128127"/>
                  </a:lnTo>
                  <a:lnTo>
                    <a:pt x="420743" y="104825"/>
                  </a:lnTo>
                  <a:lnTo>
                    <a:pt x="461052" y="83648"/>
                  </a:lnTo>
                  <a:lnTo>
                    <a:pt x="502636" y="64673"/>
                  </a:lnTo>
                  <a:lnTo>
                    <a:pt x="545420" y="47978"/>
                  </a:lnTo>
                  <a:lnTo>
                    <a:pt x="589325" y="33639"/>
                  </a:lnTo>
                  <a:lnTo>
                    <a:pt x="634275" y="21735"/>
                  </a:lnTo>
                  <a:lnTo>
                    <a:pt x="680192" y="12341"/>
                  </a:lnTo>
                  <a:lnTo>
                    <a:pt x="726999" y="5536"/>
                  </a:lnTo>
                  <a:lnTo>
                    <a:pt x="774620" y="1397"/>
                  </a:lnTo>
                  <a:lnTo>
                    <a:pt x="822976" y="0"/>
                  </a:lnTo>
                  <a:lnTo>
                    <a:pt x="4526263" y="0"/>
                  </a:lnTo>
                  <a:lnTo>
                    <a:pt x="4576453" y="1530"/>
                  </a:lnTo>
                  <a:lnTo>
                    <a:pt x="4626199" y="6087"/>
                  </a:lnTo>
                  <a:lnTo>
                    <a:pt x="4675377" y="13618"/>
                  </a:lnTo>
                  <a:lnTo>
                    <a:pt x="4723860" y="24070"/>
                  </a:lnTo>
                  <a:lnTo>
                    <a:pt x="4771522" y="37393"/>
                  </a:lnTo>
                  <a:lnTo>
                    <a:pt x="4818238" y="53534"/>
                  </a:lnTo>
                  <a:lnTo>
                    <a:pt x="4863883" y="72441"/>
                  </a:lnTo>
                  <a:lnTo>
                    <a:pt x="4908329" y="94061"/>
                  </a:lnTo>
                  <a:lnTo>
                    <a:pt x="4951452" y="118343"/>
                  </a:lnTo>
                  <a:lnTo>
                    <a:pt x="4993126" y="145234"/>
                  </a:lnTo>
                  <a:lnTo>
                    <a:pt x="5033225" y="174682"/>
                  </a:lnTo>
                  <a:lnTo>
                    <a:pt x="5071624" y="206636"/>
                  </a:lnTo>
                  <a:lnTo>
                    <a:pt x="5108195" y="241044"/>
                  </a:lnTo>
                  <a:lnTo>
                    <a:pt x="5142602" y="277615"/>
                  </a:lnTo>
                  <a:lnTo>
                    <a:pt x="5174556" y="316014"/>
                  </a:lnTo>
                  <a:lnTo>
                    <a:pt x="5204005" y="356112"/>
                  </a:lnTo>
                  <a:lnTo>
                    <a:pt x="5230896" y="397786"/>
                  </a:lnTo>
                  <a:lnTo>
                    <a:pt x="5255178" y="440910"/>
                  </a:lnTo>
                  <a:lnTo>
                    <a:pt x="5276798" y="485356"/>
                  </a:lnTo>
                  <a:lnTo>
                    <a:pt x="5295705" y="531001"/>
                  </a:lnTo>
                  <a:lnTo>
                    <a:pt x="5311846" y="577717"/>
                  </a:lnTo>
                  <a:lnTo>
                    <a:pt x="5325169" y="625379"/>
                  </a:lnTo>
                  <a:lnTo>
                    <a:pt x="5335621" y="673862"/>
                  </a:lnTo>
                  <a:lnTo>
                    <a:pt x="5343152" y="723040"/>
                  </a:lnTo>
                  <a:lnTo>
                    <a:pt x="5347709" y="772786"/>
                  </a:lnTo>
                  <a:lnTo>
                    <a:pt x="5349239" y="822976"/>
                  </a:lnTo>
                  <a:lnTo>
                    <a:pt x="5349239" y="4114783"/>
                  </a:lnTo>
                  <a:lnTo>
                    <a:pt x="5347842" y="4163139"/>
                  </a:lnTo>
                  <a:lnTo>
                    <a:pt x="5343703" y="4210759"/>
                  </a:lnTo>
                  <a:lnTo>
                    <a:pt x="5336898" y="4257567"/>
                  </a:lnTo>
                  <a:lnTo>
                    <a:pt x="5327504" y="4303484"/>
                  </a:lnTo>
                  <a:lnTo>
                    <a:pt x="5315600" y="4348434"/>
                  </a:lnTo>
                  <a:lnTo>
                    <a:pt x="5301261" y="4392339"/>
                  </a:lnTo>
                  <a:lnTo>
                    <a:pt x="5284566" y="4435123"/>
                  </a:lnTo>
                  <a:lnTo>
                    <a:pt x="5265591" y="4476707"/>
                  </a:lnTo>
                  <a:lnTo>
                    <a:pt x="5244414" y="4517016"/>
                  </a:lnTo>
                  <a:lnTo>
                    <a:pt x="5221112" y="4555971"/>
                  </a:lnTo>
                  <a:lnTo>
                    <a:pt x="5195762" y="4593496"/>
                  </a:lnTo>
                  <a:lnTo>
                    <a:pt x="5168441" y="4629513"/>
                  </a:lnTo>
                  <a:lnTo>
                    <a:pt x="5139226" y="4663945"/>
                  </a:lnTo>
                  <a:lnTo>
                    <a:pt x="5108195" y="4696715"/>
                  </a:lnTo>
                  <a:lnTo>
                    <a:pt x="5075425" y="4727746"/>
                  </a:lnTo>
                  <a:lnTo>
                    <a:pt x="5040993" y="4756961"/>
                  </a:lnTo>
                  <a:lnTo>
                    <a:pt x="5004976" y="4784282"/>
                  </a:lnTo>
                  <a:lnTo>
                    <a:pt x="4967451" y="4809632"/>
                  </a:lnTo>
                  <a:lnTo>
                    <a:pt x="4928496" y="4832934"/>
                  </a:lnTo>
                  <a:lnTo>
                    <a:pt x="4888187" y="4854111"/>
                  </a:lnTo>
                  <a:lnTo>
                    <a:pt x="4846603" y="4873086"/>
                  </a:lnTo>
                  <a:lnTo>
                    <a:pt x="4803819" y="4889781"/>
                  </a:lnTo>
                  <a:lnTo>
                    <a:pt x="4759914" y="4904120"/>
                  </a:lnTo>
                  <a:lnTo>
                    <a:pt x="4714964" y="4916024"/>
                  </a:lnTo>
                  <a:lnTo>
                    <a:pt x="4669047" y="4925418"/>
                  </a:lnTo>
                  <a:lnTo>
                    <a:pt x="4622239" y="4932223"/>
                  </a:lnTo>
                  <a:lnTo>
                    <a:pt x="4574619" y="4936362"/>
                  </a:lnTo>
                  <a:lnTo>
                    <a:pt x="4526263" y="4937759"/>
                  </a:lnTo>
                  <a:close/>
                </a:path>
              </a:pathLst>
            </a:custGeom>
            <a:solidFill>
              <a:srgbClr val="F0FC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359" y="1234439"/>
              <a:ext cx="5349240" cy="4937760"/>
            </a:xfrm>
            <a:custGeom>
              <a:avLst/>
              <a:gdLst/>
              <a:ahLst/>
              <a:cxnLst/>
              <a:rect l="l" t="t" r="r" b="b"/>
              <a:pathLst>
                <a:path w="5349240" h="4937760">
                  <a:moveTo>
                    <a:pt x="0" y="822976"/>
                  </a:moveTo>
                  <a:lnTo>
                    <a:pt x="1397" y="774620"/>
                  </a:lnTo>
                  <a:lnTo>
                    <a:pt x="5536" y="727000"/>
                  </a:lnTo>
                  <a:lnTo>
                    <a:pt x="12341" y="680192"/>
                  </a:lnTo>
                  <a:lnTo>
                    <a:pt x="21735" y="634275"/>
                  </a:lnTo>
                  <a:lnTo>
                    <a:pt x="33639" y="589325"/>
                  </a:lnTo>
                  <a:lnTo>
                    <a:pt x="47978" y="545420"/>
                  </a:lnTo>
                  <a:lnTo>
                    <a:pt x="64673" y="502636"/>
                  </a:lnTo>
                  <a:lnTo>
                    <a:pt x="83648" y="461052"/>
                  </a:lnTo>
                  <a:lnTo>
                    <a:pt x="104825" y="420743"/>
                  </a:lnTo>
                  <a:lnTo>
                    <a:pt x="128127" y="381788"/>
                  </a:lnTo>
                  <a:lnTo>
                    <a:pt x="153477" y="344263"/>
                  </a:lnTo>
                  <a:lnTo>
                    <a:pt x="180798" y="308246"/>
                  </a:lnTo>
                  <a:lnTo>
                    <a:pt x="210013" y="273814"/>
                  </a:lnTo>
                  <a:lnTo>
                    <a:pt x="241044" y="241044"/>
                  </a:lnTo>
                  <a:lnTo>
                    <a:pt x="273814" y="210013"/>
                  </a:lnTo>
                  <a:lnTo>
                    <a:pt x="308246" y="180798"/>
                  </a:lnTo>
                  <a:lnTo>
                    <a:pt x="344263" y="153477"/>
                  </a:lnTo>
                  <a:lnTo>
                    <a:pt x="381788" y="128127"/>
                  </a:lnTo>
                  <a:lnTo>
                    <a:pt x="420743" y="104825"/>
                  </a:lnTo>
                  <a:lnTo>
                    <a:pt x="461052" y="83648"/>
                  </a:lnTo>
                  <a:lnTo>
                    <a:pt x="502636" y="64673"/>
                  </a:lnTo>
                  <a:lnTo>
                    <a:pt x="545420" y="47978"/>
                  </a:lnTo>
                  <a:lnTo>
                    <a:pt x="589325" y="33639"/>
                  </a:lnTo>
                  <a:lnTo>
                    <a:pt x="634275" y="21735"/>
                  </a:lnTo>
                  <a:lnTo>
                    <a:pt x="680192" y="12341"/>
                  </a:lnTo>
                  <a:lnTo>
                    <a:pt x="726999" y="5536"/>
                  </a:lnTo>
                  <a:lnTo>
                    <a:pt x="774620" y="1397"/>
                  </a:lnTo>
                  <a:lnTo>
                    <a:pt x="822976" y="0"/>
                  </a:lnTo>
                  <a:lnTo>
                    <a:pt x="4526263" y="0"/>
                  </a:lnTo>
                  <a:lnTo>
                    <a:pt x="4576453" y="1530"/>
                  </a:lnTo>
                  <a:lnTo>
                    <a:pt x="4626199" y="6087"/>
                  </a:lnTo>
                  <a:lnTo>
                    <a:pt x="4675377" y="13618"/>
                  </a:lnTo>
                  <a:lnTo>
                    <a:pt x="4723860" y="24070"/>
                  </a:lnTo>
                  <a:lnTo>
                    <a:pt x="4771522" y="37393"/>
                  </a:lnTo>
                  <a:lnTo>
                    <a:pt x="4818238" y="53534"/>
                  </a:lnTo>
                  <a:lnTo>
                    <a:pt x="4863883" y="72441"/>
                  </a:lnTo>
                  <a:lnTo>
                    <a:pt x="4908329" y="94061"/>
                  </a:lnTo>
                  <a:lnTo>
                    <a:pt x="4951452" y="118343"/>
                  </a:lnTo>
                  <a:lnTo>
                    <a:pt x="4993126" y="145234"/>
                  </a:lnTo>
                  <a:lnTo>
                    <a:pt x="5033225" y="174682"/>
                  </a:lnTo>
                  <a:lnTo>
                    <a:pt x="5071624" y="206636"/>
                  </a:lnTo>
                  <a:lnTo>
                    <a:pt x="5108195" y="241044"/>
                  </a:lnTo>
                  <a:lnTo>
                    <a:pt x="5142602" y="277615"/>
                  </a:lnTo>
                  <a:lnTo>
                    <a:pt x="5174556" y="316014"/>
                  </a:lnTo>
                  <a:lnTo>
                    <a:pt x="5204005" y="356112"/>
                  </a:lnTo>
                  <a:lnTo>
                    <a:pt x="5230896" y="397786"/>
                  </a:lnTo>
                  <a:lnTo>
                    <a:pt x="5255178" y="440910"/>
                  </a:lnTo>
                  <a:lnTo>
                    <a:pt x="5276798" y="485356"/>
                  </a:lnTo>
                  <a:lnTo>
                    <a:pt x="5295705" y="531001"/>
                  </a:lnTo>
                  <a:lnTo>
                    <a:pt x="5311846" y="577717"/>
                  </a:lnTo>
                  <a:lnTo>
                    <a:pt x="5325169" y="625379"/>
                  </a:lnTo>
                  <a:lnTo>
                    <a:pt x="5335621" y="673862"/>
                  </a:lnTo>
                  <a:lnTo>
                    <a:pt x="5343152" y="723040"/>
                  </a:lnTo>
                  <a:lnTo>
                    <a:pt x="5347709" y="772786"/>
                  </a:lnTo>
                  <a:lnTo>
                    <a:pt x="5349239" y="822976"/>
                  </a:lnTo>
                  <a:lnTo>
                    <a:pt x="5349239" y="4114783"/>
                  </a:lnTo>
                  <a:lnTo>
                    <a:pt x="5347842" y="4163139"/>
                  </a:lnTo>
                  <a:lnTo>
                    <a:pt x="5343703" y="4210759"/>
                  </a:lnTo>
                  <a:lnTo>
                    <a:pt x="5336898" y="4257567"/>
                  </a:lnTo>
                  <a:lnTo>
                    <a:pt x="5327504" y="4303484"/>
                  </a:lnTo>
                  <a:lnTo>
                    <a:pt x="5315600" y="4348434"/>
                  </a:lnTo>
                  <a:lnTo>
                    <a:pt x="5301261" y="4392339"/>
                  </a:lnTo>
                  <a:lnTo>
                    <a:pt x="5284566" y="4435123"/>
                  </a:lnTo>
                  <a:lnTo>
                    <a:pt x="5265591" y="4476707"/>
                  </a:lnTo>
                  <a:lnTo>
                    <a:pt x="5244414" y="4517016"/>
                  </a:lnTo>
                  <a:lnTo>
                    <a:pt x="5221112" y="4555971"/>
                  </a:lnTo>
                  <a:lnTo>
                    <a:pt x="5195762" y="4593496"/>
                  </a:lnTo>
                  <a:lnTo>
                    <a:pt x="5168441" y="4629513"/>
                  </a:lnTo>
                  <a:lnTo>
                    <a:pt x="5139226" y="4663945"/>
                  </a:lnTo>
                  <a:lnTo>
                    <a:pt x="5108195" y="4696715"/>
                  </a:lnTo>
                  <a:lnTo>
                    <a:pt x="5075425" y="4727746"/>
                  </a:lnTo>
                  <a:lnTo>
                    <a:pt x="5040993" y="4756961"/>
                  </a:lnTo>
                  <a:lnTo>
                    <a:pt x="5004976" y="4784282"/>
                  </a:lnTo>
                  <a:lnTo>
                    <a:pt x="4967451" y="4809632"/>
                  </a:lnTo>
                  <a:lnTo>
                    <a:pt x="4928496" y="4832934"/>
                  </a:lnTo>
                  <a:lnTo>
                    <a:pt x="4888187" y="4854111"/>
                  </a:lnTo>
                  <a:lnTo>
                    <a:pt x="4846603" y="4873086"/>
                  </a:lnTo>
                  <a:lnTo>
                    <a:pt x="4803819" y="4889781"/>
                  </a:lnTo>
                  <a:lnTo>
                    <a:pt x="4759914" y="4904120"/>
                  </a:lnTo>
                  <a:lnTo>
                    <a:pt x="4714964" y="4916024"/>
                  </a:lnTo>
                  <a:lnTo>
                    <a:pt x="4669047" y="4925418"/>
                  </a:lnTo>
                  <a:lnTo>
                    <a:pt x="4622239" y="4932223"/>
                  </a:lnTo>
                  <a:lnTo>
                    <a:pt x="4574619" y="4936362"/>
                  </a:lnTo>
                  <a:lnTo>
                    <a:pt x="4526263" y="4937759"/>
                  </a:lnTo>
                  <a:lnTo>
                    <a:pt x="822976" y="4937759"/>
                  </a:lnTo>
                  <a:lnTo>
                    <a:pt x="774620" y="4936362"/>
                  </a:lnTo>
                  <a:lnTo>
                    <a:pt x="726999" y="4932223"/>
                  </a:lnTo>
                  <a:lnTo>
                    <a:pt x="680192" y="4925418"/>
                  </a:lnTo>
                  <a:lnTo>
                    <a:pt x="634275" y="4916024"/>
                  </a:lnTo>
                  <a:lnTo>
                    <a:pt x="589325" y="4904120"/>
                  </a:lnTo>
                  <a:lnTo>
                    <a:pt x="545420" y="4889781"/>
                  </a:lnTo>
                  <a:lnTo>
                    <a:pt x="502636" y="4873086"/>
                  </a:lnTo>
                  <a:lnTo>
                    <a:pt x="461052" y="4854111"/>
                  </a:lnTo>
                  <a:lnTo>
                    <a:pt x="420743" y="4832934"/>
                  </a:lnTo>
                  <a:lnTo>
                    <a:pt x="381788" y="4809632"/>
                  </a:lnTo>
                  <a:lnTo>
                    <a:pt x="344263" y="4784282"/>
                  </a:lnTo>
                  <a:lnTo>
                    <a:pt x="308246" y="4756961"/>
                  </a:lnTo>
                  <a:lnTo>
                    <a:pt x="273814" y="4727746"/>
                  </a:lnTo>
                  <a:lnTo>
                    <a:pt x="241044" y="4696715"/>
                  </a:lnTo>
                  <a:lnTo>
                    <a:pt x="210013" y="4663945"/>
                  </a:lnTo>
                  <a:lnTo>
                    <a:pt x="180798" y="4629513"/>
                  </a:lnTo>
                  <a:lnTo>
                    <a:pt x="153477" y="4593496"/>
                  </a:lnTo>
                  <a:lnTo>
                    <a:pt x="128127" y="4555971"/>
                  </a:lnTo>
                  <a:lnTo>
                    <a:pt x="104825" y="4517016"/>
                  </a:lnTo>
                  <a:lnTo>
                    <a:pt x="83648" y="4476707"/>
                  </a:lnTo>
                  <a:lnTo>
                    <a:pt x="64673" y="4435123"/>
                  </a:lnTo>
                  <a:lnTo>
                    <a:pt x="47978" y="4392339"/>
                  </a:lnTo>
                  <a:lnTo>
                    <a:pt x="33639" y="4348434"/>
                  </a:lnTo>
                  <a:lnTo>
                    <a:pt x="21735" y="4303484"/>
                  </a:lnTo>
                  <a:lnTo>
                    <a:pt x="12341" y="4257567"/>
                  </a:lnTo>
                  <a:lnTo>
                    <a:pt x="5536" y="4210759"/>
                  </a:lnTo>
                  <a:lnTo>
                    <a:pt x="1397" y="4163139"/>
                  </a:lnTo>
                  <a:lnTo>
                    <a:pt x="0" y="4114783"/>
                  </a:lnTo>
                  <a:lnTo>
                    <a:pt x="0" y="822976"/>
                  </a:lnTo>
                  <a:close/>
                </a:path>
              </a:pathLst>
            </a:custGeom>
            <a:ln w="19049">
              <a:solidFill>
                <a:srgbClr val="86EEA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549597" y="1212677"/>
            <a:ext cx="5438775" cy="528955"/>
            <a:chOff x="549597" y="1212677"/>
            <a:chExt cx="5438775" cy="52895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7" y="1212677"/>
              <a:ext cx="5438765" cy="5284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59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4359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16A34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457955" y="1332166"/>
            <a:ext cx="35782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SimSun-ExtB" panose="02010609060101010101" charset="-122"/>
                <a:cs typeface="SimSun-ExtB" panose="02010609060101010101" charset="-122"/>
              </a:rPr>
              <a:t>✔</a:t>
            </a:r>
            <a:r>
              <a:rPr sz="1400" spc="-315" dirty="0">
                <a:solidFill>
                  <a:srgbClr val="FFFFFF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REVIEW</a:t>
            </a:r>
            <a:r>
              <a:rPr sz="1400" b="1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COMPLETED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DELIVERABLES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(100%)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845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Literature</a:t>
            </a:r>
            <a:r>
              <a:rPr sz="1400" b="1" spc="-3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Survey</a:t>
            </a:r>
            <a:r>
              <a:rPr sz="1400" b="1" spc="-3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Completed:</a:t>
            </a:r>
            <a:r>
              <a:rPr sz="1400" b="1" spc="28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pc="-10" dirty="0"/>
              <a:t>Extensive</a:t>
            </a:r>
            <a:r>
              <a:rPr spc="-30" dirty="0"/>
              <a:t> </a:t>
            </a:r>
            <a:r>
              <a:rPr dirty="0"/>
              <a:t>review</a:t>
            </a:r>
            <a:r>
              <a:rPr spc="-35" dirty="0"/>
              <a:t> </a:t>
            </a:r>
            <a:r>
              <a:rPr spc="-25" dirty="0"/>
              <a:t>on</a:t>
            </a:r>
            <a:r>
              <a:rPr spc="500" dirty="0"/>
              <a:t> </a:t>
            </a:r>
            <a:r>
              <a:rPr spc="-20" dirty="0"/>
              <a:t>knowledge-</a:t>
            </a:r>
            <a:r>
              <a:rPr dirty="0"/>
              <a:t>based</a:t>
            </a:r>
            <a:r>
              <a:rPr spc="-10" dirty="0"/>
              <a:t> </a:t>
            </a:r>
            <a:r>
              <a:rPr dirty="0"/>
              <a:t>expert</a:t>
            </a:r>
            <a:r>
              <a:rPr spc="-10" dirty="0"/>
              <a:t> systems, forward chaining</a:t>
            </a:r>
            <a:r>
              <a:rPr spc="-5" dirty="0"/>
              <a:t> </a:t>
            </a:r>
            <a:r>
              <a:rPr spc="-10" dirty="0"/>
              <a:t>inference, </a:t>
            </a:r>
            <a:r>
              <a:rPr spc="-25" dirty="0"/>
              <a:t>and </a:t>
            </a:r>
            <a:r>
              <a:rPr spc="-10" dirty="0"/>
              <a:t>explainable</a:t>
            </a:r>
            <a:r>
              <a:rPr spc="-15" dirty="0"/>
              <a:t> </a:t>
            </a:r>
            <a:r>
              <a:rPr dirty="0"/>
              <a:t>AI</a:t>
            </a: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recruitment.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 marR="50165" indent="127000">
              <a:lnSpc>
                <a:spcPct val="100000"/>
              </a:lnSpc>
              <a:spcBef>
                <a:spcPts val="8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Knowledge</a:t>
            </a:r>
            <a:r>
              <a:rPr sz="1400" b="1" spc="-4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Base</a:t>
            </a:r>
            <a:r>
              <a:rPr sz="1400" b="1" spc="-3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Formalized:</a:t>
            </a:r>
            <a:r>
              <a:rPr sz="1400" b="1" spc="27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pc="-10" dirty="0"/>
              <a:t>Engineered</a:t>
            </a:r>
            <a:r>
              <a:rPr spc="-35" dirty="0"/>
              <a:t> </a:t>
            </a:r>
            <a:r>
              <a:rPr spc="-10" dirty="0"/>
              <a:t>taxonomies</a:t>
            </a:r>
            <a:r>
              <a:rPr spc="-35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spc="-25" dirty="0"/>
              <a:t>40+ </a:t>
            </a:r>
            <a:r>
              <a:rPr spc="-10" dirty="0"/>
              <a:t>technical</a:t>
            </a:r>
            <a:r>
              <a:rPr spc="-40" dirty="0"/>
              <a:t> </a:t>
            </a:r>
            <a:r>
              <a:rPr dirty="0"/>
              <a:t>skills,</a:t>
            </a:r>
            <a:r>
              <a:rPr spc="-35" dirty="0"/>
              <a:t> </a:t>
            </a:r>
            <a:r>
              <a:rPr dirty="0"/>
              <a:t>skill</a:t>
            </a:r>
            <a:r>
              <a:rPr spc="-40" dirty="0"/>
              <a:t> </a:t>
            </a:r>
            <a:r>
              <a:rPr dirty="0"/>
              <a:t>alias</a:t>
            </a:r>
            <a:r>
              <a:rPr spc="-35" dirty="0"/>
              <a:t> </a:t>
            </a:r>
            <a:r>
              <a:rPr spc="-10" dirty="0"/>
              <a:t>normalization</a:t>
            </a:r>
            <a:r>
              <a:rPr spc="-40" dirty="0"/>
              <a:t> </a:t>
            </a:r>
            <a:r>
              <a:rPr dirty="0"/>
              <a:t>maps,</a:t>
            </a:r>
            <a:r>
              <a:rPr spc="-3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educational </a:t>
            </a:r>
            <a:r>
              <a:rPr dirty="0"/>
              <a:t>degree</a:t>
            </a:r>
            <a:r>
              <a:rPr spc="-70" dirty="0"/>
              <a:t> </a:t>
            </a:r>
            <a:r>
              <a:rPr spc="-10" dirty="0"/>
              <a:t>hierarchies.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 marR="5080" indent="127000">
              <a:lnSpc>
                <a:spcPct val="100000"/>
              </a:lnSpc>
              <a:spcBef>
                <a:spcPts val="8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Forward</a:t>
            </a:r>
            <a:r>
              <a:rPr sz="1400" b="1" spc="-4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Chaining</a:t>
            </a:r>
            <a:r>
              <a:rPr sz="1400" b="1" spc="-3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Engine</a:t>
            </a:r>
            <a:r>
              <a:rPr sz="1400" b="1" spc="-3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Built:</a:t>
            </a:r>
            <a:r>
              <a:rPr sz="1400" b="1" spc="28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pc="-10" dirty="0"/>
              <a:t>Developed</a:t>
            </a:r>
            <a:r>
              <a:rPr spc="-35" dirty="0"/>
              <a:t> </a:t>
            </a:r>
            <a:r>
              <a:rPr spc="-10" dirty="0"/>
              <a:t>deterministic multi-</a:t>
            </a:r>
            <a:r>
              <a:rPr dirty="0"/>
              <a:t>criteria</a:t>
            </a:r>
            <a:r>
              <a:rPr spc="-40" dirty="0"/>
              <a:t> </a:t>
            </a:r>
            <a:r>
              <a:rPr dirty="0"/>
              <a:t>scoring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candidate</a:t>
            </a:r>
            <a:r>
              <a:rPr spc="-40" dirty="0"/>
              <a:t> </a:t>
            </a:r>
            <a:r>
              <a:rPr dirty="0"/>
              <a:t>ranking</a:t>
            </a:r>
            <a:r>
              <a:rPr spc="-40" dirty="0"/>
              <a:t> </a:t>
            </a:r>
            <a:r>
              <a:rPr dirty="0"/>
              <a:t>logic</a:t>
            </a:r>
            <a:r>
              <a:rPr spc="-3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10" dirty="0"/>
              <a:t>rule_engine.py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candidate_ranker.py.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 marR="167640" indent="127000">
              <a:lnSpc>
                <a:spcPct val="100000"/>
              </a:lnSpc>
              <a:spcBef>
                <a:spcPts val="8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Zero-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ML</a:t>
            </a:r>
            <a:r>
              <a:rPr sz="1400" b="1" spc="-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Resume</a:t>
            </a:r>
            <a:r>
              <a:rPr sz="14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Parser</a:t>
            </a:r>
            <a:r>
              <a:rPr sz="1400" b="1" spc="-2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Tested:</a:t>
            </a:r>
            <a:r>
              <a:rPr sz="1400" b="1" spc="33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pc="-10" dirty="0"/>
              <a:t>Engineered</a:t>
            </a:r>
            <a:r>
              <a:rPr spc="-20" dirty="0"/>
              <a:t> </a:t>
            </a:r>
            <a:r>
              <a:rPr spc="-10" dirty="0"/>
              <a:t>deterministic document</a:t>
            </a:r>
            <a:r>
              <a:rPr spc="-30" dirty="0"/>
              <a:t> </a:t>
            </a:r>
            <a:r>
              <a:rPr dirty="0"/>
              <a:t>parsing</a:t>
            </a:r>
            <a:r>
              <a:rPr spc="-30" dirty="0"/>
              <a:t> </a:t>
            </a:r>
            <a:r>
              <a:rPr spc="-10" dirty="0"/>
              <a:t>pipeline</a:t>
            </a:r>
            <a:r>
              <a:rPr spc="-3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spc="-10" dirty="0"/>
              <a:t>PDF/DOCX</a:t>
            </a:r>
            <a:r>
              <a:rPr spc="-30" dirty="0"/>
              <a:t> </a:t>
            </a:r>
            <a:r>
              <a:rPr spc="-10" dirty="0"/>
              <a:t>resumes</a:t>
            </a:r>
            <a:r>
              <a:rPr spc="-30" dirty="0"/>
              <a:t> </a:t>
            </a:r>
            <a:r>
              <a:rPr dirty="0"/>
              <a:t>using</a:t>
            </a:r>
            <a:r>
              <a:rPr spc="-25" dirty="0"/>
              <a:t> </a:t>
            </a:r>
            <a:r>
              <a:rPr spc="-10" dirty="0"/>
              <a:t>PyPDF2 </a:t>
            </a:r>
            <a:r>
              <a:rPr dirty="0"/>
              <a:t>and</a:t>
            </a:r>
            <a:r>
              <a:rPr spc="-20" dirty="0"/>
              <a:t> python-</a:t>
            </a:r>
            <a:r>
              <a:rPr dirty="0"/>
              <a:t>docx</a:t>
            </a:r>
            <a:r>
              <a:rPr spc="-25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10" dirty="0"/>
              <a:t>regex.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 marR="317500" indent="127000">
              <a:lnSpc>
                <a:spcPct val="100000"/>
              </a:lnSpc>
              <a:spcBef>
                <a:spcPts val="8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Database</a:t>
            </a:r>
            <a:r>
              <a:rPr sz="1400" b="1" spc="-3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3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RLS</a:t>
            </a:r>
            <a:r>
              <a:rPr sz="1400" b="1" spc="-25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Schema</a:t>
            </a:r>
            <a:r>
              <a:rPr sz="1400" b="1" spc="-3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Defined:</a:t>
            </a:r>
            <a:r>
              <a:rPr sz="1400" b="1" spc="330" dirty="0">
                <a:solidFill>
                  <a:srgbClr val="16A34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dirty="0"/>
              <a:t>FastAPI</a:t>
            </a:r>
            <a:r>
              <a:rPr spc="-30" dirty="0"/>
              <a:t> </a:t>
            </a:r>
            <a:r>
              <a:rPr spc="-10" dirty="0"/>
              <a:t>endpoints</a:t>
            </a:r>
            <a:r>
              <a:rPr spc="-25" dirty="0"/>
              <a:t> and </a:t>
            </a:r>
            <a:r>
              <a:rPr spc="-10" dirty="0"/>
              <a:t>Supabase</a:t>
            </a:r>
            <a:r>
              <a:rPr spc="-25" dirty="0"/>
              <a:t> </a:t>
            </a:r>
            <a:r>
              <a:rPr spc="-10" dirty="0"/>
              <a:t>PostgreSQL</a:t>
            </a:r>
            <a:r>
              <a:rPr spc="-20" dirty="0"/>
              <a:t> </a:t>
            </a:r>
            <a:r>
              <a:rPr dirty="0"/>
              <a:t>schema</a:t>
            </a:r>
            <a:r>
              <a:rPr spc="-25" dirty="0"/>
              <a:t> </a:t>
            </a:r>
            <a:r>
              <a:rPr dirty="0"/>
              <a:t>with</a:t>
            </a:r>
            <a:r>
              <a:rPr spc="-20" dirty="0"/>
              <a:t> Row-</a:t>
            </a:r>
            <a:r>
              <a:rPr dirty="0"/>
              <a:t>Level</a:t>
            </a:r>
            <a:r>
              <a:rPr spc="-25" dirty="0"/>
              <a:t> </a:t>
            </a:r>
            <a:r>
              <a:rPr spc="-10" dirty="0"/>
              <a:t>Security</a:t>
            </a:r>
            <a:r>
              <a:rPr spc="-20" dirty="0"/>
              <a:t> </a:t>
            </a:r>
            <a:r>
              <a:rPr spc="-10" dirty="0"/>
              <a:t>(RLS) established.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95827" y="1207915"/>
            <a:ext cx="5448300" cy="5036820"/>
            <a:chOff x="6195827" y="1207915"/>
            <a:chExt cx="5448300" cy="5036820"/>
          </a:xfrm>
        </p:grpSpPr>
        <p:pic>
          <p:nvPicPr>
            <p:cNvPr id="15" name="object 1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95827" y="1207915"/>
              <a:ext cx="5448290" cy="50368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45352" y="1234439"/>
              <a:ext cx="5349240" cy="4937760"/>
            </a:xfrm>
            <a:custGeom>
              <a:avLst/>
              <a:gdLst/>
              <a:ahLst/>
              <a:cxnLst/>
              <a:rect l="l" t="t" r="r" b="b"/>
              <a:pathLst>
                <a:path w="5349240" h="4937760">
                  <a:moveTo>
                    <a:pt x="4526263" y="4937759"/>
                  </a:moveTo>
                  <a:lnTo>
                    <a:pt x="822975" y="4937759"/>
                  </a:lnTo>
                  <a:lnTo>
                    <a:pt x="774619" y="4936362"/>
                  </a:lnTo>
                  <a:lnTo>
                    <a:pt x="726999" y="4932223"/>
                  </a:lnTo>
                  <a:lnTo>
                    <a:pt x="680192" y="4925418"/>
                  </a:lnTo>
                  <a:lnTo>
                    <a:pt x="634275" y="4916024"/>
                  </a:lnTo>
                  <a:lnTo>
                    <a:pt x="589325" y="4904120"/>
                  </a:lnTo>
                  <a:lnTo>
                    <a:pt x="545420" y="4889781"/>
                  </a:lnTo>
                  <a:lnTo>
                    <a:pt x="502636" y="4873086"/>
                  </a:lnTo>
                  <a:lnTo>
                    <a:pt x="461052" y="4854111"/>
                  </a:lnTo>
                  <a:lnTo>
                    <a:pt x="420743" y="4832934"/>
                  </a:lnTo>
                  <a:lnTo>
                    <a:pt x="381788" y="4809632"/>
                  </a:lnTo>
                  <a:lnTo>
                    <a:pt x="344263" y="4784282"/>
                  </a:lnTo>
                  <a:lnTo>
                    <a:pt x="308246" y="4756961"/>
                  </a:lnTo>
                  <a:lnTo>
                    <a:pt x="273814" y="4727746"/>
                  </a:lnTo>
                  <a:lnTo>
                    <a:pt x="241044" y="4696715"/>
                  </a:lnTo>
                  <a:lnTo>
                    <a:pt x="210013" y="4663945"/>
                  </a:lnTo>
                  <a:lnTo>
                    <a:pt x="180798" y="4629513"/>
                  </a:lnTo>
                  <a:lnTo>
                    <a:pt x="153477" y="4593496"/>
                  </a:lnTo>
                  <a:lnTo>
                    <a:pt x="128127" y="4555971"/>
                  </a:lnTo>
                  <a:lnTo>
                    <a:pt x="104825" y="4517016"/>
                  </a:lnTo>
                  <a:lnTo>
                    <a:pt x="83648" y="4476707"/>
                  </a:lnTo>
                  <a:lnTo>
                    <a:pt x="64673" y="4435123"/>
                  </a:lnTo>
                  <a:lnTo>
                    <a:pt x="47978" y="4392339"/>
                  </a:lnTo>
                  <a:lnTo>
                    <a:pt x="33639" y="4348434"/>
                  </a:lnTo>
                  <a:lnTo>
                    <a:pt x="21735" y="4303484"/>
                  </a:lnTo>
                  <a:lnTo>
                    <a:pt x="12341" y="4257567"/>
                  </a:lnTo>
                  <a:lnTo>
                    <a:pt x="5536" y="4210759"/>
                  </a:lnTo>
                  <a:lnTo>
                    <a:pt x="1397" y="4163139"/>
                  </a:lnTo>
                  <a:lnTo>
                    <a:pt x="0" y="4114783"/>
                  </a:lnTo>
                  <a:lnTo>
                    <a:pt x="0" y="822976"/>
                  </a:lnTo>
                  <a:lnTo>
                    <a:pt x="1397" y="774620"/>
                  </a:lnTo>
                  <a:lnTo>
                    <a:pt x="5536" y="727000"/>
                  </a:lnTo>
                  <a:lnTo>
                    <a:pt x="12341" y="680192"/>
                  </a:lnTo>
                  <a:lnTo>
                    <a:pt x="21735" y="634275"/>
                  </a:lnTo>
                  <a:lnTo>
                    <a:pt x="33639" y="589325"/>
                  </a:lnTo>
                  <a:lnTo>
                    <a:pt x="47978" y="545420"/>
                  </a:lnTo>
                  <a:lnTo>
                    <a:pt x="64673" y="502636"/>
                  </a:lnTo>
                  <a:lnTo>
                    <a:pt x="83648" y="461052"/>
                  </a:lnTo>
                  <a:lnTo>
                    <a:pt x="104825" y="420743"/>
                  </a:lnTo>
                  <a:lnTo>
                    <a:pt x="128127" y="381788"/>
                  </a:lnTo>
                  <a:lnTo>
                    <a:pt x="153477" y="344263"/>
                  </a:lnTo>
                  <a:lnTo>
                    <a:pt x="180798" y="308246"/>
                  </a:lnTo>
                  <a:lnTo>
                    <a:pt x="210013" y="273814"/>
                  </a:lnTo>
                  <a:lnTo>
                    <a:pt x="241044" y="241044"/>
                  </a:lnTo>
                  <a:lnTo>
                    <a:pt x="273814" y="210013"/>
                  </a:lnTo>
                  <a:lnTo>
                    <a:pt x="308246" y="180798"/>
                  </a:lnTo>
                  <a:lnTo>
                    <a:pt x="344263" y="153477"/>
                  </a:lnTo>
                  <a:lnTo>
                    <a:pt x="381788" y="128127"/>
                  </a:lnTo>
                  <a:lnTo>
                    <a:pt x="420743" y="104825"/>
                  </a:lnTo>
                  <a:lnTo>
                    <a:pt x="461052" y="83648"/>
                  </a:lnTo>
                  <a:lnTo>
                    <a:pt x="502636" y="64673"/>
                  </a:lnTo>
                  <a:lnTo>
                    <a:pt x="545420" y="47978"/>
                  </a:lnTo>
                  <a:lnTo>
                    <a:pt x="589325" y="33639"/>
                  </a:lnTo>
                  <a:lnTo>
                    <a:pt x="634275" y="21735"/>
                  </a:lnTo>
                  <a:lnTo>
                    <a:pt x="680192" y="12341"/>
                  </a:lnTo>
                  <a:lnTo>
                    <a:pt x="726999" y="5536"/>
                  </a:lnTo>
                  <a:lnTo>
                    <a:pt x="774619" y="1397"/>
                  </a:lnTo>
                  <a:lnTo>
                    <a:pt x="822975" y="0"/>
                  </a:lnTo>
                  <a:lnTo>
                    <a:pt x="4526263" y="0"/>
                  </a:lnTo>
                  <a:lnTo>
                    <a:pt x="4576453" y="1530"/>
                  </a:lnTo>
                  <a:lnTo>
                    <a:pt x="4626199" y="6087"/>
                  </a:lnTo>
                  <a:lnTo>
                    <a:pt x="4675377" y="13618"/>
                  </a:lnTo>
                  <a:lnTo>
                    <a:pt x="4723860" y="24070"/>
                  </a:lnTo>
                  <a:lnTo>
                    <a:pt x="4771522" y="37393"/>
                  </a:lnTo>
                  <a:lnTo>
                    <a:pt x="4818238" y="53534"/>
                  </a:lnTo>
                  <a:lnTo>
                    <a:pt x="4863883" y="72441"/>
                  </a:lnTo>
                  <a:lnTo>
                    <a:pt x="4908329" y="94061"/>
                  </a:lnTo>
                  <a:lnTo>
                    <a:pt x="4951452" y="118343"/>
                  </a:lnTo>
                  <a:lnTo>
                    <a:pt x="4993126" y="145234"/>
                  </a:lnTo>
                  <a:lnTo>
                    <a:pt x="5033225" y="174682"/>
                  </a:lnTo>
                  <a:lnTo>
                    <a:pt x="5071623" y="206636"/>
                  </a:lnTo>
                  <a:lnTo>
                    <a:pt x="5108195" y="241044"/>
                  </a:lnTo>
                  <a:lnTo>
                    <a:pt x="5142602" y="277615"/>
                  </a:lnTo>
                  <a:lnTo>
                    <a:pt x="5174556" y="316014"/>
                  </a:lnTo>
                  <a:lnTo>
                    <a:pt x="5204005" y="356112"/>
                  </a:lnTo>
                  <a:lnTo>
                    <a:pt x="5230897" y="397786"/>
                  </a:lnTo>
                  <a:lnTo>
                    <a:pt x="5255178" y="440910"/>
                  </a:lnTo>
                  <a:lnTo>
                    <a:pt x="5276799" y="485356"/>
                  </a:lnTo>
                  <a:lnTo>
                    <a:pt x="5295705" y="531001"/>
                  </a:lnTo>
                  <a:lnTo>
                    <a:pt x="5311846" y="577717"/>
                  </a:lnTo>
                  <a:lnTo>
                    <a:pt x="5325169" y="625379"/>
                  </a:lnTo>
                  <a:lnTo>
                    <a:pt x="5335622" y="673862"/>
                  </a:lnTo>
                  <a:lnTo>
                    <a:pt x="5343153" y="723040"/>
                  </a:lnTo>
                  <a:lnTo>
                    <a:pt x="5347709" y="772786"/>
                  </a:lnTo>
                  <a:lnTo>
                    <a:pt x="5349240" y="822976"/>
                  </a:lnTo>
                  <a:lnTo>
                    <a:pt x="5349240" y="4114783"/>
                  </a:lnTo>
                  <a:lnTo>
                    <a:pt x="5347843" y="4163139"/>
                  </a:lnTo>
                  <a:lnTo>
                    <a:pt x="5343703" y="4210759"/>
                  </a:lnTo>
                  <a:lnTo>
                    <a:pt x="5336898" y="4257567"/>
                  </a:lnTo>
                  <a:lnTo>
                    <a:pt x="5327505" y="4303484"/>
                  </a:lnTo>
                  <a:lnTo>
                    <a:pt x="5315600" y="4348434"/>
                  </a:lnTo>
                  <a:lnTo>
                    <a:pt x="5301261" y="4392339"/>
                  </a:lnTo>
                  <a:lnTo>
                    <a:pt x="5284566" y="4435123"/>
                  </a:lnTo>
                  <a:lnTo>
                    <a:pt x="5265592" y="4476707"/>
                  </a:lnTo>
                  <a:lnTo>
                    <a:pt x="5244414" y="4517016"/>
                  </a:lnTo>
                  <a:lnTo>
                    <a:pt x="5221112" y="4555971"/>
                  </a:lnTo>
                  <a:lnTo>
                    <a:pt x="5195762" y="4593496"/>
                  </a:lnTo>
                  <a:lnTo>
                    <a:pt x="5168441" y="4629513"/>
                  </a:lnTo>
                  <a:lnTo>
                    <a:pt x="5139226" y="4663945"/>
                  </a:lnTo>
                  <a:lnTo>
                    <a:pt x="5108195" y="4696715"/>
                  </a:lnTo>
                  <a:lnTo>
                    <a:pt x="5075425" y="4727746"/>
                  </a:lnTo>
                  <a:lnTo>
                    <a:pt x="5040993" y="4756961"/>
                  </a:lnTo>
                  <a:lnTo>
                    <a:pt x="5004976" y="4784282"/>
                  </a:lnTo>
                  <a:lnTo>
                    <a:pt x="4967451" y="4809632"/>
                  </a:lnTo>
                  <a:lnTo>
                    <a:pt x="4928496" y="4832934"/>
                  </a:lnTo>
                  <a:lnTo>
                    <a:pt x="4888187" y="4854111"/>
                  </a:lnTo>
                  <a:lnTo>
                    <a:pt x="4846602" y="4873086"/>
                  </a:lnTo>
                  <a:lnTo>
                    <a:pt x="4803819" y="4889781"/>
                  </a:lnTo>
                  <a:lnTo>
                    <a:pt x="4759914" y="4904120"/>
                  </a:lnTo>
                  <a:lnTo>
                    <a:pt x="4714964" y="4916024"/>
                  </a:lnTo>
                  <a:lnTo>
                    <a:pt x="4669047" y="4925418"/>
                  </a:lnTo>
                  <a:lnTo>
                    <a:pt x="4622239" y="4932223"/>
                  </a:lnTo>
                  <a:lnTo>
                    <a:pt x="4574619" y="4936362"/>
                  </a:lnTo>
                  <a:lnTo>
                    <a:pt x="4526263" y="49377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245352" y="1234439"/>
              <a:ext cx="5349240" cy="4937760"/>
            </a:xfrm>
            <a:custGeom>
              <a:avLst/>
              <a:gdLst/>
              <a:ahLst/>
              <a:cxnLst/>
              <a:rect l="l" t="t" r="r" b="b"/>
              <a:pathLst>
                <a:path w="5349240" h="4937760">
                  <a:moveTo>
                    <a:pt x="0" y="822976"/>
                  </a:moveTo>
                  <a:lnTo>
                    <a:pt x="1397" y="774620"/>
                  </a:lnTo>
                  <a:lnTo>
                    <a:pt x="5536" y="727000"/>
                  </a:lnTo>
                  <a:lnTo>
                    <a:pt x="12341" y="680192"/>
                  </a:lnTo>
                  <a:lnTo>
                    <a:pt x="21735" y="634275"/>
                  </a:lnTo>
                  <a:lnTo>
                    <a:pt x="33639" y="589325"/>
                  </a:lnTo>
                  <a:lnTo>
                    <a:pt x="47978" y="545420"/>
                  </a:lnTo>
                  <a:lnTo>
                    <a:pt x="64673" y="502636"/>
                  </a:lnTo>
                  <a:lnTo>
                    <a:pt x="83648" y="461052"/>
                  </a:lnTo>
                  <a:lnTo>
                    <a:pt x="104825" y="420743"/>
                  </a:lnTo>
                  <a:lnTo>
                    <a:pt x="128127" y="381788"/>
                  </a:lnTo>
                  <a:lnTo>
                    <a:pt x="153477" y="344263"/>
                  </a:lnTo>
                  <a:lnTo>
                    <a:pt x="180798" y="308246"/>
                  </a:lnTo>
                  <a:lnTo>
                    <a:pt x="210013" y="273814"/>
                  </a:lnTo>
                  <a:lnTo>
                    <a:pt x="241044" y="241044"/>
                  </a:lnTo>
                  <a:lnTo>
                    <a:pt x="273814" y="210013"/>
                  </a:lnTo>
                  <a:lnTo>
                    <a:pt x="308246" y="180798"/>
                  </a:lnTo>
                  <a:lnTo>
                    <a:pt x="344263" y="153477"/>
                  </a:lnTo>
                  <a:lnTo>
                    <a:pt x="381788" y="128127"/>
                  </a:lnTo>
                  <a:lnTo>
                    <a:pt x="420743" y="104825"/>
                  </a:lnTo>
                  <a:lnTo>
                    <a:pt x="461052" y="83648"/>
                  </a:lnTo>
                  <a:lnTo>
                    <a:pt x="502636" y="64673"/>
                  </a:lnTo>
                  <a:lnTo>
                    <a:pt x="545420" y="47978"/>
                  </a:lnTo>
                  <a:lnTo>
                    <a:pt x="589325" y="33639"/>
                  </a:lnTo>
                  <a:lnTo>
                    <a:pt x="634275" y="21735"/>
                  </a:lnTo>
                  <a:lnTo>
                    <a:pt x="680192" y="12341"/>
                  </a:lnTo>
                  <a:lnTo>
                    <a:pt x="726999" y="5536"/>
                  </a:lnTo>
                  <a:lnTo>
                    <a:pt x="774619" y="1397"/>
                  </a:lnTo>
                  <a:lnTo>
                    <a:pt x="822975" y="0"/>
                  </a:lnTo>
                  <a:lnTo>
                    <a:pt x="4526263" y="0"/>
                  </a:lnTo>
                  <a:lnTo>
                    <a:pt x="4576453" y="1530"/>
                  </a:lnTo>
                  <a:lnTo>
                    <a:pt x="4626199" y="6087"/>
                  </a:lnTo>
                  <a:lnTo>
                    <a:pt x="4675377" y="13618"/>
                  </a:lnTo>
                  <a:lnTo>
                    <a:pt x="4723860" y="24070"/>
                  </a:lnTo>
                  <a:lnTo>
                    <a:pt x="4771522" y="37393"/>
                  </a:lnTo>
                  <a:lnTo>
                    <a:pt x="4818238" y="53534"/>
                  </a:lnTo>
                  <a:lnTo>
                    <a:pt x="4863883" y="72441"/>
                  </a:lnTo>
                  <a:lnTo>
                    <a:pt x="4908329" y="94061"/>
                  </a:lnTo>
                  <a:lnTo>
                    <a:pt x="4951452" y="118343"/>
                  </a:lnTo>
                  <a:lnTo>
                    <a:pt x="4993126" y="145234"/>
                  </a:lnTo>
                  <a:lnTo>
                    <a:pt x="5033225" y="174682"/>
                  </a:lnTo>
                  <a:lnTo>
                    <a:pt x="5071623" y="206636"/>
                  </a:lnTo>
                  <a:lnTo>
                    <a:pt x="5108195" y="241044"/>
                  </a:lnTo>
                  <a:lnTo>
                    <a:pt x="5142602" y="277615"/>
                  </a:lnTo>
                  <a:lnTo>
                    <a:pt x="5174556" y="316014"/>
                  </a:lnTo>
                  <a:lnTo>
                    <a:pt x="5204005" y="356112"/>
                  </a:lnTo>
                  <a:lnTo>
                    <a:pt x="5230897" y="397786"/>
                  </a:lnTo>
                  <a:lnTo>
                    <a:pt x="5255178" y="440910"/>
                  </a:lnTo>
                  <a:lnTo>
                    <a:pt x="5276799" y="485356"/>
                  </a:lnTo>
                  <a:lnTo>
                    <a:pt x="5295705" y="531001"/>
                  </a:lnTo>
                  <a:lnTo>
                    <a:pt x="5311846" y="577717"/>
                  </a:lnTo>
                  <a:lnTo>
                    <a:pt x="5325169" y="625379"/>
                  </a:lnTo>
                  <a:lnTo>
                    <a:pt x="5335622" y="673862"/>
                  </a:lnTo>
                  <a:lnTo>
                    <a:pt x="5343153" y="723040"/>
                  </a:lnTo>
                  <a:lnTo>
                    <a:pt x="5347709" y="772786"/>
                  </a:lnTo>
                  <a:lnTo>
                    <a:pt x="5349240" y="822976"/>
                  </a:lnTo>
                  <a:lnTo>
                    <a:pt x="5349240" y="4114783"/>
                  </a:lnTo>
                  <a:lnTo>
                    <a:pt x="5347843" y="4163139"/>
                  </a:lnTo>
                  <a:lnTo>
                    <a:pt x="5343703" y="4210759"/>
                  </a:lnTo>
                  <a:lnTo>
                    <a:pt x="5336898" y="4257567"/>
                  </a:lnTo>
                  <a:lnTo>
                    <a:pt x="5327505" y="4303484"/>
                  </a:lnTo>
                  <a:lnTo>
                    <a:pt x="5315600" y="4348434"/>
                  </a:lnTo>
                  <a:lnTo>
                    <a:pt x="5301261" y="4392339"/>
                  </a:lnTo>
                  <a:lnTo>
                    <a:pt x="5284566" y="4435123"/>
                  </a:lnTo>
                  <a:lnTo>
                    <a:pt x="5265592" y="4476707"/>
                  </a:lnTo>
                  <a:lnTo>
                    <a:pt x="5244414" y="4517016"/>
                  </a:lnTo>
                  <a:lnTo>
                    <a:pt x="5221112" y="4555971"/>
                  </a:lnTo>
                  <a:lnTo>
                    <a:pt x="5195762" y="4593496"/>
                  </a:lnTo>
                  <a:lnTo>
                    <a:pt x="5168441" y="4629513"/>
                  </a:lnTo>
                  <a:lnTo>
                    <a:pt x="5139226" y="4663945"/>
                  </a:lnTo>
                  <a:lnTo>
                    <a:pt x="5108195" y="4696715"/>
                  </a:lnTo>
                  <a:lnTo>
                    <a:pt x="5075425" y="4727746"/>
                  </a:lnTo>
                  <a:lnTo>
                    <a:pt x="5040993" y="4756961"/>
                  </a:lnTo>
                  <a:lnTo>
                    <a:pt x="5004976" y="4784282"/>
                  </a:lnTo>
                  <a:lnTo>
                    <a:pt x="4967451" y="4809632"/>
                  </a:lnTo>
                  <a:lnTo>
                    <a:pt x="4928496" y="4832934"/>
                  </a:lnTo>
                  <a:lnTo>
                    <a:pt x="4888187" y="4854111"/>
                  </a:lnTo>
                  <a:lnTo>
                    <a:pt x="4846602" y="4873086"/>
                  </a:lnTo>
                  <a:lnTo>
                    <a:pt x="4803819" y="4889781"/>
                  </a:lnTo>
                  <a:lnTo>
                    <a:pt x="4759914" y="4904120"/>
                  </a:lnTo>
                  <a:lnTo>
                    <a:pt x="4714964" y="4916024"/>
                  </a:lnTo>
                  <a:lnTo>
                    <a:pt x="4669047" y="4925418"/>
                  </a:lnTo>
                  <a:lnTo>
                    <a:pt x="4622239" y="4932223"/>
                  </a:lnTo>
                  <a:lnTo>
                    <a:pt x="4574619" y="4936362"/>
                  </a:lnTo>
                  <a:lnTo>
                    <a:pt x="4526263" y="4937759"/>
                  </a:lnTo>
                  <a:lnTo>
                    <a:pt x="822975" y="4937759"/>
                  </a:lnTo>
                  <a:lnTo>
                    <a:pt x="774619" y="4936362"/>
                  </a:lnTo>
                  <a:lnTo>
                    <a:pt x="726999" y="4932223"/>
                  </a:lnTo>
                  <a:lnTo>
                    <a:pt x="680192" y="4925418"/>
                  </a:lnTo>
                  <a:lnTo>
                    <a:pt x="634275" y="4916024"/>
                  </a:lnTo>
                  <a:lnTo>
                    <a:pt x="589325" y="4904120"/>
                  </a:lnTo>
                  <a:lnTo>
                    <a:pt x="545420" y="4889781"/>
                  </a:lnTo>
                  <a:lnTo>
                    <a:pt x="502636" y="4873086"/>
                  </a:lnTo>
                  <a:lnTo>
                    <a:pt x="461052" y="4854111"/>
                  </a:lnTo>
                  <a:lnTo>
                    <a:pt x="420743" y="4832934"/>
                  </a:lnTo>
                  <a:lnTo>
                    <a:pt x="381788" y="4809632"/>
                  </a:lnTo>
                  <a:lnTo>
                    <a:pt x="344263" y="4784282"/>
                  </a:lnTo>
                  <a:lnTo>
                    <a:pt x="308246" y="4756961"/>
                  </a:lnTo>
                  <a:lnTo>
                    <a:pt x="273814" y="4727746"/>
                  </a:lnTo>
                  <a:lnTo>
                    <a:pt x="241044" y="4696715"/>
                  </a:lnTo>
                  <a:lnTo>
                    <a:pt x="210013" y="4663945"/>
                  </a:lnTo>
                  <a:lnTo>
                    <a:pt x="180798" y="4629513"/>
                  </a:lnTo>
                  <a:lnTo>
                    <a:pt x="153477" y="4593496"/>
                  </a:lnTo>
                  <a:lnTo>
                    <a:pt x="128127" y="4555971"/>
                  </a:lnTo>
                  <a:lnTo>
                    <a:pt x="104825" y="4517016"/>
                  </a:lnTo>
                  <a:lnTo>
                    <a:pt x="83648" y="4476707"/>
                  </a:lnTo>
                  <a:lnTo>
                    <a:pt x="64673" y="4435123"/>
                  </a:lnTo>
                  <a:lnTo>
                    <a:pt x="47978" y="4392339"/>
                  </a:lnTo>
                  <a:lnTo>
                    <a:pt x="33639" y="4348434"/>
                  </a:lnTo>
                  <a:lnTo>
                    <a:pt x="21735" y="4303484"/>
                  </a:lnTo>
                  <a:lnTo>
                    <a:pt x="12341" y="4257567"/>
                  </a:lnTo>
                  <a:lnTo>
                    <a:pt x="5536" y="4210759"/>
                  </a:lnTo>
                  <a:lnTo>
                    <a:pt x="1397" y="4163139"/>
                  </a:lnTo>
                  <a:lnTo>
                    <a:pt x="0" y="4114783"/>
                  </a:lnTo>
                  <a:lnTo>
                    <a:pt x="0" y="822976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6200589" y="1212677"/>
            <a:ext cx="5438775" cy="528955"/>
            <a:chOff x="6200589" y="1212677"/>
            <a:chExt cx="5438775" cy="52895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0589" y="1212677"/>
              <a:ext cx="5438765" cy="52843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45352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45352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64352" y="1357807"/>
              <a:ext cx="221258" cy="208243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613093" y="1332166"/>
            <a:ext cx="28416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REVIEW</a:t>
            </a:r>
            <a:r>
              <a:rPr sz="1400" b="1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400" b="1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FINAL</a:t>
            </a:r>
            <a:r>
              <a:rPr sz="1400" b="1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REVIEW</a:t>
            </a:r>
            <a:r>
              <a:rPr sz="1400" b="1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ROADMAP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6855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Full</a:t>
            </a:r>
            <a:r>
              <a:rPr sz="1400" b="1" spc="-3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React</a:t>
            </a:r>
            <a:r>
              <a:rPr sz="14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Frontend</a:t>
            </a:r>
            <a:r>
              <a:rPr sz="14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Integration:</a:t>
            </a:r>
            <a:r>
              <a:rPr sz="1400" b="1" spc="32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pc="-10" dirty="0"/>
              <a:t>Complete</a:t>
            </a:r>
            <a:r>
              <a:rPr spc="-30" dirty="0"/>
              <a:t> </a:t>
            </a:r>
            <a:r>
              <a:rPr spc="-20" dirty="0"/>
              <a:t>end-to-</a:t>
            </a:r>
            <a:r>
              <a:rPr spc="-25" dirty="0"/>
              <a:t>end </a:t>
            </a:r>
            <a:r>
              <a:rPr spc="-10" dirty="0"/>
              <a:t>integration</a:t>
            </a:r>
            <a:r>
              <a:rPr spc="-30" dirty="0"/>
              <a:t> </a:t>
            </a:r>
            <a:r>
              <a:rPr spc="-10" dirty="0"/>
              <a:t>connecting</a:t>
            </a:r>
            <a:r>
              <a:rPr spc="-30" dirty="0"/>
              <a:t> </a:t>
            </a:r>
            <a:r>
              <a:rPr spc="-10" dirty="0"/>
              <a:t>Candidate</a:t>
            </a:r>
            <a:r>
              <a:rPr spc="-25" dirty="0"/>
              <a:t> </a:t>
            </a:r>
            <a:r>
              <a:rPr dirty="0"/>
              <a:t>(Port</a:t>
            </a:r>
            <a:r>
              <a:rPr spc="-30" dirty="0"/>
              <a:t> </a:t>
            </a:r>
            <a:r>
              <a:rPr dirty="0"/>
              <a:t>5173)</a:t>
            </a:r>
            <a:r>
              <a:rPr spc="-3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HR</a:t>
            </a:r>
            <a:r>
              <a:rPr spc="-30" dirty="0"/>
              <a:t> </a:t>
            </a:r>
            <a:r>
              <a:rPr dirty="0"/>
              <a:t>(Port</a:t>
            </a:r>
            <a:r>
              <a:rPr spc="-25" dirty="0"/>
              <a:t> </a:t>
            </a:r>
            <a:r>
              <a:rPr spc="-10" dirty="0"/>
              <a:t>5174) </a:t>
            </a:r>
            <a:r>
              <a:rPr dirty="0"/>
              <a:t>React</a:t>
            </a:r>
            <a:r>
              <a:rPr spc="-35" dirty="0"/>
              <a:t> </a:t>
            </a:r>
            <a:r>
              <a:rPr dirty="0"/>
              <a:t>SPAs</a:t>
            </a:r>
            <a:r>
              <a:rPr spc="-30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dirty="0"/>
              <a:t>live</a:t>
            </a:r>
            <a:r>
              <a:rPr spc="-30" dirty="0"/>
              <a:t> </a:t>
            </a:r>
            <a:r>
              <a:rPr spc="-10" dirty="0"/>
              <a:t>backend</a:t>
            </a:r>
            <a:r>
              <a:rPr spc="-30" dirty="0"/>
              <a:t> </a:t>
            </a:r>
            <a:r>
              <a:rPr dirty="0"/>
              <a:t>API</a:t>
            </a:r>
            <a:r>
              <a:rPr spc="-30" dirty="0"/>
              <a:t> </a:t>
            </a:r>
            <a:r>
              <a:rPr spc="-10" dirty="0"/>
              <a:t>(Review</a:t>
            </a:r>
            <a:r>
              <a:rPr spc="-30" dirty="0"/>
              <a:t> </a:t>
            </a:r>
            <a:r>
              <a:rPr spc="-25" dirty="0"/>
              <a:t>2).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 marR="5080" indent="127000">
              <a:lnSpc>
                <a:spcPct val="100000"/>
              </a:lnSpc>
              <a:spcBef>
                <a:spcPts val="8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Live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File</a:t>
            </a:r>
            <a:r>
              <a:rPr sz="1400" b="1" spc="-2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Upload</a:t>
            </a:r>
            <a:r>
              <a:rPr sz="1400" b="1" spc="-2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2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Real-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Time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Parsing:</a:t>
            </a:r>
            <a:r>
              <a:rPr sz="1400" b="1" spc="39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dirty="0"/>
              <a:t>Enable</a:t>
            </a:r>
            <a:r>
              <a:rPr spc="-20" dirty="0"/>
              <a:t> drag-and-drop </a:t>
            </a:r>
            <a:r>
              <a:rPr dirty="0"/>
              <a:t>resume</a:t>
            </a:r>
            <a:r>
              <a:rPr spc="-40" dirty="0"/>
              <a:t> </a:t>
            </a:r>
            <a:r>
              <a:rPr spc="-10" dirty="0"/>
              <a:t>ingestion</a:t>
            </a:r>
            <a:r>
              <a:rPr spc="-3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Candidate</a:t>
            </a:r>
            <a:r>
              <a:rPr spc="-35" dirty="0"/>
              <a:t> </a:t>
            </a:r>
            <a:r>
              <a:rPr dirty="0"/>
              <a:t>UI</a:t>
            </a:r>
            <a:r>
              <a:rPr spc="-40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instant</a:t>
            </a:r>
            <a:r>
              <a:rPr spc="-35" dirty="0"/>
              <a:t> </a:t>
            </a:r>
            <a:r>
              <a:rPr dirty="0"/>
              <a:t>match</a:t>
            </a:r>
            <a:r>
              <a:rPr spc="-40" dirty="0"/>
              <a:t> </a:t>
            </a:r>
            <a:r>
              <a:rPr spc="-10" dirty="0"/>
              <a:t>percentage preview (Review</a:t>
            </a:r>
            <a:r>
              <a:rPr spc="-5" dirty="0"/>
              <a:t> </a:t>
            </a:r>
            <a:r>
              <a:rPr spc="-25" dirty="0"/>
              <a:t>2).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 marR="283845" indent="127000" algn="just">
              <a:lnSpc>
                <a:spcPct val="100000"/>
              </a:lnSpc>
              <a:spcBef>
                <a:spcPts val="8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Dynamic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Recruiter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Rule</a:t>
            </a:r>
            <a:r>
              <a:rPr sz="1400" b="1" spc="-2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Weighting:</a:t>
            </a:r>
            <a:r>
              <a:rPr sz="1400" b="1" spc="35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dirty="0"/>
              <a:t>Allow</a:t>
            </a:r>
            <a:r>
              <a:rPr spc="-25" dirty="0"/>
              <a:t> </a:t>
            </a:r>
            <a:r>
              <a:rPr dirty="0"/>
              <a:t>HR</a:t>
            </a:r>
            <a:r>
              <a:rPr spc="-25" dirty="0"/>
              <a:t> </a:t>
            </a:r>
            <a:r>
              <a:rPr spc="-10" dirty="0"/>
              <a:t>recruiters</a:t>
            </a:r>
            <a:r>
              <a:rPr spc="-20" dirty="0"/>
              <a:t> </a:t>
            </a:r>
            <a:r>
              <a:rPr spc="-25" dirty="0"/>
              <a:t>to </a:t>
            </a:r>
            <a:r>
              <a:rPr spc="-10" dirty="0"/>
              <a:t>customize</a:t>
            </a:r>
            <a:r>
              <a:rPr spc="-30" dirty="0"/>
              <a:t> </a:t>
            </a:r>
            <a:r>
              <a:rPr dirty="0"/>
              <a:t>criteria</a:t>
            </a:r>
            <a:r>
              <a:rPr spc="-25" dirty="0"/>
              <a:t> </a:t>
            </a:r>
            <a:r>
              <a:rPr spc="-10" dirty="0"/>
              <a:t>weights</a:t>
            </a:r>
            <a:r>
              <a:rPr spc="-25" dirty="0"/>
              <a:t> </a:t>
            </a:r>
            <a:r>
              <a:rPr dirty="0"/>
              <a:t>(Skills,</a:t>
            </a:r>
            <a:r>
              <a:rPr spc="-25" dirty="0"/>
              <a:t> </a:t>
            </a:r>
            <a:r>
              <a:rPr spc="-10" dirty="0"/>
              <a:t>Experience,</a:t>
            </a:r>
            <a:r>
              <a:rPr spc="-25" dirty="0"/>
              <a:t> </a:t>
            </a:r>
            <a:r>
              <a:rPr spc="-10" dirty="0"/>
              <a:t>Education)</a:t>
            </a:r>
            <a:r>
              <a:rPr spc="-25" dirty="0"/>
              <a:t> </a:t>
            </a:r>
            <a:r>
              <a:rPr dirty="0"/>
              <a:t>per</a:t>
            </a:r>
            <a:r>
              <a:rPr spc="-25" dirty="0"/>
              <a:t> job </a:t>
            </a:r>
            <a:r>
              <a:rPr dirty="0"/>
              <a:t>post</a:t>
            </a:r>
            <a:r>
              <a:rPr spc="-25" dirty="0"/>
              <a:t> </a:t>
            </a:r>
            <a:r>
              <a:rPr dirty="0"/>
              <a:t>via</a:t>
            </a:r>
            <a:r>
              <a:rPr spc="-20" dirty="0"/>
              <a:t> </a:t>
            </a:r>
            <a:r>
              <a:rPr spc="-10" dirty="0"/>
              <a:t>dashboard</a:t>
            </a:r>
            <a:r>
              <a:rPr spc="-20" dirty="0"/>
              <a:t> </a:t>
            </a:r>
            <a:r>
              <a:rPr spc="-10" dirty="0"/>
              <a:t>(Review</a:t>
            </a:r>
            <a:r>
              <a:rPr spc="-20" dirty="0"/>
              <a:t> </a:t>
            </a:r>
            <a:r>
              <a:rPr spc="-25" dirty="0"/>
              <a:t>2).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 marR="400050" indent="127000">
              <a:lnSpc>
                <a:spcPct val="100000"/>
              </a:lnSpc>
              <a:spcBef>
                <a:spcPts val="8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Empirical</a:t>
            </a:r>
            <a:r>
              <a:rPr sz="1400" b="1" spc="-4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Performance</a:t>
            </a:r>
            <a:r>
              <a:rPr sz="1400" b="1" spc="-4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Benchmarking:</a:t>
            </a:r>
            <a:r>
              <a:rPr sz="1400" b="1" spc="35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pc="-10" dirty="0"/>
              <a:t>Validate</a:t>
            </a:r>
            <a:r>
              <a:rPr spc="-40" dirty="0"/>
              <a:t> </a:t>
            </a:r>
            <a:r>
              <a:rPr dirty="0"/>
              <a:t>on</a:t>
            </a:r>
            <a:r>
              <a:rPr spc="-35" dirty="0"/>
              <a:t> </a:t>
            </a:r>
            <a:r>
              <a:rPr spc="-20" dirty="0"/>
              <a:t>100+ </a:t>
            </a:r>
            <a:r>
              <a:rPr spc="-10" dirty="0"/>
              <a:t>synthetic</a:t>
            </a:r>
            <a:r>
              <a:rPr spc="-30" dirty="0"/>
              <a:t> </a:t>
            </a:r>
            <a:r>
              <a:rPr spc="-10" dirty="0"/>
              <a:t>resumes</a:t>
            </a:r>
            <a:r>
              <a:rPr spc="-30" dirty="0"/>
              <a:t> </a:t>
            </a:r>
            <a:r>
              <a:rPr dirty="0"/>
              <a:t>against</a:t>
            </a:r>
            <a:r>
              <a:rPr spc="-25" dirty="0"/>
              <a:t> </a:t>
            </a:r>
            <a:r>
              <a:rPr dirty="0"/>
              <a:t>manual</a:t>
            </a:r>
            <a:r>
              <a:rPr spc="-30" dirty="0"/>
              <a:t> </a:t>
            </a:r>
            <a:r>
              <a:rPr dirty="0"/>
              <a:t>HR</a:t>
            </a:r>
            <a:r>
              <a:rPr spc="-25" dirty="0"/>
              <a:t> </a:t>
            </a:r>
            <a:r>
              <a:rPr spc="-10" dirty="0"/>
              <a:t>screening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0" dirty="0"/>
              <a:t>measure screening</a:t>
            </a:r>
            <a:r>
              <a:rPr spc="-35" dirty="0"/>
              <a:t> </a:t>
            </a:r>
            <a:r>
              <a:rPr dirty="0"/>
              <a:t>speed,</a:t>
            </a:r>
            <a:r>
              <a:rPr spc="-35" dirty="0"/>
              <a:t> </a:t>
            </a:r>
            <a:r>
              <a:rPr spc="-10" dirty="0"/>
              <a:t>consistency,</a:t>
            </a:r>
            <a:r>
              <a:rPr spc="-3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zero</a:t>
            </a:r>
            <a:r>
              <a:rPr spc="-30" dirty="0"/>
              <a:t> </a:t>
            </a:r>
            <a:r>
              <a:rPr dirty="0"/>
              <a:t>bias</a:t>
            </a:r>
            <a:r>
              <a:rPr spc="-35" dirty="0"/>
              <a:t> </a:t>
            </a:r>
            <a:r>
              <a:rPr spc="-10" dirty="0"/>
              <a:t>(Final).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 marR="67310" indent="127000">
              <a:lnSpc>
                <a:spcPct val="100000"/>
              </a:lnSpc>
              <a:spcBef>
                <a:spcPts val="8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Final</a:t>
            </a:r>
            <a:r>
              <a:rPr sz="1400" b="1" spc="-3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Documentation</a:t>
            </a:r>
            <a:r>
              <a:rPr sz="14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Viva</a:t>
            </a:r>
            <a:r>
              <a:rPr sz="14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Defense:</a:t>
            </a:r>
            <a:r>
              <a:rPr sz="1400" b="1" spc="37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pc="-10" dirty="0"/>
              <a:t>Prepare</a:t>
            </a:r>
            <a:r>
              <a:rPr spc="-30" dirty="0"/>
              <a:t> </a:t>
            </a:r>
            <a:r>
              <a:rPr dirty="0"/>
              <a:t>final</a:t>
            </a:r>
            <a:r>
              <a:rPr spc="-30" dirty="0"/>
              <a:t> </a:t>
            </a:r>
            <a:r>
              <a:rPr spc="-10" dirty="0"/>
              <a:t>project documentation,</a:t>
            </a:r>
            <a:r>
              <a:rPr spc="-35" dirty="0"/>
              <a:t> </a:t>
            </a:r>
            <a:r>
              <a:rPr dirty="0"/>
              <a:t>demo</a:t>
            </a:r>
            <a:r>
              <a:rPr spc="-30" dirty="0"/>
              <a:t> </a:t>
            </a:r>
            <a:r>
              <a:rPr dirty="0"/>
              <a:t>video,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comprehensive</a:t>
            </a:r>
            <a:r>
              <a:rPr spc="-30" dirty="0"/>
              <a:t> </a:t>
            </a:r>
            <a:r>
              <a:rPr spc="-10" dirty="0"/>
              <a:t>technical</a:t>
            </a:r>
            <a:r>
              <a:rPr spc="-30" dirty="0"/>
              <a:t> </a:t>
            </a:r>
            <a:r>
              <a:rPr spc="-10" dirty="0"/>
              <a:t>defense presentation (Final).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100" dirty="0"/>
              <a:t> </a:t>
            </a:r>
            <a:r>
              <a:rPr spc="-20" dirty="0"/>
              <a:t>Work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11468165" y="155447"/>
            <a:ext cx="205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16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835" y="1207915"/>
            <a:ext cx="5448300" cy="2522220"/>
            <a:chOff x="544835" y="1207915"/>
            <a:chExt cx="5448300" cy="252222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1207915"/>
              <a:ext cx="5448290" cy="25222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234439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4945371" y="2423159"/>
                  </a:moveTo>
                  <a:lnTo>
                    <a:pt x="403868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5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8"/>
                  </a:ln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8" y="0"/>
                  </a:lnTo>
                  <a:lnTo>
                    <a:pt x="4945371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2"/>
                  </a:lnTo>
                  <a:lnTo>
                    <a:pt x="5349239" y="403868"/>
                  </a:lnTo>
                  <a:lnTo>
                    <a:pt x="5349239" y="2019291"/>
                  </a:lnTo>
                  <a:lnTo>
                    <a:pt x="5346522" y="2066391"/>
                  </a:lnTo>
                  <a:lnTo>
                    <a:pt x="5338573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4" y="2271890"/>
                  </a:lnTo>
                  <a:lnTo>
                    <a:pt x="5230949" y="2304869"/>
                  </a:lnTo>
                  <a:lnTo>
                    <a:pt x="5197970" y="2334434"/>
                  </a:lnTo>
                  <a:lnTo>
                    <a:pt x="5161880" y="2360282"/>
                  </a:lnTo>
                  <a:lnTo>
                    <a:pt x="5122982" y="2382110"/>
                  </a:lnTo>
                  <a:lnTo>
                    <a:pt x="5081579" y="2399615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1" y="24231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359" y="1234439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0" y="403868"/>
                  </a:move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8" y="0"/>
                  </a:lnTo>
                  <a:lnTo>
                    <a:pt x="4945371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2"/>
                  </a:lnTo>
                  <a:lnTo>
                    <a:pt x="5349239" y="403868"/>
                  </a:lnTo>
                  <a:lnTo>
                    <a:pt x="5349239" y="2019291"/>
                  </a:lnTo>
                  <a:lnTo>
                    <a:pt x="5346522" y="2066391"/>
                  </a:lnTo>
                  <a:lnTo>
                    <a:pt x="5338573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4" y="2271890"/>
                  </a:lnTo>
                  <a:lnTo>
                    <a:pt x="5230949" y="2304869"/>
                  </a:lnTo>
                  <a:lnTo>
                    <a:pt x="5197970" y="2334434"/>
                  </a:lnTo>
                  <a:lnTo>
                    <a:pt x="5161880" y="2360282"/>
                  </a:lnTo>
                  <a:lnTo>
                    <a:pt x="5122982" y="2382110"/>
                  </a:lnTo>
                  <a:lnTo>
                    <a:pt x="5081579" y="2399615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1" y="2423159"/>
                  </a:lnTo>
                  <a:lnTo>
                    <a:pt x="403868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5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8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549597" y="1212677"/>
            <a:ext cx="5438775" cy="528955"/>
            <a:chOff x="549597" y="1212677"/>
            <a:chExt cx="5438775" cy="52895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7" y="1212677"/>
              <a:ext cx="5438765" cy="5284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59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4359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994819" y="1332166"/>
            <a:ext cx="25241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Segoe UI Symbol" panose="020B0502040204020203"/>
                <a:cs typeface="Segoe UI Symbol" panose="020B0502040204020203"/>
              </a:rPr>
              <a:t>⚙</a:t>
            </a:r>
            <a:r>
              <a:rPr sz="1400" spc="-55" dirty="0">
                <a:solidFill>
                  <a:srgbClr val="FFFFFF"/>
                </a:solidFill>
                <a:latin typeface="Segoe UI Symbol" panose="020B0502040204020203"/>
                <a:cs typeface="Segoe UI Symbol" panose="020B0502040204020203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DYNAMIC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RULE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AUTHORING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UI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924" y="2243327"/>
            <a:ext cx="46012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245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No-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Code</a:t>
            </a:r>
            <a:r>
              <a:rPr sz="140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Rule</a:t>
            </a:r>
            <a:r>
              <a:rPr sz="1400" b="1" spc="-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Builder:</a:t>
            </a:r>
            <a:r>
              <a:rPr sz="1400" b="1" spc="2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Empower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non-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technical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HR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recruiters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create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custom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IF–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THEN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business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through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intuitive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drag-and-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drop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visual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interface.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5080" indent="127000">
              <a:lnSpc>
                <a:spcPct val="100000"/>
              </a:lnSpc>
              <a:spcBef>
                <a:spcPts val="595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Custom</a:t>
            </a:r>
            <a:r>
              <a:rPr sz="14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Hiring</a:t>
            </a:r>
            <a:r>
              <a:rPr sz="14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Criteria:</a:t>
            </a:r>
            <a:r>
              <a:rPr sz="1400" b="1" spc="2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Support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role-specific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constraints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such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as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niche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certifications,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security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clearances,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location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radius.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95827" y="1207915"/>
            <a:ext cx="5448300" cy="2522220"/>
            <a:chOff x="6195827" y="1207915"/>
            <a:chExt cx="5448300" cy="2522220"/>
          </a:xfrm>
        </p:grpSpPr>
        <p:pic>
          <p:nvPicPr>
            <p:cNvPr id="15" name="object 1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95827" y="1207915"/>
              <a:ext cx="5448290" cy="25222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45352" y="1234439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4945372" y="2423159"/>
                  </a:moveTo>
                  <a:lnTo>
                    <a:pt x="403867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5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8"/>
                  </a:ln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7" y="0"/>
                  </a:lnTo>
                  <a:lnTo>
                    <a:pt x="4945372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2"/>
                  </a:lnTo>
                  <a:lnTo>
                    <a:pt x="5349240" y="403868"/>
                  </a:lnTo>
                  <a:lnTo>
                    <a:pt x="5349240" y="2019291"/>
                  </a:lnTo>
                  <a:lnTo>
                    <a:pt x="5346523" y="2066391"/>
                  </a:lnTo>
                  <a:lnTo>
                    <a:pt x="5338574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5" y="2271890"/>
                  </a:lnTo>
                  <a:lnTo>
                    <a:pt x="5230950" y="2304869"/>
                  </a:lnTo>
                  <a:lnTo>
                    <a:pt x="5197971" y="2334434"/>
                  </a:lnTo>
                  <a:lnTo>
                    <a:pt x="5161881" y="2360282"/>
                  </a:lnTo>
                  <a:lnTo>
                    <a:pt x="5122983" y="2382110"/>
                  </a:lnTo>
                  <a:lnTo>
                    <a:pt x="5081580" y="2399615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2" y="24231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245352" y="1234439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0" y="403868"/>
                  </a:move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7" y="0"/>
                  </a:lnTo>
                  <a:lnTo>
                    <a:pt x="4945372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2"/>
                  </a:lnTo>
                  <a:lnTo>
                    <a:pt x="5349240" y="403868"/>
                  </a:lnTo>
                  <a:lnTo>
                    <a:pt x="5349240" y="2019291"/>
                  </a:lnTo>
                  <a:lnTo>
                    <a:pt x="5346523" y="2066391"/>
                  </a:lnTo>
                  <a:lnTo>
                    <a:pt x="5338574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5" y="2271890"/>
                  </a:lnTo>
                  <a:lnTo>
                    <a:pt x="5230950" y="2304869"/>
                  </a:lnTo>
                  <a:lnTo>
                    <a:pt x="5197971" y="2334434"/>
                  </a:lnTo>
                  <a:lnTo>
                    <a:pt x="5161881" y="2360282"/>
                  </a:lnTo>
                  <a:lnTo>
                    <a:pt x="5122983" y="2382110"/>
                  </a:lnTo>
                  <a:lnTo>
                    <a:pt x="5081580" y="2399615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2" y="2423159"/>
                  </a:lnTo>
                  <a:lnTo>
                    <a:pt x="403867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5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8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6200589" y="1212677"/>
            <a:ext cx="5438775" cy="528955"/>
            <a:chOff x="6200589" y="1212677"/>
            <a:chExt cx="5438775" cy="52895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0589" y="1212677"/>
              <a:ext cx="5438765" cy="52843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45352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5276086" y="438911"/>
                  </a:move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45352" y="1234439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19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5"/>
                  </a:lnTo>
                  <a:lnTo>
                    <a:pt x="5304561" y="433163"/>
                  </a:lnTo>
                  <a:lnTo>
                    <a:pt x="5276086" y="438911"/>
                  </a:lnTo>
                  <a:lnTo>
                    <a:pt x="73153" y="438911"/>
                  </a:lnTo>
                  <a:lnTo>
                    <a:pt x="44678" y="433163"/>
                  </a:lnTo>
                  <a:lnTo>
                    <a:pt x="21426" y="417485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0302" y="1357807"/>
              <a:ext cx="221258" cy="208243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599043" y="1332166"/>
            <a:ext cx="28670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MULTI-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LINGUAL</a:t>
            </a:r>
            <a:r>
              <a:rPr sz="1400" b="1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RESUME EXTRACTION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31916" y="2243327"/>
            <a:ext cx="44577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Cross-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Language</a:t>
            </a:r>
            <a:r>
              <a:rPr sz="140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Parsing:</a:t>
            </a:r>
            <a:r>
              <a:rPr sz="1400" b="1" spc="2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Extend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regex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5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word-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boundary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tokenizers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parse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resumes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multiple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languages without external</a:t>
            </a:r>
            <a:r>
              <a:rPr sz="13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APIs.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17145" indent="127000">
              <a:lnSpc>
                <a:spcPct val="100000"/>
              </a:lnSpc>
              <a:spcBef>
                <a:spcPts val="6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4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Cloud</a:t>
            </a:r>
            <a:r>
              <a:rPr sz="14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Dependency:</a:t>
            </a:r>
            <a:r>
              <a:rPr sz="1400" b="1" spc="254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Maintain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high-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speed,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cost-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free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local processing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across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global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recruitment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pools.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44835" y="3722513"/>
            <a:ext cx="5448300" cy="2522220"/>
            <a:chOff x="544835" y="3722513"/>
            <a:chExt cx="5448300" cy="2522220"/>
          </a:xfrm>
        </p:grpSpPr>
        <p:pic>
          <p:nvPicPr>
            <p:cNvPr id="26" name="object 2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3722513"/>
              <a:ext cx="5448290" cy="252221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94359" y="3749038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4945371" y="2423159"/>
                  </a:moveTo>
                  <a:lnTo>
                    <a:pt x="403868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4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7"/>
                  </a:ln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8" y="0"/>
                  </a:lnTo>
                  <a:lnTo>
                    <a:pt x="4945371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1"/>
                  </a:lnTo>
                  <a:lnTo>
                    <a:pt x="5349239" y="403867"/>
                  </a:lnTo>
                  <a:lnTo>
                    <a:pt x="5349239" y="2019291"/>
                  </a:lnTo>
                  <a:lnTo>
                    <a:pt x="5346522" y="2066391"/>
                  </a:lnTo>
                  <a:lnTo>
                    <a:pt x="5338573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4" y="2271890"/>
                  </a:lnTo>
                  <a:lnTo>
                    <a:pt x="5230949" y="2304869"/>
                  </a:lnTo>
                  <a:lnTo>
                    <a:pt x="5197970" y="2334434"/>
                  </a:lnTo>
                  <a:lnTo>
                    <a:pt x="5161880" y="2360282"/>
                  </a:lnTo>
                  <a:lnTo>
                    <a:pt x="5122982" y="2382110"/>
                  </a:lnTo>
                  <a:lnTo>
                    <a:pt x="5081579" y="2399614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1" y="24231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94359" y="3749038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0" y="403867"/>
                  </a:move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8" y="0"/>
                  </a:lnTo>
                  <a:lnTo>
                    <a:pt x="4945371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1"/>
                  </a:lnTo>
                  <a:lnTo>
                    <a:pt x="5349239" y="403867"/>
                  </a:lnTo>
                  <a:lnTo>
                    <a:pt x="5349239" y="2019291"/>
                  </a:lnTo>
                  <a:lnTo>
                    <a:pt x="5346522" y="2066391"/>
                  </a:lnTo>
                  <a:lnTo>
                    <a:pt x="5338573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4" y="2271890"/>
                  </a:lnTo>
                  <a:lnTo>
                    <a:pt x="5230949" y="2304869"/>
                  </a:lnTo>
                  <a:lnTo>
                    <a:pt x="5197970" y="2334434"/>
                  </a:lnTo>
                  <a:lnTo>
                    <a:pt x="5161880" y="2360282"/>
                  </a:lnTo>
                  <a:lnTo>
                    <a:pt x="5122982" y="2382110"/>
                  </a:lnTo>
                  <a:lnTo>
                    <a:pt x="5081579" y="2399614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1" y="2423159"/>
                  </a:lnTo>
                  <a:lnTo>
                    <a:pt x="403868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4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7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549597" y="3727276"/>
            <a:ext cx="5438775" cy="528955"/>
            <a:chOff x="549597" y="3727276"/>
            <a:chExt cx="5438775" cy="528955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7" y="3727276"/>
              <a:ext cx="5438765" cy="52843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94359" y="3749038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5276086" y="438912"/>
                  </a:moveTo>
                  <a:lnTo>
                    <a:pt x="73153" y="438912"/>
                  </a:lnTo>
                  <a:lnTo>
                    <a:pt x="44678" y="433163"/>
                  </a:lnTo>
                  <a:lnTo>
                    <a:pt x="21426" y="417486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6"/>
                  </a:lnTo>
                  <a:lnTo>
                    <a:pt x="5304561" y="433163"/>
                  </a:lnTo>
                  <a:lnTo>
                    <a:pt x="5276086" y="438912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94359" y="3749038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2" y="12290"/>
                  </a:lnTo>
                  <a:lnTo>
                    <a:pt x="5343671" y="45158"/>
                  </a:lnTo>
                  <a:lnTo>
                    <a:pt x="5349239" y="73153"/>
                  </a:lnTo>
                  <a:lnTo>
                    <a:pt x="5349239" y="365758"/>
                  </a:lnTo>
                  <a:lnTo>
                    <a:pt x="5343491" y="394233"/>
                  </a:lnTo>
                  <a:lnTo>
                    <a:pt x="5327813" y="417486"/>
                  </a:lnTo>
                  <a:lnTo>
                    <a:pt x="5304561" y="433163"/>
                  </a:lnTo>
                  <a:lnTo>
                    <a:pt x="5276086" y="438912"/>
                  </a:lnTo>
                  <a:lnTo>
                    <a:pt x="73153" y="438912"/>
                  </a:lnTo>
                  <a:lnTo>
                    <a:pt x="44678" y="433163"/>
                  </a:lnTo>
                  <a:lnTo>
                    <a:pt x="21426" y="417486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0301" y="3872406"/>
              <a:ext cx="221258" cy="208243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2239042" y="3846765"/>
            <a:ext cx="2296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ATS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CONNECTORS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80924" y="4757927"/>
            <a:ext cx="47904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1400" b="1" spc="-4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Webhooks:</a:t>
            </a:r>
            <a:r>
              <a:rPr sz="1400" b="1" spc="204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Build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standard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REST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webhooks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connectors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seamlessly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integrate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enterprise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HR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systems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like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SAP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SuccessFactors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Workday.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33020" indent="127000">
              <a:lnSpc>
                <a:spcPct val="100000"/>
              </a:lnSpc>
              <a:spcBef>
                <a:spcPts val="6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Unified</a:t>
            </a:r>
            <a:r>
              <a:rPr sz="14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Pipeline:</a:t>
            </a:r>
            <a:r>
              <a:rPr sz="1400" b="1" spc="15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Enable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automated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candidate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ingestion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status synchronization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corporate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talent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directories.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195827" y="3722513"/>
            <a:ext cx="5448300" cy="2522220"/>
            <a:chOff x="6195827" y="3722513"/>
            <a:chExt cx="5448300" cy="2522220"/>
          </a:xfrm>
        </p:grpSpPr>
        <p:pic>
          <p:nvPicPr>
            <p:cNvPr id="37" name="object 3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95827" y="3722513"/>
              <a:ext cx="5448290" cy="252221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245352" y="3749038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4945372" y="2423159"/>
                  </a:moveTo>
                  <a:lnTo>
                    <a:pt x="403867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4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7"/>
                  </a:ln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7" y="0"/>
                  </a:lnTo>
                  <a:lnTo>
                    <a:pt x="4945372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1"/>
                  </a:lnTo>
                  <a:lnTo>
                    <a:pt x="5349240" y="403867"/>
                  </a:lnTo>
                  <a:lnTo>
                    <a:pt x="5349240" y="2019291"/>
                  </a:lnTo>
                  <a:lnTo>
                    <a:pt x="5346523" y="2066391"/>
                  </a:lnTo>
                  <a:lnTo>
                    <a:pt x="5338574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5" y="2271890"/>
                  </a:lnTo>
                  <a:lnTo>
                    <a:pt x="5230950" y="2304869"/>
                  </a:lnTo>
                  <a:lnTo>
                    <a:pt x="5197971" y="2334434"/>
                  </a:lnTo>
                  <a:lnTo>
                    <a:pt x="5161881" y="2360282"/>
                  </a:lnTo>
                  <a:lnTo>
                    <a:pt x="5122983" y="2382110"/>
                  </a:lnTo>
                  <a:lnTo>
                    <a:pt x="5081580" y="2399614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2" y="24231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245352" y="3749038"/>
              <a:ext cx="5349240" cy="2423160"/>
            </a:xfrm>
            <a:custGeom>
              <a:avLst/>
              <a:gdLst/>
              <a:ahLst/>
              <a:cxnLst/>
              <a:rect l="l" t="t" r="r" b="b"/>
              <a:pathLst>
                <a:path w="5349240" h="2423160">
                  <a:moveTo>
                    <a:pt x="0" y="403867"/>
                  </a:moveTo>
                  <a:lnTo>
                    <a:pt x="2717" y="356768"/>
                  </a:lnTo>
                  <a:lnTo>
                    <a:pt x="10666" y="311264"/>
                  </a:lnTo>
                  <a:lnTo>
                    <a:pt x="23544" y="267660"/>
                  </a:lnTo>
                  <a:lnTo>
                    <a:pt x="41049" y="226257"/>
                  </a:lnTo>
                  <a:lnTo>
                    <a:pt x="62877" y="187359"/>
                  </a:lnTo>
                  <a:lnTo>
                    <a:pt x="88725" y="151269"/>
                  </a:lnTo>
                  <a:lnTo>
                    <a:pt x="118290" y="118290"/>
                  </a:lnTo>
                  <a:lnTo>
                    <a:pt x="151269" y="88725"/>
                  </a:lnTo>
                  <a:lnTo>
                    <a:pt x="187359" y="62877"/>
                  </a:lnTo>
                  <a:lnTo>
                    <a:pt x="226257" y="41049"/>
                  </a:lnTo>
                  <a:lnTo>
                    <a:pt x="267660" y="23544"/>
                  </a:lnTo>
                  <a:lnTo>
                    <a:pt x="311264" y="10666"/>
                  </a:lnTo>
                  <a:lnTo>
                    <a:pt x="356768" y="2717"/>
                  </a:lnTo>
                  <a:lnTo>
                    <a:pt x="403867" y="0"/>
                  </a:lnTo>
                  <a:lnTo>
                    <a:pt x="4945372" y="0"/>
                  </a:lnTo>
                  <a:lnTo>
                    <a:pt x="4998458" y="3502"/>
                  </a:lnTo>
                  <a:lnTo>
                    <a:pt x="5050185" y="13836"/>
                  </a:lnTo>
                  <a:lnTo>
                    <a:pt x="5099925" y="30742"/>
                  </a:lnTo>
                  <a:lnTo>
                    <a:pt x="5147051" y="53960"/>
                  </a:lnTo>
                  <a:lnTo>
                    <a:pt x="5190935" y="83229"/>
                  </a:lnTo>
                  <a:lnTo>
                    <a:pt x="5230949" y="118290"/>
                  </a:lnTo>
                  <a:lnTo>
                    <a:pt x="5266010" y="158304"/>
                  </a:lnTo>
                  <a:lnTo>
                    <a:pt x="5295279" y="202188"/>
                  </a:lnTo>
                  <a:lnTo>
                    <a:pt x="5318497" y="249314"/>
                  </a:lnTo>
                  <a:lnTo>
                    <a:pt x="5335403" y="299054"/>
                  </a:lnTo>
                  <a:lnTo>
                    <a:pt x="5345737" y="350781"/>
                  </a:lnTo>
                  <a:lnTo>
                    <a:pt x="5349240" y="403867"/>
                  </a:lnTo>
                  <a:lnTo>
                    <a:pt x="5349240" y="2019291"/>
                  </a:lnTo>
                  <a:lnTo>
                    <a:pt x="5346523" y="2066391"/>
                  </a:lnTo>
                  <a:lnTo>
                    <a:pt x="5338574" y="2111895"/>
                  </a:lnTo>
                  <a:lnTo>
                    <a:pt x="5325695" y="2155499"/>
                  </a:lnTo>
                  <a:lnTo>
                    <a:pt x="5308190" y="2196902"/>
                  </a:lnTo>
                  <a:lnTo>
                    <a:pt x="5286362" y="2235800"/>
                  </a:lnTo>
                  <a:lnTo>
                    <a:pt x="5260515" y="2271890"/>
                  </a:lnTo>
                  <a:lnTo>
                    <a:pt x="5230950" y="2304869"/>
                  </a:lnTo>
                  <a:lnTo>
                    <a:pt x="5197971" y="2334434"/>
                  </a:lnTo>
                  <a:lnTo>
                    <a:pt x="5161881" y="2360282"/>
                  </a:lnTo>
                  <a:lnTo>
                    <a:pt x="5122983" y="2382110"/>
                  </a:lnTo>
                  <a:lnTo>
                    <a:pt x="5081580" y="2399614"/>
                  </a:lnTo>
                  <a:lnTo>
                    <a:pt x="5037975" y="2412493"/>
                  </a:lnTo>
                  <a:lnTo>
                    <a:pt x="4992471" y="2420442"/>
                  </a:lnTo>
                  <a:lnTo>
                    <a:pt x="4945372" y="2423159"/>
                  </a:lnTo>
                  <a:lnTo>
                    <a:pt x="403867" y="2423159"/>
                  </a:lnTo>
                  <a:lnTo>
                    <a:pt x="356768" y="2420442"/>
                  </a:lnTo>
                  <a:lnTo>
                    <a:pt x="311264" y="2412493"/>
                  </a:lnTo>
                  <a:lnTo>
                    <a:pt x="267660" y="2399614"/>
                  </a:lnTo>
                  <a:lnTo>
                    <a:pt x="226257" y="2382110"/>
                  </a:lnTo>
                  <a:lnTo>
                    <a:pt x="187359" y="2360282"/>
                  </a:lnTo>
                  <a:lnTo>
                    <a:pt x="151269" y="2334434"/>
                  </a:lnTo>
                  <a:lnTo>
                    <a:pt x="118290" y="2304869"/>
                  </a:lnTo>
                  <a:lnTo>
                    <a:pt x="88725" y="2271890"/>
                  </a:lnTo>
                  <a:lnTo>
                    <a:pt x="62877" y="2235800"/>
                  </a:lnTo>
                  <a:lnTo>
                    <a:pt x="41049" y="2196902"/>
                  </a:lnTo>
                  <a:lnTo>
                    <a:pt x="23544" y="2155499"/>
                  </a:lnTo>
                  <a:lnTo>
                    <a:pt x="10666" y="2111895"/>
                  </a:lnTo>
                  <a:lnTo>
                    <a:pt x="2717" y="2066391"/>
                  </a:lnTo>
                  <a:lnTo>
                    <a:pt x="0" y="2019291"/>
                  </a:lnTo>
                  <a:lnTo>
                    <a:pt x="0" y="403867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" name="object 41"/>
          <p:cNvGrpSpPr/>
          <p:nvPr/>
        </p:nvGrpSpPr>
        <p:grpSpPr>
          <a:xfrm>
            <a:off x="6200589" y="3727276"/>
            <a:ext cx="5438775" cy="528955"/>
            <a:chOff x="6200589" y="3727276"/>
            <a:chExt cx="5438775" cy="528955"/>
          </a:xfrm>
        </p:grpSpPr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0589" y="3727276"/>
              <a:ext cx="5438765" cy="52843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245352" y="3749038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5276086" y="438912"/>
                  </a:moveTo>
                  <a:lnTo>
                    <a:pt x="73153" y="438912"/>
                  </a:lnTo>
                  <a:lnTo>
                    <a:pt x="44678" y="433163"/>
                  </a:lnTo>
                  <a:lnTo>
                    <a:pt x="21426" y="417486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6"/>
                  </a:lnTo>
                  <a:lnTo>
                    <a:pt x="5304561" y="433163"/>
                  </a:lnTo>
                  <a:lnTo>
                    <a:pt x="5276086" y="438912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245352" y="3749038"/>
              <a:ext cx="5349240" cy="439420"/>
            </a:xfrm>
            <a:custGeom>
              <a:avLst/>
              <a:gdLst/>
              <a:ahLst/>
              <a:cxnLst/>
              <a:rect l="l" t="t" r="r" b="b"/>
              <a:pathLst>
                <a:path w="5349240" h="439420">
                  <a:moveTo>
                    <a:pt x="0" y="73153"/>
                  </a:moveTo>
                  <a:lnTo>
                    <a:pt x="5748" y="44678"/>
                  </a:lnTo>
                  <a:lnTo>
                    <a:pt x="21426" y="21426"/>
                  </a:lnTo>
                  <a:lnTo>
                    <a:pt x="44678" y="5748"/>
                  </a:lnTo>
                  <a:lnTo>
                    <a:pt x="73153" y="0"/>
                  </a:lnTo>
                  <a:lnTo>
                    <a:pt x="5276086" y="0"/>
                  </a:lnTo>
                  <a:lnTo>
                    <a:pt x="5316671" y="12290"/>
                  </a:lnTo>
                  <a:lnTo>
                    <a:pt x="5343671" y="45158"/>
                  </a:lnTo>
                  <a:lnTo>
                    <a:pt x="5349240" y="73153"/>
                  </a:lnTo>
                  <a:lnTo>
                    <a:pt x="5349240" y="365758"/>
                  </a:lnTo>
                  <a:lnTo>
                    <a:pt x="5343491" y="394233"/>
                  </a:lnTo>
                  <a:lnTo>
                    <a:pt x="5327814" y="417486"/>
                  </a:lnTo>
                  <a:lnTo>
                    <a:pt x="5304561" y="433163"/>
                  </a:lnTo>
                  <a:lnTo>
                    <a:pt x="5276086" y="438912"/>
                  </a:lnTo>
                  <a:lnTo>
                    <a:pt x="73153" y="438912"/>
                  </a:lnTo>
                  <a:lnTo>
                    <a:pt x="44678" y="433163"/>
                  </a:lnTo>
                  <a:lnTo>
                    <a:pt x="21426" y="417486"/>
                  </a:lnTo>
                  <a:lnTo>
                    <a:pt x="5748" y="394233"/>
                  </a:lnTo>
                  <a:lnTo>
                    <a:pt x="0" y="365758"/>
                  </a:lnTo>
                  <a:lnTo>
                    <a:pt x="0" y="73153"/>
                  </a:lnTo>
                  <a:close/>
                </a:path>
              </a:pathLst>
            </a:custGeom>
            <a:ln w="9524">
              <a:solidFill>
                <a:srgbClr val="16A34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82852" y="3872406"/>
              <a:ext cx="221258" cy="208243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7731593" y="3846765"/>
            <a:ext cx="26085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ONE-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CLICK</a:t>
            </a:r>
            <a:r>
              <a:rPr sz="1400" b="1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BIAS</a:t>
            </a:r>
            <a:r>
              <a:rPr sz="1400" b="1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AUDIT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REPORTING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531916" y="4856987"/>
            <a:ext cx="4792980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0">
              <a:lnSpc>
                <a:spcPct val="100000"/>
              </a:lnSpc>
              <a:spcBef>
                <a:spcPts val="1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Regulatory</a:t>
            </a:r>
            <a:r>
              <a:rPr sz="1400" b="1" spc="-4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Certification:</a:t>
            </a:r>
            <a:r>
              <a:rPr sz="1400" b="1" spc="21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Automatically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generate</a:t>
            </a:r>
            <a:r>
              <a:rPr sz="1300" spc="-4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cryptographically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signed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compliance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audit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reports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proving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300" spc="-4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demographic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bias.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186055" indent="127000">
              <a:lnSpc>
                <a:spcPct val="100000"/>
              </a:lnSpc>
              <a:spcBef>
                <a:spcPts val="600"/>
              </a:spcBef>
              <a:buChar char="•"/>
              <a:tabLst>
                <a:tab pos="139700" algn="l"/>
              </a:tabLst>
            </a:pP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Legal</a:t>
            </a:r>
            <a:r>
              <a:rPr sz="14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Verification:</a:t>
            </a:r>
            <a:r>
              <a:rPr sz="1400" b="1" spc="16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Directly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satisfies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NYC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Local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Law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144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EU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AI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Act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independent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algorithmic auditing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requirements.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468165" y="155447"/>
            <a:ext cx="205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17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835" y="1207915"/>
            <a:ext cx="11099800" cy="1424940"/>
            <a:chOff x="544835" y="1207915"/>
            <a:chExt cx="11099800" cy="142494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1207915"/>
              <a:ext cx="11099282" cy="14249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234439"/>
              <a:ext cx="11000740" cy="1325880"/>
            </a:xfrm>
            <a:custGeom>
              <a:avLst/>
              <a:gdLst/>
              <a:ahLst/>
              <a:cxnLst/>
              <a:rect l="l" t="t" r="r" b="b"/>
              <a:pathLst>
                <a:path w="11000740" h="1325880">
                  <a:moveTo>
                    <a:pt x="10779247" y="1325879"/>
                  </a:moveTo>
                  <a:lnTo>
                    <a:pt x="220984" y="1325879"/>
                  </a:lnTo>
                  <a:lnTo>
                    <a:pt x="176448" y="1321390"/>
                  </a:lnTo>
                  <a:lnTo>
                    <a:pt x="134967" y="1308513"/>
                  </a:lnTo>
                  <a:lnTo>
                    <a:pt x="97429" y="1288139"/>
                  </a:lnTo>
                  <a:lnTo>
                    <a:pt x="64724" y="1261155"/>
                  </a:lnTo>
                  <a:lnTo>
                    <a:pt x="37740" y="1228449"/>
                  </a:lnTo>
                  <a:lnTo>
                    <a:pt x="17366" y="1190912"/>
                  </a:lnTo>
                  <a:lnTo>
                    <a:pt x="4489" y="1149431"/>
                  </a:lnTo>
                  <a:lnTo>
                    <a:pt x="0" y="1104895"/>
                  </a:lnTo>
                  <a:lnTo>
                    <a:pt x="0" y="220984"/>
                  </a:lnTo>
                  <a:lnTo>
                    <a:pt x="4489" y="176448"/>
                  </a:lnTo>
                  <a:lnTo>
                    <a:pt x="17366" y="134967"/>
                  </a:lnTo>
                  <a:lnTo>
                    <a:pt x="37740" y="97429"/>
                  </a:lnTo>
                  <a:lnTo>
                    <a:pt x="64724" y="64724"/>
                  </a:lnTo>
                  <a:lnTo>
                    <a:pt x="97429" y="37740"/>
                  </a:lnTo>
                  <a:lnTo>
                    <a:pt x="134967" y="17366"/>
                  </a:lnTo>
                  <a:lnTo>
                    <a:pt x="176448" y="4489"/>
                  </a:lnTo>
                  <a:lnTo>
                    <a:pt x="220984" y="0"/>
                  </a:lnTo>
                  <a:lnTo>
                    <a:pt x="10779247" y="0"/>
                  </a:lnTo>
                  <a:lnTo>
                    <a:pt x="10822560" y="4285"/>
                  </a:lnTo>
                  <a:lnTo>
                    <a:pt x="10863814" y="16821"/>
                  </a:lnTo>
                  <a:lnTo>
                    <a:pt x="10901849" y="37127"/>
                  </a:lnTo>
                  <a:lnTo>
                    <a:pt x="10935507" y="64724"/>
                  </a:lnTo>
                  <a:lnTo>
                    <a:pt x="10963104" y="98382"/>
                  </a:lnTo>
                  <a:lnTo>
                    <a:pt x="10983410" y="136417"/>
                  </a:lnTo>
                  <a:lnTo>
                    <a:pt x="10995947" y="177671"/>
                  </a:lnTo>
                  <a:lnTo>
                    <a:pt x="11000232" y="220984"/>
                  </a:lnTo>
                  <a:lnTo>
                    <a:pt x="11000232" y="1104895"/>
                  </a:lnTo>
                  <a:lnTo>
                    <a:pt x="10995742" y="1149431"/>
                  </a:lnTo>
                  <a:lnTo>
                    <a:pt x="10982866" y="1190912"/>
                  </a:lnTo>
                  <a:lnTo>
                    <a:pt x="10962491" y="1228449"/>
                  </a:lnTo>
                  <a:lnTo>
                    <a:pt x="10935507" y="1261155"/>
                  </a:lnTo>
                  <a:lnTo>
                    <a:pt x="10902802" y="1288139"/>
                  </a:lnTo>
                  <a:lnTo>
                    <a:pt x="10865264" y="1308513"/>
                  </a:lnTo>
                  <a:lnTo>
                    <a:pt x="10823783" y="1321390"/>
                  </a:lnTo>
                  <a:lnTo>
                    <a:pt x="10779247" y="132587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359" y="1234439"/>
              <a:ext cx="11000740" cy="1325880"/>
            </a:xfrm>
            <a:custGeom>
              <a:avLst/>
              <a:gdLst/>
              <a:ahLst/>
              <a:cxnLst/>
              <a:rect l="l" t="t" r="r" b="b"/>
              <a:pathLst>
                <a:path w="11000740" h="1325880">
                  <a:moveTo>
                    <a:pt x="0" y="220984"/>
                  </a:moveTo>
                  <a:lnTo>
                    <a:pt x="4489" y="176448"/>
                  </a:lnTo>
                  <a:lnTo>
                    <a:pt x="17366" y="134967"/>
                  </a:lnTo>
                  <a:lnTo>
                    <a:pt x="37740" y="97429"/>
                  </a:lnTo>
                  <a:lnTo>
                    <a:pt x="64724" y="64724"/>
                  </a:lnTo>
                  <a:lnTo>
                    <a:pt x="97429" y="37740"/>
                  </a:lnTo>
                  <a:lnTo>
                    <a:pt x="134967" y="17366"/>
                  </a:lnTo>
                  <a:lnTo>
                    <a:pt x="176448" y="4489"/>
                  </a:lnTo>
                  <a:lnTo>
                    <a:pt x="220984" y="0"/>
                  </a:lnTo>
                  <a:lnTo>
                    <a:pt x="10779247" y="0"/>
                  </a:lnTo>
                  <a:lnTo>
                    <a:pt x="10822560" y="4285"/>
                  </a:lnTo>
                  <a:lnTo>
                    <a:pt x="10863814" y="16821"/>
                  </a:lnTo>
                  <a:lnTo>
                    <a:pt x="10901849" y="37127"/>
                  </a:lnTo>
                  <a:lnTo>
                    <a:pt x="10935507" y="64724"/>
                  </a:lnTo>
                  <a:lnTo>
                    <a:pt x="10963104" y="98382"/>
                  </a:lnTo>
                  <a:lnTo>
                    <a:pt x="10983410" y="136417"/>
                  </a:lnTo>
                  <a:lnTo>
                    <a:pt x="10995947" y="177671"/>
                  </a:lnTo>
                  <a:lnTo>
                    <a:pt x="11000232" y="220984"/>
                  </a:lnTo>
                  <a:lnTo>
                    <a:pt x="11000232" y="1104895"/>
                  </a:lnTo>
                  <a:lnTo>
                    <a:pt x="10995742" y="1149431"/>
                  </a:lnTo>
                  <a:lnTo>
                    <a:pt x="10982866" y="1190912"/>
                  </a:lnTo>
                  <a:lnTo>
                    <a:pt x="10962491" y="1228449"/>
                  </a:lnTo>
                  <a:lnTo>
                    <a:pt x="10935507" y="1261155"/>
                  </a:lnTo>
                  <a:lnTo>
                    <a:pt x="10902802" y="1288139"/>
                  </a:lnTo>
                  <a:lnTo>
                    <a:pt x="10865264" y="1308513"/>
                  </a:lnTo>
                  <a:lnTo>
                    <a:pt x="10823783" y="1321390"/>
                  </a:lnTo>
                  <a:lnTo>
                    <a:pt x="10779247" y="1325879"/>
                  </a:lnTo>
                  <a:lnTo>
                    <a:pt x="220984" y="1325879"/>
                  </a:lnTo>
                  <a:lnTo>
                    <a:pt x="176448" y="1321390"/>
                  </a:lnTo>
                  <a:lnTo>
                    <a:pt x="134967" y="1308513"/>
                  </a:lnTo>
                  <a:lnTo>
                    <a:pt x="97429" y="1288139"/>
                  </a:lnTo>
                  <a:lnTo>
                    <a:pt x="64724" y="1261155"/>
                  </a:lnTo>
                  <a:lnTo>
                    <a:pt x="37740" y="1228449"/>
                  </a:lnTo>
                  <a:lnTo>
                    <a:pt x="17366" y="1190912"/>
                  </a:lnTo>
                  <a:lnTo>
                    <a:pt x="4489" y="1149431"/>
                  </a:lnTo>
                  <a:lnTo>
                    <a:pt x="0" y="1104895"/>
                  </a:lnTo>
                  <a:lnTo>
                    <a:pt x="0" y="220984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549597" y="1212677"/>
            <a:ext cx="11090275" cy="455295"/>
            <a:chOff x="549597" y="1212677"/>
            <a:chExt cx="11090275" cy="4552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7" y="1212677"/>
              <a:ext cx="11089757" cy="45528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59" y="1234439"/>
              <a:ext cx="11000740" cy="365760"/>
            </a:xfrm>
            <a:custGeom>
              <a:avLst/>
              <a:gdLst/>
              <a:ahLst/>
              <a:cxnLst/>
              <a:rect l="l" t="t" r="r" b="b"/>
              <a:pathLst>
                <a:path w="11000740" h="365759">
                  <a:moveTo>
                    <a:pt x="10939270" y="365759"/>
                  </a:move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10939270" y="0"/>
                  </a:lnTo>
                  <a:lnTo>
                    <a:pt x="10982376" y="17855"/>
                  </a:lnTo>
                  <a:lnTo>
                    <a:pt x="11000232" y="60961"/>
                  </a:lnTo>
                  <a:lnTo>
                    <a:pt x="11000232" y="304798"/>
                  </a:lnTo>
                  <a:lnTo>
                    <a:pt x="10995441" y="328527"/>
                  </a:lnTo>
                  <a:lnTo>
                    <a:pt x="10982376" y="347904"/>
                  </a:lnTo>
                  <a:lnTo>
                    <a:pt x="10962999" y="360969"/>
                  </a:lnTo>
                  <a:lnTo>
                    <a:pt x="10939270" y="36575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4359" y="1234439"/>
              <a:ext cx="11000740" cy="365760"/>
            </a:xfrm>
            <a:custGeom>
              <a:avLst/>
              <a:gdLst/>
              <a:ahLst/>
              <a:cxnLst/>
              <a:rect l="l" t="t" r="r" b="b"/>
              <a:pathLst>
                <a:path w="11000740" h="365759">
                  <a:moveTo>
                    <a:pt x="0" y="60961"/>
                  </a:move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10939270" y="0"/>
                  </a:lnTo>
                  <a:lnTo>
                    <a:pt x="10982376" y="17855"/>
                  </a:lnTo>
                  <a:lnTo>
                    <a:pt x="11000232" y="60961"/>
                  </a:lnTo>
                  <a:lnTo>
                    <a:pt x="11000232" y="304798"/>
                  </a:lnTo>
                  <a:lnTo>
                    <a:pt x="10995441" y="328527"/>
                  </a:lnTo>
                  <a:lnTo>
                    <a:pt x="10982376" y="347904"/>
                  </a:lnTo>
                  <a:lnTo>
                    <a:pt x="10962999" y="360969"/>
                  </a:lnTo>
                  <a:lnTo>
                    <a:pt x="10939270" y="365759"/>
                  </a:ln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4790" y="1321231"/>
              <a:ext cx="221258" cy="20824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723531" y="1295590"/>
            <a:ext cx="29673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SCIENTIFIC</a:t>
            </a:r>
            <a:r>
              <a:rPr sz="1400" b="1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TECHNICAL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ACHIEVEMENT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1528" y="1879980"/>
            <a:ext cx="104787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21005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HireAI</a:t>
            </a:r>
            <a:r>
              <a:rPr sz="13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successfully</a:t>
            </a:r>
            <a:r>
              <a:rPr sz="13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demonstrates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that</a:t>
            </a:r>
            <a:r>
              <a:rPr sz="13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Classical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Artificial</a:t>
            </a:r>
            <a:r>
              <a:rPr sz="13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Intelligence—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specifically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Knowledge</a:t>
            </a:r>
            <a:r>
              <a:rPr sz="13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Representation,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Production</a:t>
            </a:r>
            <a:r>
              <a:rPr sz="13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Systems,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and</a:t>
            </a:r>
            <a:r>
              <a:rPr sz="130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Forward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Chaining—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remains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vastly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superior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black-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box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machine learning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high-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stakes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domains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where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explainability, auditability,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legal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fairness</a:t>
            </a:r>
            <a:r>
              <a:rPr sz="1300" spc="-1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mandatory.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4835" y="2670954"/>
            <a:ext cx="11099800" cy="1424940"/>
            <a:chOff x="544835" y="2670954"/>
            <a:chExt cx="11099800" cy="1424940"/>
          </a:xfrm>
        </p:grpSpPr>
        <p:pic>
          <p:nvPicPr>
            <p:cNvPr id="16" name="object 1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2670954"/>
              <a:ext cx="11099282" cy="142493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94359" y="2697479"/>
              <a:ext cx="11000740" cy="1325880"/>
            </a:xfrm>
            <a:custGeom>
              <a:avLst/>
              <a:gdLst/>
              <a:ahLst/>
              <a:cxnLst/>
              <a:rect l="l" t="t" r="r" b="b"/>
              <a:pathLst>
                <a:path w="11000740" h="1325879">
                  <a:moveTo>
                    <a:pt x="10779247" y="1325879"/>
                  </a:moveTo>
                  <a:lnTo>
                    <a:pt x="220984" y="1325879"/>
                  </a:lnTo>
                  <a:lnTo>
                    <a:pt x="176448" y="1321390"/>
                  </a:lnTo>
                  <a:lnTo>
                    <a:pt x="134967" y="1308513"/>
                  </a:lnTo>
                  <a:lnTo>
                    <a:pt x="97429" y="1288139"/>
                  </a:lnTo>
                  <a:lnTo>
                    <a:pt x="64724" y="1261155"/>
                  </a:lnTo>
                  <a:lnTo>
                    <a:pt x="37740" y="1228450"/>
                  </a:lnTo>
                  <a:lnTo>
                    <a:pt x="17366" y="1190912"/>
                  </a:lnTo>
                  <a:lnTo>
                    <a:pt x="4489" y="1149431"/>
                  </a:lnTo>
                  <a:lnTo>
                    <a:pt x="0" y="1104895"/>
                  </a:lnTo>
                  <a:lnTo>
                    <a:pt x="0" y="220984"/>
                  </a:lnTo>
                  <a:lnTo>
                    <a:pt x="4489" y="176448"/>
                  </a:lnTo>
                  <a:lnTo>
                    <a:pt x="17366" y="134967"/>
                  </a:lnTo>
                  <a:lnTo>
                    <a:pt x="37740" y="97430"/>
                  </a:lnTo>
                  <a:lnTo>
                    <a:pt x="64724" y="64724"/>
                  </a:lnTo>
                  <a:lnTo>
                    <a:pt x="97429" y="37740"/>
                  </a:lnTo>
                  <a:lnTo>
                    <a:pt x="134967" y="17366"/>
                  </a:lnTo>
                  <a:lnTo>
                    <a:pt x="176448" y="4489"/>
                  </a:lnTo>
                  <a:lnTo>
                    <a:pt x="220984" y="0"/>
                  </a:lnTo>
                  <a:lnTo>
                    <a:pt x="10779247" y="0"/>
                  </a:lnTo>
                  <a:lnTo>
                    <a:pt x="10822560" y="4285"/>
                  </a:lnTo>
                  <a:lnTo>
                    <a:pt x="10863814" y="16821"/>
                  </a:lnTo>
                  <a:lnTo>
                    <a:pt x="10901849" y="37128"/>
                  </a:lnTo>
                  <a:lnTo>
                    <a:pt x="10935507" y="64724"/>
                  </a:lnTo>
                  <a:lnTo>
                    <a:pt x="10963104" y="98382"/>
                  </a:lnTo>
                  <a:lnTo>
                    <a:pt x="10983410" y="136417"/>
                  </a:lnTo>
                  <a:lnTo>
                    <a:pt x="10995947" y="177671"/>
                  </a:lnTo>
                  <a:lnTo>
                    <a:pt x="11000232" y="220984"/>
                  </a:lnTo>
                  <a:lnTo>
                    <a:pt x="11000232" y="1104895"/>
                  </a:lnTo>
                  <a:lnTo>
                    <a:pt x="10995742" y="1149431"/>
                  </a:lnTo>
                  <a:lnTo>
                    <a:pt x="10982866" y="1190912"/>
                  </a:lnTo>
                  <a:lnTo>
                    <a:pt x="10962491" y="1228450"/>
                  </a:lnTo>
                  <a:lnTo>
                    <a:pt x="10935507" y="1261155"/>
                  </a:lnTo>
                  <a:lnTo>
                    <a:pt x="10902802" y="1288139"/>
                  </a:lnTo>
                  <a:lnTo>
                    <a:pt x="10865264" y="1308513"/>
                  </a:lnTo>
                  <a:lnTo>
                    <a:pt x="10823783" y="1321390"/>
                  </a:lnTo>
                  <a:lnTo>
                    <a:pt x="10779247" y="132587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94359" y="2697479"/>
              <a:ext cx="11000740" cy="1325880"/>
            </a:xfrm>
            <a:custGeom>
              <a:avLst/>
              <a:gdLst/>
              <a:ahLst/>
              <a:cxnLst/>
              <a:rect l="l" t="t" r="r" b="b"/>
              <a:pathLst>
                <a:path w="11000740" h="1325879">
                  <a:moveTo>
                    <a:pt x="0" y="220984"/>
                  </a:moveTo>
                  <a:lnTo>
                    <a:pt x="4489" y="176448"/>
                  </a:lnTo>
                  <a:lnTo>
                    <a:pt x="17366" y="134967"/>
                  </a:lnTo>
                  <a:lnTo>
                    <a:pt x="37740" y="97430"/>
                  </a:lnTo>
                  <a:lnTo>
                    <a:pt x="64724" y="64724"/>
                  </a:lnTo>
                  <a:lnTo>
                    <a:pt x="97429" y="37740"/>
                  </a:lnTo>
                  <a:lnTo>
                    <a:pt x="134967" y="17366"/>
                  </a:lnTo>
                  <a:lnTo>
                    <a:pt x="176448" y="4489"/>
                  </a:lnTo>
                  <a:lnTo>
                    <a:pt x="220984" y="0"/>
                  </a:lnTo>
                  <a:lnTo>
                    <a:pt x="10779247" y="0"/>
                  </a:lnTo>
                  <a:lnTo>
                    <a:pt x="10822560" y="4285"/>
                  </a:lnTo>
                  <a:lnTo>
                    <a:pt x="10863814" y="16821"/>
                  </a:lnTo>
                  <a:lnTo>
                    <a:pt x="10901849" y="37128"/>
                  </a:lnTo>
                  <a:lnTo>
                    <a:pt x="10935507" y="64724"/>
                  </a:lnTo>
                  <a:lnTo>
                    <a:pt x="10963104" y="98382"/>
                  </a:lnTo>
                  <a:lnTo>
                    <a:pt x="10983410" y="136417"/>
                  </a:lnTo>
                  <a:lnTo>
                    <a:pt x="10995947" y="177671"/>
                  </a:lnTo>
                  <a:lnTo>
                    <a:pt x="11000232" y="220984"/>
                  </a:lnTo>
                  <a:lnTo>
                    <a:pt x="11000232" y="1104895"/>
                  </a:lnTo>
                  <a:lnTo>
                    <a:pt x="10995742" y="1149431"/>
                  </a:lnTo>
                  <a:lnTo>
                    <a:pt x="10982866" y="1190912"/>
                  </a:lnTo>
                  <a:lnTo>
                    <a:pt x="10962491" y="1228450"/>
                  </a:lnTo>
                  <a:lnTo>
                    <a:pt x="10935507" y="1261155"/>
                  </a:lnTo>
                  <a:lnTo>
                    <a:pt x="10902802" y="1288139"/>
                  </a:lnTo>
                  <a:lnTo>
                    <a:pt x="10865264" y="1308513"/>
                  </a:lnTo>
                  <a:lnTo>
                    <a:pt x="10823783" y="1321390"/>
                  </a:lnTo>
                  <a:lnTo>
                    <a:pt x="10779247" y="1325879"/>
                  </a:lnTo>
                  <a:lnTo>
                    <a:pt x="220984" y="1325879"/>
                  </a:lnTo>
                  <a:lnTo>
                    <a:pt x="176448" y="1321390"/>
                  </a:lnTo>
                  <a:lnTo>
                    <a:pt x="134967" y="1308513"/>
                  </a:lnTo>
                  <a:lnTo>
                    <a:pt x="97429" y="1288139"/>
                  </a:lnTo>
                  <a:lnTo>
                    <a:pt x="64724" y="1261155"/>
                  </a:lnTo>
                  <a:lnTo>
                    <a:pt x="37740" y="1228450"/>
                  </a:lnTo>
                  <a:lnTo>
                    <a:pt x="17366" y="1190912"/>
                  </a:lnTo>
                  <a:lnTo>
                    <a:pt x="4489" y="1149431"/>
                  </a:lnTo>
                  <a:lnTo>
                    <a:pt x="0" y="1104895"/>
                  </a:lnTo>
                  <a:lnTo>
                    <a:pt x="0" y="220984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549597" y="2675717"/>
            <a:ext cx="11090275" cy="455295"/>
            <a:chOff x="549597" y="2675717"/>
            <a:chExt cx="11090275" cy="45529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7" y="2675717"/>
              <a:ext cx="11089757" cy="45528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94359" y="2697479"/>
              <a:ext cx="11000740" cy="365760"/>
            </a:xfrm>
            <a:custGeom>
              <a:avLst/>
              <a:gdLst/>
              <a:ahLst/>
              <a:cxnLst/>
              <a:rect l="l" t="t" r="r" b="b"/>
              <a:pathLst>
                <a:path w="11000740" h="365760">
                  <a:moveTo>
                    <a:pt x="10939270" y="365759"/>
                  </a:move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10939270" y="0"/>
                  </a:lnTo>
                  <a:lnTo>
                    <a:pt x="10982376" y="17855"/>
                  </a:lnTo>
                  <a:lnTo>
                    <a:pt x="11000232" y="60961"/>
                  </a:lnTo>
                  <a:lnTo>
                    <a:pt x="11000232" y="304798"/>
                  </a:lnTo>
                  <a:lnTo>
                    <a:pt x="10995441" y="328527"/>
                  </a:lnTo>
                  <a:lnTo>
                    <a:pt x="10982376" y="347904"/>
                  </a:lnTo>
                  <a:lnTo>
                    <a:pt x="10962999" y="360969"/>
                  </a:lnTo>
                  <a:lnTo>
                    <a:pt x="10939270" y="365759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94359" y="2697479"/>
              <a:ext cx="11000740" cy="365760"/>
            </a:xfrm>
            <a:custGeom>
              <a:avLst/>
              <a:gdLst/>
              <a:ahLst/>
              <a:cxnLst/>
              <a:rect l="l" t="t" r="r" b="b"/>
              <a:pathLst>
                <a:path w="11000740" h="365760">
                  <a:moveTo>
                    <a:pt x="0" y="60961"/>
                  </a:move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10939270" y="0"/>
                  </a:lnTo>
                  <a:lnTo>
                    <a:pt x="10982376" y="17855"/>
                  </a:lnTo>
                  <a:lnTo>
                    <a:pt x="11000232" y="60961"/>
                  </a:lnTo>
                  <a:lnTo>
                    <a:pt x="11000232" y="304798"/>
                  </a:lnTo>
                  <a:lnTo>
                    <a:pt x="10995441" y="328527"/>
                  </a:lnTo>
                  <a:lnTo>
                    <a:pt x="10982376" y="347904"/>
                  </a:lnTo>
                  <a:lnTo>
                    <a:pt x="10962999" y="360969"/>
                  </a:lnTo>
                  <a:lnTo>
                    <a:pt x="10939270" y="365759"/>
                  </a:ln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2930" y="2784271"/>
              <a:ext cx="221258" cy="208243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601672" y="2758630"/>
            <a:ext cx="51676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SYLLABUS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GROUNDING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(FOUNDATIONS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4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ARTIFICIAL</a:t>
            </a:r>
            <a:r>
              <a:rPr sz="14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INTELLIGENCE)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3039" y="3343021"/>
            <a:ext cx="1037209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3745" marR="5080" indent="-201168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Directly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embodies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core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syllabus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principles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Units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I–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IV: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Goal-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Based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Intelligent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Agents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PEAS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(Unit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I),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Multi-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Criteria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Heuristic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Scoring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Functions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(Unit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II),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Constraint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Satisfaction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Problems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(Unit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III),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First-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Order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Logic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Production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Systems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(Unit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IV).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4835" y="4133994"/>
            <a:ext cx="11099800" cy="1424940"/>
            <a:chOff x="544835" y="4133994"/>
            <a:chExt cx="11099800" cy="1424940"/>
          </a:xfrm>
        </p:grpSpPr>
        <p:pic>
          <p:nvPicPr>
            <p:cNvPr id="27" name="object 2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4133994"/>
              <a:ext cx="11099282" cy="142493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94359" y="4160519"/>
              <a:ext cx="11000740" cy="1325880"/>
            </a:xfrm>
            <a:custGeom>
              <a:avLst/>
              <a:gdLst/>
              <a:ahLst/>
              <a:cxnLst/>
              <a:rect l="l" t="t" r="r" b="b"/>
              <a:pathLst>
                <a:path w="11000740" h="1325879">
                  <a:moveTo>
                    <a:pt x="10779247" y="1325879"/>
                  </a:moveTo>
                  <a:lnTo>
                    <a:pt x="220984" y="1325879"/>
                  </a:lnTo>
                  <a:lnTo>
                    <a:pt x="176448" y="1321390"/>
                  </a:lnTo>
                  <a:lnTo>
                    <a:pt x="134967" y="1308513"/>
                  </a:lnTo>
                  <a:lnTo>
                    <a:pt x="97429" y="1288139"/>
                  </a:lnTo>
                  <a:lnTo>
                    <a:pt x="64724" y="1261155"/>
                  </a:lnTo>
                  <a:lnTo>
                    <a:pt x="37740" y="1228449"/>
                  </a:lnTo>
                  <a:lnTo>
                    <a:pt x="17366" y="1190912"/>
                  </a:lnTo>
                  <a:lnTo>
                    <a:pt x="4489" y="1149431"/>
                  </a:lnTo>
                  <a:lnTo>
                    <a:pt x="0" y="1104895"/>
                  </a:lnTo>
                  <a:lnTo>
                    <a:pt x="0" y="220984"/>
                  </a:lnTo>
                  <a:lnTo>
                    <a:pt x="4489" y="176448"/>
                  </a:lnTo>
                  <a:lnTo>
                    <a:pt x="17366" y="134967"/>
                  </a:lnTo>
                  <a:lnTo>
                    <a:pt x="37740" y="97429"/>
                  </a:lnTo>
                  <a:lnTo>
                    <a:pt x="64724" y="64724"/>
                  </a:lnTo>
                  <a:lnTo>
                    <a:pt x="97429" y="37740"/>
                  </a:lnTo>
                  <a:lnTo>
                    <a:pt x="134967" y="17366"/>
                  </a:lnTo>
                  <a:lnTo>
                    <a:pt x="176448" y="4489"/>
                  </a:lnTo>
                  <a:lnTo>
                    <a:pt x="220984" y="0"/>
                  </a:lnTo>
                  <a:lnTo>
                    <a:pt x="10779247" y="0"/>
                  </a:lnTo>
                  <a:lnTo>
                    <a:pt x="10822560" y="4285"/>
                  </a:lnTo>
                  <a:lnTo>
                    <a:pt x="10863814" y="16821"/>
                  </a:lnTo>
                  <a:lnTo>
                    <a:pt x="10901849" y="37128"/>
                  </a:lnTo>
                  <a:lnTo>
                    <a:pt x="10935507" y="64724"/>
                  </a:lnTo>
                  <a:lnTo>
                    <a:pt x="10963104" y="98382"/>
                  </a:lnTo>
                  <a:lnTo>
                    <a:pt x="10983410" y="136417"/>
                  </a:lnTo>
                  <a:lnTo>
                    <a:pt x="10995947" y="177671"/>
                  </a:lnTo>
                  <a:lnTo>
                    <a:pt x="11000232" y="220984"/>
                  </a:lnTo>
                  <a:lnTo>
                    <a:pt x="11000232" y="1104895"/>
                  </a:lnTo>
                  <a:lnTo>
                    <a:pt x="10995742" y="1149431"/>
                  </a:lnTo>
                  <a:lnTo>
                    <a:pt x="10982866" y="1190912"/>
                  </a:lnTo>
                  <a:lnTo>
                    <a:pt x="10962491" y="1228449"/>
                  </a:lnTo>
                  <a:lnTo>
                    <a:pt x="10935507" y="1261155"/>
                  </a:lnTo>
                  <a:lnTo>
                    <a:pt x="10902802" y="1288139"/>
                  </a:lnTo>
                  <a:lnTo>
                    <a:pt x="10865264" y="1308513"/>
                  </a:lnTo>
                  <a:lnTo>
                    <a:pt x="10823783" y="1321390"/>
                  </a:lnTo>
                  <a:lnTo>
                    <a:pt x="10779247" y="132587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94359" y="4160519"/>
              <a:ext cx="11000740" cy="1325880"/>
            </a:xfrm>
            <a:custGeom>
              <a:avLst/>
              <a:gdLst/>
              <a:ahLst/>
              <a:cxnLst/>
              <a:rect l="l" t="t" r="r" b="b"/>
              <a:pathLst>
                <a:path w="11000740" h="1325879">
                  <a:moveTo>
                    <a:pt x="0" y="220984"/>
                  </a:moveTo>
                  <a:lnTo>
                    <a:pt x="4489" y="176448"/>
                  </a:lnTo>
                  <a:lnTo>
                    <a:pt x="17366" y="134967"/>
                  </a:lnTo>
                  <a:lnTo>
                    <a:pt x="37740" y="97429"/>
                  </a:lnTo>
                  <a:lnTo>
                    <a:pt x="64724" y="64724"/>
                  </a:lnTo>
                  <a:lnTo>
                    <a:pt x="97429" y="37740"/>
                  </a:lnTo>
                  <a:lnTo>
                    <a:pt x="134967" y="17366"/>
                  </a:lnTo>
                  <a:lnTo>
                    <a:pt x="176448" y="4489"/>
                  </a:lnTo>
                  <a:lnTo>
                    <a:pt x="220984" y="0"/>
                  </a:lnTo>
                  <a:lnTo>
                    <a:pt x="10779247" y="0"/>
                  </a:lnTo>
                  <a:lnTo>
                    <a:pt x="10822560" y="4285"/>
                  </a:lnTo>
                  <a:lnTo>
                    <a:pt x="10863814" y="16821"/>
                  </a:lnTo>
                  <a:lnTo>
                    <a:pt x="10901849" y="37128"/>
                  </a:lnTo>
                  <a:lnTo>
                    <a:pt x="10935507" y="64724"/>
                  </a:lnTo>
                  <a:lnTo>
                    <a:pt x="10963104" y="98382"/>
                  </a:lnTo>
                  <a:lnTo>
                    <a:pt x="10983410" y="136417"/>
                  </a:lnTo>
                  <a:lnTo>
                    <a:pt x="10995947" y="177671"/>
                  </a:lnTo>
                  <a:lnTo>
                    <a:pt x="11000232" y="220984"/>
                  </a:lnTo>
                  <a:lnTo>
                    <a:pt x="11000232" y="1104895"/>
                  </a:lnTo>
                  <a:lnTo>
                    <a:pt x="10995742" y="1149431"/>
                  </a:lnTo>
                  <a:lnTo>
                    <a:pt x="10982866" y="1190912"/>
                  </a:lnTo>
                  <a:lnTo>
                    <a:pt x="10962491" y="1228449"/>
                  </a:lnTo>
                  <a:lnTo>
                    <a:pt x="10935507" y="1261155"/>
                  </a:lnTo>
                  <a:lnTo>
                    <a:pt x="10902802" y="1288139"/>
                  </a:lnTo>
                  <a:lnTo>
                    <a:pt x="10865264" y="1308513"/>
                  </a:lnTo>
                  <a:lnTo>
                    <a:pt x="10823783" y="1321390"/>
                  </a:lnTo>
                  <a:lnTo>
                    <a:pt x="10779247" y="1325879"/>
                  </a:lnTo>
                  <a:lnTo>
                    <a:pt x="220984" y="1325879"/>
                  </a:lnTo>
                  <a:lnTo>
                    <a:pt x="176448" y="1321390"/>
                  </a:lnTo>
                  <a:lnTo>
                    <a:pt x="134967" y="1308513"/>
                  </a:lnTo>
                  <a:lnTo>
                    <a:pt x="97429" y="1288139"/>
                  </a:lnTo>
                  <a:lnTo>
                    <a:pt x="64724" y="1261155"/>
                  </a:lnTo>
                  <a:lnTo>
                    <a:pt x="37740" y="1228449"/>
                  </a:lnTo>
                  <a:lnTo>
                    <a:pt x="17366" y="1190912"/>
                  </a:lnTo>
                  <a:lnTo>
                    <a:pt x="4489" y="1149431"/>
                  </a:lnTo>
                  <a:lnTo>
                    <a:pt x="0" y="1104895"/>
                  </a:lnTo>
                  <a:lnTo>
                    <a:pt x="0" y="220984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/>
          <p:cNvGrpSpPr/>
          <p:nvPr/>
        </p:nvGrpSpPr>
        <p:grpSpPr>
          <a:xfrm>
            <a:off x="549597" y="4138757"/>
            <a:ext cx="11090275" cy="455295"/>
            <a:chOff x="549597" y="4138757"/>
            <a:chExt cx="11090275" cy="455295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97" y="4138757"/>
              <a:ext cx="11089757" cy="45528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94359" y="4160519"/>
              <a:ext cx="11000740" cy="365760"/>
            </a:xfrm>
            <a:custGeom>
              <a:avLst/>
              <a:gdLst/>
              <a:ahLst/>
              <a:cxnLst/>
              <a:rect l="l" t="t" r="r" b="b"/>
              <a:pathLst>
                <a:path w="11000740" h="365760">
                  <a:moveTo>
                    <a:pt x="10939270" y="365759"/>
                  </a:move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10939270" y="0"/>
                  </a:lnTo>
                  <a:lnTo>
                    <a:pt x="10982376" y="17854"/>
                  </a:lnTo>
                  <a:lnTo>
                    <a:pt x="11000232" y="60961"/>
                  </a:lnTo>
                  <a:lnTo>
                    <a:pt x="11000232" y="304798"/>
                  </a:lnTo>
                  <a:lnTo>
                    <a:pt x="10995441" y="328527"/>
                  </a:lnTo>
                  <a:lnTo>
                    <a:pt x="10982376" y="347904"/>
                  </a:lnTo>
                  <a:lnTo>
                    <a:pt x="10962999" y="360969"/>
                  </a:lnTo>
                  <a:lnTo>
                    <a:pt x="10939270" y="365759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94359" y="4160519"/>
              <a:ext cx="11000740" cy="365760"/>
            </a:xfrm>
            <a:custGeom>
              <a:avLst/>
              <a:gdLst/>
              <a:ahLst/>
              <a:cxnLst/>
              <a:rect l="l" t="t" r="r" b="b"/>
              <a:pathLst>
                <a:path w="11000740" h="365760">
                  <a:moveTo>
                    <a:pt x="0" y="60961"/>
                  </a:moveTo>
                  <a:lnTo>
                    <a:pt x="4790" y="37232"/>
                  </a:lnTo>
                  <a:lnTo>
                    <a:pt x="17855" y="17855"/>
                  </a:lnTo>
                  <a:lnTo>
                    <a:pt x="37232" y="4790"/>
                  </a:lnTo>
                  <a:lnTo>
                    <a:pt x="60961" y="0"/>
                  </a:lnTo>
                  <a:lnTo>
                    <a:pt x="10939270" y="0"/>
                  </a:lnTo>
                  <a:lnTo>
                    <a:pt x="10982376" y="17854"/>
                  </a:lnTo>
                  <a:lnTo>
                    <a:pt x="11000232" y="60961"/>
                  </a:lnTo>
                  <a:lnTo>
                    <a:pt x="11000232" y="304798"/>
                  </a:lnTo>
                  <a:lnTo>
                    <a:pt x="10995441" y="328527"/>
                  </a:lnTo>
                  <a:lnTo>
                    <a:pt x="10982376" y="347904"/>
                  </a:lnTo>
                  <a:lnTo>
                    <a:pt x="10962999" y="360969"/>
                  </a:lnTo>
                  <a:lnTo>
                    <a:pt x="10939270" y="365759"/>
                  </a:lnTo>
                  <a:lnTo>
                    <a:pt x="60961" y="365759"/>
                  </a:lnTo>
                  <a:lnTo>
                    <a:pt x="37232" y="360969"/>
                  </a:lnTo>
                  <a:lnTo>
                    <a:pt x="17855" y="347904"/>
                  </a:lnTo>
                  <a:lnTo>
                    <a:pt x="4790" y="328527"/>
                  </a:lnTo>
                  <a:lnTo>
                    <a:pt x="0" y="304798"/>
                  </a:lnTo>
                  <a:lnTo>
                    <a:pt x="0" y="60961"/>
                  </a:lnTo>
                  <a:close/>
                </a:path>
              </a:pathLst>
            </a:custGeom>
            <a:ln w="9524">
              <a:solidFill>
                <a:srgbClr val="16A34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44051" y="4247311"/>
              <a:ext cx="221258" cy="208243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4592792" y="4221670"/>
            <a:ext cx="32226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ETHICAL,</a:t>
            </a: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FAIR</a:t>
            </a:r>
            <a:r>
              <a:rPr sz="1400" b="1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AUDITABLE</a:t>
            </a:r>
            <a:r>
              <a:rPr sz="14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RECRUITMENT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0519" y="4806060"/>
            <a:ext cx="107226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6025" marR="5080" indent="-247396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replacing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subjective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human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screening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opaque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algorithms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deterministic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rules,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HireAI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delivers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100%</a:t>
            </a:r>
            <a:r>
              <a:rPr sz="130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auditable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proof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traces,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sub-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50ms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CPU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execution,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demographic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bias,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complete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alignment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global</a:t>
            </a:r>
            <a:r>
              <a:rPr sz="130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regulatory</a:t>
            </a:r>
            <a:r>
              <a:rPr sz="130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mandates.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468165" y="155447"/>
            <a:ext cx="205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18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835" y="1207915"/>
            <a:ext cx="11099800" cy="967740"/>
            <a:chOff x="544835" y="1207915"/>
            <a:chExt cx="11099800" cy="96774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1207915"/>
              <a:ext cx="11099282" cy="9677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4359" y="1234439"/>
              <a:ext cx="11000740" cy="868680"/>
            </a:xfrm>
            <a:custGeom>
              <a:avLst/>
              <a:gdLst/>
              <a:ahLst/>
              <a:cxnLst/>
              <a:rect l="l" t="t" r="r" b="b"/>
              <a:pathLst>
                <a:path w="11000740" h="868680">
                  <a:moveTo>
                    <a:pt x="10855449" y="868679"/>
                  </a:move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7"/>
                  </a:lnTo>
                  <a:lnTo>
                    <a:pt x="0" y="144782"/>
                  </a:lnTo>
                  <a:lnTo>
                    <a:pt x="7381" y="99020"/>
                  </a:lnTo>
                  <a:lnTo>
                    <a:pt x="27934" y="59275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10855449" y="0"/>
                  </a:lnTo>
                  <a:lnTo>
                    <a:pt x="10910855" y="11020"/>
                  </a:lnTo>
                  <a:lnTo>
                    <a:pt x="10957825" y="42405"/>
                  </a:lnTo>
                  <a:lnTo>
                    <a:pt x="10989211" y="89376"/>
                  </a:lnTo>
                  <a:lnTo>
                    <a:pt x="11000232" y="144782"/>
                  </a:lnTo>
                  <a:lnTo>
                    <a:pt x="11000232" y="723897"/>
                  </a:lnTo>
                  <a:lnTo>
                    <a:pt x="10992851" y="769659"/>
                  </a:lnTo>
                  <a:lnTo>
                    <a:pt x="10972297" y="809404"/>
                  </a:lnTo>
                  <a:lnTo>
                    <a:pt x="10940956" y="840745"/>
                  </a:lnTo>
                  <a:lnTo>
                    <a:pt x="10901211" y="861298"/>
                  </a:lnTo>
                  <a:lnTo>
                    <a:pt x="10855449" y="86867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4359" y="1234439"/>
              <a:ext cx="11000740" cy="868680"/>
            </a:xfrm>
            <a:custGeom>
              <a:avLst/>
              <a:gdLst/>
              <a:ahLst/>
              <a:cxnLst/>
              <a:rect l="l" t="t" r="r" b="b"/>
              <a:pathLst>
                <a:path w="11000740" h="868680">
                  <a:moveTo>
                    <a:pt x="0" y="144782"/>
                  </a:moveTo>
                  <a:lnTo>
                    <a:pt x="7381" y="99020"/>
                  </a:lnTo>
                  <a:lnTo>
                    <a:pt x="27934" y="59275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10855449" y="0"/>
                  </a:lnTo>
                  <a:lnTo>
                    <a:pt x="10910855" y="11020"/>
                  </a:lnTo>
                  <a:lnTo>
                    <a:pt x="10957825" y="42405"/>
                  </a:lnTo>
                  <a:lnTo>
                    <a:pt x="10989211" y="89376"/>
                  </a:lnTo>
                  <a:lnTo>
                    <a:pt x="11000232" y="144782"/>
                  </a:lnTo>
                  <a:lnTo>
                    <a:pt x="11000232" y="723897"/>
                  </a:lnTo>
                  <a:lnTo>
                    <a:pt x="10992851" y="769659"/>
                  </a:lnTo>
                  <a:lnTo>
                    <a:pt x="10972297" y="809404"/>
                  </a:lnTo>
                  <a:lnTo>
                    <a:pt x="10940956" y="840745"/>
                  </a:lnTo>
                  <a:lnTo>
                    <a:pt x="10901211" y="861298"/>
                  </a:lnTo>
                  <a:lnTo>
                    <a:pt x="10855449" y="868679"/>
                  </a:ln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7"/>
                  </a:lnTo>
                  <a:lnTo>
                    <a:pt x="0" y="144782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757" y="1377269"/>
              <a:ext cx="683885" cy="63816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31519" y="1399031"/>
              <a:ext cx="594360" cy="548640"/>
            </a:xfrm>
            <a:custGeom>
              <a:avLst/>
              <a:gdLst/>
              <a:ahLst/>
              <a:cxnLst/>
              <a:rect l="l" t="t" r="r" b="b"/>
              <a:pathLst>
                <a:path w="594360" h="548639">
                  <a:moveTo>
                    <a:pt x="502918" y="548639"/>
                  </a:move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7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02918" y="0"/>
                  </a:lnTo>
                  <a:lnTo>
                    <a:pt x="553650" y="15363"/>
                  </a:lnTo>
                  <a:lnTo>
                    <a:pt x="587399" y="56448"/>
                  </a:lnTo>
                  <a:lnTo>
                    <a:pt x="594359" y="91441"/>
                  </a:lnTo>
                  <a:lnTo>
                    <a:pt x="594359" y="457197"/>
                  </a:lnTo>
                  <a:lnTo>
                    <a:pt x="587174" y="492791"/>
                  </a:lnTo>
                  <a:lnTo>
                    <a:pt x="567577" y="521857"/>
                  </a:lnTo>
                  <a:lnTo>
                    <a:pt x="538511" y="541454"/>
                  </a:lnTo>
                  <a:lnTo>
                    <a:pt x="502918" y="54863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31519" y="1399031"/>
              <a:ext cx="594360" cy="548640"/>
            </a:xfrm>
            <a:custGeom>
              <a:avLst/>
              <a:gdLst/>
              <a:ahLst/>
              <a:cxnLst/>
              <a:rect l="l" t="t" r="r" b="b"/>
              <a:pathLst>
                <a:path w="594360" h="548639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02918" y="0"/>
                  </a:lnTo>
                  <a:lnTo>
                    <a:pt x="553650" y="15363"/>
                  </a:lnTo>
                  <a:lnTo>
                    <a:pt x="587399" y="56448"/>
                  </a:lnTo>
                  <a:lnTo>
                    <a:pt x="594359" y="91441"/>
                  </a:lnTo>
                  <a:lnTo>
                    <a:pt x="594359" y="457197"/>
                  </a:lnTo>
                  <a:lnTo>
                    <a:pt x="587174" y="492791"/>
                  </a:lnTo>
                  <a:lnTo>
                    <a:pt x="567577" y="521857"/>
                  </a:lnTo>
                  <a:lnTo>
                    <a:pt x="538511" y="541454"/>
                  </a:lnTo>
                  <a:lnTo>
                    <a:pt x="502918" y="548639"/>
                  </a:ln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7"/>
                  </a:lnTo>
                  <a:lnTo>
                    <a:pt x="0" y="9144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22387" y="1554988"/>
            <a:ext cx="2165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[1]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04620" y="1240425"/>
            <a:ext cx="9832975" cy="62992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Russell,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S.,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Norvig,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P.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(2020).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Artificial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Intelligence: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Modern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Approach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(4th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ed.).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Pearson.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205"/>
              </a:spcBef>
            </a:pP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Relevance: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Foundational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theory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Intelligent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Agents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(Unit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I),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Heuristic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Functions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(Unit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II),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Constraint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Satisfaction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(Unit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III),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Knowledge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Representation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Forward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Chaining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(Unit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IV).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4835" y="2168035"/>
            <a:ext cx="11099800" cy="967740"/>
            <a:chOff x="544835" y="2168035"/>
            <a:chExt cx="11099800" cy="967740"/>
          </a:xfrm>
        </p:grpSpPr>
        <p:pic>
          <p:nvPicPr>
            <p:cNvPr id="14" name="object 1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2168035"/>
              <a:ext cx="11099282" cy="96773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94359" y="2194560"/>
              <a:ext cx="11000740" cy="868680"/>
            </a:xfrm>
            <a:custGeom>
              <a:avLst/>
              <a:gdLst/>
              <a:ahLst/>
              <a:cxnLst/>
              <a:rect l="l" t="t" r="r" b="b"/>
              <a:pathLst>
                <a:path w="11000740" h="868680">
                  <a:moveTo>
                    <a:pt x="10855449" y="868679"/>
                  </a:move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3"/>
                  </a:lnTo>
                  <a:lnTo>
                    <a:pt x="7381" y="769659"/>
                  </a:lnTo>
                  <a:lnTo>
                    <a:pt x="0" y="723896"/>
                  </a:lnTo>
                  <a:lnTo>
                    <a:pt x="0" y="144782"/>
                  </a:lnTo>
                  <a:lnTo>
                    <a:pt x="7381" y="99020"/>
                  </a:lnTo>
                  <a:lnTo>
                    <a:pt x="27934" y="59276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10855449" y="0"/>
                  </a:lnTo>
                  <a:lnTo>
                    <a:pt x="10910855" y="11020"/>
                  </a:lnTo>
                  <a:lnTo>
                    <a:pt x="10957825" y="42405"/>
                  </a:lnTo>
                  <a:lnTo>
                    <a:pt x="10989211" y="89376"/>
                  </a:lnTo>
                  <a:lnTo>
                    <a:pt x="11000232" y="144782"/>
                  </a:lnTo>
                  <a:lnTo>
                    <a:pt x="11000232" y="723896"/>
                  </a:lnTo>
                  <a:lnTo>
                    <a:pt x="10992851" y="769659"/>
                  </a:lnTo>
                  <a:lnTo>
                    <a:pt x="10972297" y="809403"/>
                  </a:lnTo>
                  <a:lnTo>
                    <a:pt x="10940956" y="840745"/>
                  </a:lnTo>
                  <a:lnTo>
                    <a:pt x="10901211" y="861298"/>
                  </a:lnTo>
                  <a:lnTo>
                    <a:pt x="10855449" y="86867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94359" y="2194560"/>
              <a:ext cx="11000740" cy="868680"/>
            </a:xfrm>
            <a:custGeom>
              <a:avLst/>
              <a:gdLst/>
              <a:ahLst/>
              <a:cxnLst/>
              <a:rect l="l" t="t" r="r" b="b"/>
              <a:pathLst>
                <a:path w="11000740" h="868680">
                  <a:moveTo>
                    <a:pt x="0" y="144782"/>
                  </a:moveTo>
                  <a:lnTo>
                    <a:pt x="7381" y="99020"/>
                  </a:lnTo>
                  <a:lnTo>
                    <a:pt x="27934" y="59276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10855449" y="0"/>
                  </a:lnTo>
                  <a:lnTo>
                    <a:pt x="10910855" y="11020"/>
                  </a:lnTo>
                  <a:lnTo>
                    <a:pt x="10957825" y="42405"/>
                  </a:lnTo>
                  <a:lnTo>
                    <a:pt x="10989211" y="89376"/>
                  </a:lnTo>
                  <a:lnTo>
                    <a:pt x="11000232" y="144782"/>
                  </a:lnTo>
                  <a:lnTo>
                    <a:pt x="11000232" y="723896"/>
                  </a:lnTo>
                  <a:lnTo>
                    <a:pt x="10992851" y="769659"/>
                  </a:lnTo>
                  <a:lnTo>
                    <a:pt x="10972297" y="809403"/>
                  </a:lnTo>
                  <a:lnTo>
                    <a:pt x="10940956" y="840745"/>
                  </a:lnTo>
                  <a:lnTo>
                    <a:pt x="10901211" y="861298"/>
                  </a:lnTo>
                  <a:lnTo>
                    <a:pt x="10855449" y="868679"/>
                  </a:ln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3"/>
                  </a:lnTo>
                  <a:lnTo>
                    <a:pt x="7381" y="769659"/>
                  </a:lnTo>
                  <a:lnTo>
                    <a:pt x="0" y="723896"/>
                  </a:lnTo>
                  <a:lnTo>
                    <a:pt x="0" y="144782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757" y="2337389"/>
              <a:ext cx="683885" cy="63816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31519" y="2359152"/>
              <a:ext cx="594360" cy="548640"/>
            </a:xfrm>
            <a:custGeom>
              <a:avLst/>
              <a:gdLst/>
              <a:ahLst/>
              <a:cxnLst/>
              <a:rect l="l" t="t" r="r" b="b"/>
              <a:pathLst>
                <a:path w="594360" h="548639">
                  <a:moveTo>
                    <a:pt x="502918" y="548639"/>
                  </a:move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8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02918" y="0"/>
                  </a:lnTo>
                  <a:lnTo>
                    <a:pt x="553650" y="15363"/>
                  </a:lnTo>
                  <a:lnTo>
                    <a:pt x="587399" y="56448"/>
                  </a:lnTo>
                  <a:lnTo>
                    <a:pt x="594359" y="91441"/>
                  </a:lnTo>
                  <a:lnTo>
                    <a:pt x="594359" y="457198"/>
                  </a:lnTo>
                  <a:lnTo>
                    <a:pt x="587174" y="492791"/>
                  </a:lnTo>
                  <a:lnTo>
                    <a:pt x="567577" y="521857"/>
                  </a:lnTo>
                  <a:lnTo>
                    <a:pt x="538511" y="541454"/>
                  </a:lnTo>
                  <a:lnTo>
                    <a:pt x="502918" y="54863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31519" y="2359152"/>
              <a:ext cx="594360" cy="548640"/>
            </a:xfrm>
            <a:custGeom>
              <a:avLst/>
              <a:gdLst/>
              <a:ahLst/>
              <a:cxnLst/>
              <a:rect l="l" t="t" r="r" b="b"/>
              <a:pathLst>
                <a:path w="594360" h="548639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02918" y="0"/>
                  </a:lnTo>
                  <a:lnTo>
                    <a:pt x="553650" y="15363"/>
                  </a:lnTo>
                  <a:lnTo>
                    <a:pt x="587399" y="56448"/>
                  </a:lnTo>
                  <a:lnTo>
                    <a:pt x="594359" y="91441"/>
                  </a:lnTo>
                  <a:lnTo>
                    <a:pt x="594359" y="457198"/>
                  </a:lnTo>
                  <a:lnTo>
                    <a:pt x="587174" y="492791"/>
                  </a:lnTo>
                  <a:lnTo>
                    <a:pt x="567577" y="521857"/>
                  </a:lnTo>
                  <a:lnTo>
                    <a:pt x="538511" y="541454"/>
                  </a:lnTo>
                  <a:lnTo>
                    <a:pt x="502918" y="548639"/>
                  </a:ln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8"/>
                  </a:lnTo>
                  <a:lnTo>
                    <a:pt x="0" y="9144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22387" y="2515108"/>
            <a:ext cx="2165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[2]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04620" y="2230120"/>
            <a:ext cx="9448165" cy="623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Faliagka,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E.,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Ramantas,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K.,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Tsakalidis,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A.,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Tzimas,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G.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(2012).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Application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algorithms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online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recruitment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system. </a:t>
            </a: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E-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Publishing,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12(3),</a:t>
            </a:r>
            <a:r>
              <a:rPr sz="1300" b="1" spc="-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215–228.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Relevance: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Benchmark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study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automated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applicant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assessment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necessity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objective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ranking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models.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4835" y="3128155"/>
            <a:ext cx="11099800" cy="967740"/>
            <a:chOff x="544835" y="3128155"/>
            <a:chExt cx="11099800" cy="967740"/>
          </a:xfrm>
        </p:grpSpPr>
        <p:pic>
          <p:nvPicPr>
            <p:cNvPr id="23" name="object 2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3128155"/>
              <a:ext cx="11099282" cy="96773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94359" y="3154680"/>
              <a:ext cx="11000740" cy="868680"/>
            </a:xfrm>
            <a:custGeom>
              <a:avLst/>
              <a:gdLst/>
              <a:ahLst/>
              <a:cxnLst/>
              <a:rect l="l" t="t" r="r" b="b"/>
              <a:pathLst>
                <a:path w="11000740" h="868679">
                  <a:moveTo>
                    <a:pt x="10855449" y="868679"/>
                  </a:move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6"/>
                  </a:lnTo>
                  <a:lnTo>
                    <a:pt x="0" y="144782"/>
                  </a:lnTo>
                  <a:lnTo>
                    <a:pt x="7381" y="99020"/>
                  </a:lnTo>
                  <a:lnTo>
                    <a:pt x="27934" y="59276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10855449" y="0"/>
                  </a:lnTo>
                  <a:lnTo>
                    <a:pt x="10910855" y="11020"/>
                  </a:lnTo>
                  <a:lnTo>
                    <a:pt x="10957825" y="42405"/>
                  </a:lnTo>
                  <a:lnTo>
                    <a:pt x="10989211" y="89376"/>
                  </a:lnTo>
                  <a:lnTo>
                    <a:pt x="11000232" y="144782"/>
                  </a:lnTo>
                  <a:lnTo>
                    <a:pt x="11000232" y="723896"/>
                  </a:lnTo>
                  <a:lnTo>
                    <a:pt x="10992851" y="769659"/>
                  </a:lnTo>
                  <a:lnTo>
                    <a:pt x="10972297" y="809404"/>
                  </a:lnTo>
                  <a:lnTo>
                    <a:pt x="10940956" y="840745"/>
                  </a:lnTo>
                  <a:lnTo>
                    <a:pt x="10901211" y="861298"/>
                  </a:lnTo>
                  <a:lnTo>
                    <a:pt x="10855449" y="86867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94359" y="3154680"/>
              <a:ext cx="11000740" cy="868680"/>
            </a:xfrm>
            <a:custGeom>
              <a:avLst/>
              <a:gdLst/>
              <a:ahLst/>
              <a:cxnLst/>
              <a:rect l="l" t="t" r="r" b="b"/>
              <a:pathLst>
                <a:path w="11000740" h="868679">
                  <a:moveTo>
                    <a:pt x="0" y="144782"/>
                  </a:moveTo>
                  <a:lnTo>
                    <a:pt x="7381" y="99020"/>
                  </a:lnTo>
                  <a:lnTo>
                    <a:pt x="27934" y="59276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10855449" y="0"/>
                  </a:lnTo>
                  <a:lnTo>
                    <a:pt x="10910855" y="11020"/>
                  </a:lnTo>
                  <a:lnTo>
                    <a:pt x="10957825" y="42405"/>
                  </a:lnTo>
                  <a:lnTo>
                    <a:pt x="10989211" y="89376"/>
                  </a:lnTo>
                  <a:lnTo>
                    <a:pt x="11000232" y="144782"/>
                  </a:lnTo>
                  <a:lnTo>
                    <a:pt x="11000232" y="723896"/>
                  </a:lnTo>
                  <a:lnTo>
                    <a:pt x="10992851" y="769659"/>
                  </a:lnTo>
                  <a:lnTo>
                    <a:pt x="10972297" y="809404"/>
                  </a:lnTo>
                  <a:lnTo>
                    <a:pt x="10940956" y="840745"/>
                  </a:lnTo>
                  <a:lnTo>
                    <a:pt x="10901211" y="861298"/>
                  </a:lnTo>
                  <a:lnTo>
                    <a:pt x="10855449" y="868679"/>
                  </a:ln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6"/>
                  </a:lnTo>
                  <a:lnTo>
                    <a:pt x="0" y="144782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757" y="3297509"/>
              <a:ext cx="683885" cy="63816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31519" y="3319272"/>
              <a:ext cx="594360" cy="548640"/>
            </a:xfrm>
            <a:custGeom>
              <a:avLst/>
              <a:gdLst/>
              <a:ahLst/>
              <a:cxnLst/>
              <a:rect l="l" t="t" r="r" b="b"/>
              <a:pathLst>
                <a:path w="594360" h="548639">
                  <a:moveTo>
                    <a:pt x="502918" y="548639"/>
                  </a:move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8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02918" y="0"/>
                  </a:lnTo>
                  <a:lnTo>
                    <a:pt x="553650" y="15363"/>
                  </a:lnTo>
                  <a:lnTo>
                    <a:pt x="587399" y="56448"/>
                  </a:lnTo>
                  <a:lnTo>
                    <a:pt x="594359" y="91441"/>
                  </a:lnTo>
                  <a:lnTo>
                    <a:pt x="594359" y="457198"/>
                  </a:lnTo>
                  <a:lnTo>
                    <a:pt x="587174" y="492791"/>
                  </a:lnTo>
                  <a:lnTo>
                    <a:pt x="567577" y="521857"/>
                  </a:lnTo>
                  <a:lnTo>
                    <a:pt x="538511" y="541454"/>
                  </a:lnTo>
                  <a:lnTo>
                    <a:pt x="502918" y="54863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31519" y="3319272"/>
              <a:ext cx="594360" cy="548640"/>
            </a:xfrm>
            <a:custGeom>
              <a:avLst/>
              <a:gdLst/>
              <a:ahLst/>
              <a:cxnLst/>
              <a:rect l="l" t="t" r="r" b="b"/>
              <a:pathLst>
                <a:path w="594360" h="548639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02918" y="0"/>
                  </a:lnTo>
                  <a:lnTo>
                    <a:pt x="553650" y="15363"/>
                  </a:lnTo>
                  <a:lnTo>
                    <a:pt x="587399" y="56448"/>
                  </a:lnTo>
                  <a:lnTo>
                    <a:pt x="594359" y="91441"/>
                  </a:lnTo>
                  <a:lnTo>
                    <a:pt x="594359" y="457198"/>
                  </a:lnTo>
                  <a:lnTo>
                    <a:pt x="587174" y="492791"/>
                  </a:lnTo>
                  <a:lnTo>
                    <a:pt x="567577" y="521857"/>
                  </a:lnTo>
                  <a:lnTo>
                    <a:pt x="538511" y="541454"/>
                  </a:lnTo>
                  <a:lnTo>
                    <a:pt x="502918" y="548639"/>
                  </a:ln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8"/>
                  </a:lnTo>
                  <a:lnTo>
                    <a:pt x="0" y="9144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922387" y="3475228"/>
            <a:ext cx="2165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[3]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04620" y="3190240"/>
            <a:ext cx="9690100" cy="623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Roy,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P.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K.,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Chowdhary,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S.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S.,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Bhatia,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R.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(2020).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Learning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approach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automation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Resume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Recommendation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System.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Procedia Computer Science,</a:t>
            </a:r>
            <a:r>
              <a:rPr sz="1300" b="1" spc="-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167,</a:t>
            </a:r>
            <a:r>
              <a:rPr sz="1300" b="1" spc="-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2318–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2327.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Relevance:</a:t>
            </a:r>
            <a:r>
              <a:rPr sz="115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Analysis</a:t>
            </a:r>
            <a:r>
              <a:rPr sz="115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15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semantic</a:t>
            </a:r>
            <a:r>
              <a:rPr sz="115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resume</a:t>
            </a:r>
            <a:r>
              <a:rPr sz="115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matching</a:t>
            </a:r>
            <a:r>
              <a:rPr sz="115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15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identification</a:t>
            </a:r>
            <a:r>
              <a:rPr sz="115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15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black-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box</a:t>
            </a:r>
            <a:r>
              <a:rPr sz="115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explainability</a:t>
            </a:r>
            <a:r>
              <a:rPr sz="1150" spc="-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bottlenecks.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44835" y="4088275"/>
            <a:ext cx="11099800" cy="967740"/>
            <a:chOff x="544835" y="4088275"/>
            <a:chExt cx="11099800" cy="967740"/>
          </a:xfrm>
        </p:grpSpPr>
        <p:pic>
          <p:nvPicPr>
            <p:cNvPr id="32" name="object 3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4088275"/>
              <a:ext cx="11099282" cy="9677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94359" y="4114800"/>
              <a:ext cx="11000740" cy="868680"/>
            </a:xfrm>
            <a:custGeom>
              <a:avLst/>
              <a:gdLst/>
              <a:ahLst/>
              <a:cxnLst/>
              <a:rect l="l" t="t" r="r" b="b"/>
              <a:pathLst>
                <a:path w="11000740" h="868679">
                  <a:moveTo>
                    <a:pt x="10855449" y="868679"/>
                  </a:move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7"/>
                  </a:lnTo>
                  <a:lnTo>
                    <a:pt x="0" y="144782"/>
                  </a:lnTo>
                  <a:lnTo>
                    <a:pt x="7381" y="99020"/>
                  </a:lnTo>
                  <a:lnTo>
                    <a:pt x="27934" y="59275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10855449" y="0"/>
                  </a:lnTo>
                  <a:lnTo>
                    <a:pt x="10910855" y="11020"/>
                  </a:lnTo>
                  <a:lnTo>
                    <a:pt x="10957825" y="42405"/>
                  </a:lnTo>
                  <a:lnTo>
                    <a:pt x="10989211" y="89376"/>
                  </a:lnTo>
                  <a:lnTo>
                    <a:pt x="11000232" y="144782"/>
                  </a:lnTo>
                  <a:lnTo>
                    <a:pt x="11000232" y="723897"/>
                  </a:lnTo>
                  <a:lnTo>
                    <a:pt x="10992851" y="769659"/>
                  </a:lnTo>
                  <a:lnTo>
                    <a:pt x="10972297" y="809404"/>
                  </a:lnTo>
                  <a:lnTo>
                    <a:pt x="10940956" y="840745"/>
                  </a:lnTo>
                  <a:lnTo>
                    <a:pt x="10901211" y="861298"/>
                  </a:lnTo>
                  <a:lnTo>
                    <a:pt x="10855449" y="86867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94359" y="4114800"/>
              <a:ext cx="11000740" cy="868680"/>
            </a:xfrm>
            <a:custGeom>
              <a:avLst/>
              <a:gdLst/>
              <a:ahLst/>
              <a:cxnLst/>
              <a:rect l="l" t="t" r="r" b="b"/>
              <a:pathLst>
                <a:path w="11000740" h="868679">
                  <a:moveTo>
                    <a:pt x="0" y="144782"/>
                  </a:moveTo>
                  <a:lnTo>
                    <a:pt x="7381" y="99020"/>
                  </a:lnTo>
                  <a:lnTo>
                    <a:pt x="27934" y="59275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10855449" y="0"/>
                  </a:lnTo>
                  <a:lnTo>
                    <a:pt x="10910855" y="11020"/>
                  </a:lnTo>
                  <a:lnTo>
                    <a:pt x="10957825" y="42405"/>
                  </a:lnTo>
                  <a:lnTo>
                    <a:pt x="10989211" y="89376"/>
                  </a:lnTo>
                  <a:lnTo>
                    <a:pt x="11000232" y="144782"/>
                  </a:lnTo>
                  <a:lnTo>
                    <a:pt x="11000232" y="723897"/>
                  </a:lnTo>
                  <a:lnTo>
                    <a:pt x="10992851" y="769659"/>
                  </a:lnTo>
                  <a:lnTo>
                    <a:pt x="10972297" y="809404"/>
                  </a:lnTo>
                  <a:lnTo>
                    <a:pt x="10940956" y="840745"/>
                  </a:lnTo>
                  <a:lnTo>
                    <a:pt x="10901211" y="861298"/>
                  </a:lnTo>
                  <a:lnTo>
                    <a:pt x="10855449" y="868679"/>
                  </a:ln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7"/>
                  </a:lnTo>
                  <a:lnTo>
                    <a:pt x="0" y="144782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757" y="4257629"/>
              <a:ext cx="683885" cy="63816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31519" y="4279392"/>
              <a:ext cx="594360" cy="548640"/>
            </a:xfrm>
            <a:custGeom>
              <a:avLst/>
              <a:gdLst/>
              <a:ahLst/>
              <a:cxnLst/>
              <a:rect l="l" t="t" r="r" b="b"/>
              <a:pathLst>
                <a:path w="594360" h="548639">
                  <a:moveTo>
                    <a:pt x="502918" y="548639"/>
                  </a:moveTo>
                  <a:lnTo>
                    <a:pt x="91441" y="548639"/>
                  </a:lnTo>
                  <a:lnTo>
                    <a:pt x="55848" y="541453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7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02918" y="0"/>
                  </a:lnTo>
                  <a:lnTo>
                    <a:pt x="553650" y="15363"/>
                  </a:lnTo>
                  <a:lnTo>
                    <a:pt x="587399" y="56448"/>
                  </a:lnTo>
                  <a:lnTo>
                    <a:pt x="594359" y="91441"/>
                  </a:lnTo>
                  <a:lnTo>
                    <a:pt x="594359" y="457197"/>
                  </a:lnTo>
                  <a:lnTo>
                    <a:pt x="587174" y="492791"/>
                  </a:lnTo>
                  <a:lnTo>
                    <a:pt x="567577" y="521857"/>
                  </a:lnTo>
                  <a:lnTo>
                    <a:pt x="538511" y="541453"/>
                  </a:lnTo>
                  <a:lnTo>
                    <a:pt x="502918" y="54863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31519" y="4279392"/>
              <a:ext cx="594360" cy="548640"/>
            </a:xfrm>
            <a:custGeom>
              <a:avLst/>
              <a:gdLst/>
              <a:ahLst/>
              <a:cxnLst/>
              <a:rect l="l" t="t" r="r" b="b"/>
              <a:pathLst>
                <a:path w="594360" h="548639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02918" y="0"/>
                  </a:lnTo>
                  <a:lnTo>
                    <a:pt x="553650" y="15363"/>
                  </a:lnTo>
                  <a:lnTo>
                    <a:pt x="587399" y="56448"/>
                  </a:lnTo>
                  <a:lnTo>
                    <a:pt x="594359" y="91441"/>
                  </a:lnTo>
                  <a:lnTo>
                    <a:pt x="594359" y="457197"/>
                  </a:lnTo>
                  <a:lnTo>
                    <a:pt x="587174" y="492791"/>
                  </a:lnTo>
                  <a:lnTo>
                    <a:pt x="567577" y="521857"/>
                  </a:lnTo>
                  <a:lnTo>
                    <a:pt x="538511" y="541453"/>
                  </a:lnTo>
                  <a:lnTo>
                    <a:pt x="502918" y="548639"/>
                  </a:lnTo>
                  <a:lnTo>
                    <a:pt x="91441" y="548639"/>
                  </a:lnTo>
                  <a:lnTo>
                    <a:pt x="55848" y="541453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7"/>
                  </a:lnTo>
                  <a:lnTo>
                    <a:pt x="0" y="9144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922387" y="4435347"/>
            <a:ext cx="2165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[4]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04620" y="4120786"/>
            <a:ext cx="8191500" cy="454659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High-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Level</a:t>
            </a:r>
            <a:r>
              <a:rPr sz="13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Expert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Group</a:t>
            </a:r>
            <a:r>
              <a:rPr sz="13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Artificial</a:t>
            </a:r>
            <a:r>
              <a:rPr sz="13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Intelligence</a:t>
            </a:r>
            <a:r>
              <a:rPr sz="13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(2019).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Ethics</a:t>
            </a:r>
            <a:r>
              <a:rPr sz="13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Guidelines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3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Trustworthy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AI.</a:t>
            </a:r>
            <a:r>
              <a:rPr sz="1300" b="1" spc="-3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European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Commission.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Relevance: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Regulatory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framework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defining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transparency,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non-discrimination,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auditability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requirements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automated</a:t>
            </a:r>
            <a:r>
              <a:rPr sz="1150" spc="-2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hiring</a:t>
            </a:r>
            <a:r>
              <a:rPr sz="1150" spc="-2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systems.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44835" y="5048395"/>
            <a:ext cx="11099800" cy="967740"/>
            <a:chOff x="544835" y="5048395"/>
            <a:chExt cx="11099800" cy="967740"/>
          </a:xfrm>
        </p:grpSpPr>
        <p:pic>
          <p:nvPicPr>
            <p:cNvPr id="41" name="object 4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4835" y="5048395"/>
              <a:ext cx="11099282" cy="96773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94359" y="5074920"/>
              <a:ext cx="11000740" cy="868680"/>
            </a:xfrm>
            <a:custGeom>
              <a:avLst/>
              <a:gdLst/>
              <a:ahLst/>
              <a:cxnLst/>
              <a:rect l="l" t="t" r="r" b="b"/>
              <a:pathLst>
                <a:path w="11000740" h="868679">
                  <a:moveTo>
                    <a:pt x="10855449" y="868679"/>
                  </a:move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7"/>
                  </a:lnTo>
                  <a:lnTo>
                    <a:pt x="0" y="144782"/>
                  </a:lnTo>
                  <a:lnTo>
                    <a:pt x="7381" y="99020"/>
                  </a:lnTo>
                  <a:lnTo>
                    <a:pt x="27934" y="59275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10855449" y="0"/>
                  </a:lnTo>
                  <a:lnTo>
                    <a:pt x="10910855" y="11020"/>
                  </a:lnTo>
                  <a:lnTo>
                    <a:pt x="10957825" y="42405"/>
                  </a:lnTo>
                  <a:lnTo>
                    <a:pt x="10989211" y="89376"/>
                  </a:lnTo>
                  <a:lnTo>
                    <a:pt x="11000232" y="144782"/>
                  </a:lnTo>
                  <a:lnTo>
                    <a:pt x="11000232" y="723897"/>
                  </a:lnTo>
                  <a:lnTo>
                    <a:pt x="10992851" y="769659"/>
                  </a:lnTo>
                  <a:lnTo>
                    <a:pt x="10972297" y="809404"/>
                  </a:lnTo>
                  <a:lnTo>
                    <a:pt x="10940956" y="840745"/>
                  </a:lnTo>
                  <a:lnTo>
                    <a:pt x="10901211" y="861298"/>
                  </a:lnTo>
                  <a:lnTo>
                    <a:pt x="10855449" y="86867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94359" y="5074920"/>
              <a:ext cx="11000740" cy="868680"/>
            </a:xfrm>
            <a:custGeom>
              <a:avLst/>
              <a:gdLst/>
              <a:ahLst/>
              <a:cxnLst/>
              <a:rect l="l" t="t" r="r" b="b"/>
              <a:pathLst>
                <a:path w="11000740" h="868679">
                  <a:moveTo>
                    <a:pt x="0" y="144782"/>
                  </a:moveTo>
                  <a:lnTo>
                    <a:pt x="7381" y="99020"/>
                  </a:lnTo>
                  <a:lnTo>
                    <a:pt x="27934" y="59275"/>
                  </a:lnTo>
                  <a:lnTo>
                    <a:pt x="59275" y="27934"/>
                  </a:lnTo>
                  <a:lnTo>
                    <a:pt x="99020" y="7381"/>
                  </a:lnTo>
                  <a:lnTo>
                    <a:pt x="144782" y="0"/>
                  </a:lnTo>
                  <a:lnTo>
                    <a:pt x="10855449" y="0"/>
                  </a:lnTo>
                  <a:lnTo>
                    <a:pt x="10910855" y="11020"/>
                  </a:lnTo>
                  <a:lnTo>
                    <a:pt x="10957825" y="42405"/>
                  </a:lnTo>
                  <a:lnTo>
                    <a:pt x="10989211" y="89376"/>
                  </a:lnTo>
                  <a:lnTo>
                    <a:pt x="11000232" y="144782"/>
                  </a:lnTo>
                  <a:lnTo>
                    <a:pt x="11000232" y="723897"/>
                  </a:lnTo>
                  <a:lnTo>
                    <a:pt x="10992851" y="769659"/>
                  </a:lnTo>
                  <a:lnTo>
                    <a:pt x="10972297" y="809404"/>
                  </a:lnTo>
                  <a:lnTo>
                    <a:pt x="10940956" y="840745"/>
                  </a:lnTo>
                  <a:lnTo>
                    <a:pt x="10901211" y="861298"/>
                  </a:lnTo>
                  <a:lnTo>
                    <a:pt x="10855449" y="868679"/>
                  </a:lnTo>
                  <a:lnTo>
                    <a:pt x="144782" y="868679"/>
                  </a:lnTo>
                  <a:lnTo>
                    <a:pt x="99020" y="861298"/>
                  </a:lnTo>
                  <a:lnTo>
                    <a:pt x="59275" y="840745"/>
                  </a:lnTo>
                  <a:lnTo>
                    <a:pt x="27934" y="809404"/>
                  </a:lnTo>
                  <a:lnTo>
                    <a:pt x="7381" y="769659"/>
                  </a:lnTo>
                  <a:lnTo>
                    <a:pt x="0" y="723897"/>
                  </a:lnTo>
                  <a:lnTo>
                    <a:pt x="0" y="144782"/>
                  </a:lnTo>
                  <a:close/>
                </a:path>
              </a:pathLst>
            </a:custGeom>
            <a:ln w="190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757" y="5217749"/>
              <a:ext cx="683885" cy="63816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31519" y="5239512"/>
              <a:ext cx="594360" cy="548640"/>
            </a:xfrm>
            <a:custGeom>
              <a:avLst/>
              <a:gdLst/>
              <a:ahLst/>
              <a:cxnLst/>
              <a:rect l="l" t="t" r="r" b="b"/>
              <a:pathLst>
                <a:path w="594360" h="548639">
                  <a:moveTo>
                    <a:pt x="502918" y="548639"/>
                  </a:move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7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02918" y="0"/>
                  </a:lnTo>
                  <a:lnTo>
                    <a:pt x="553650" y="15363"/>
                  </a:lnTo>
                  <a:lnTo>
                    <a:pt x="587399" y="56448"/>
                  </a:lnTo>
                  <a:lnTo>
                    <a:pt x="594359" y="91441"/>
                  </a:lnTo>
                  <a:lnTo>
                    <a:pt x="594359" y="457197"/>
                  </a:lnTo>
                  <a:lnTo>
                    <a:pt x="587174" y="492791"/>
                  </a:lnTo>
                  <a:lnTo>
                    <a:pt x="567577" y="521857"/>
                  </a:lnTo>
                  <a:lnTo>
                    <a:pt x="538511" y="541454"/>
                  </a:lnTo>
                  <a:lnTo>
                    <a:pt x="502918" y="548639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731519" y="5239512"/>
              <a:ext cx="594360" cy="548640"/>
            </a:xfrm>
            <a:custGeom>
              <a:avLst/>
              <a:gdLst/>
              <a:ahLst/>
              <a:cxnLst/>
              <a:rect l="l" t="t" r="r" b="b"/>
              <a:pathLst>
                <a:path w="594360" h="548639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502918" y="0"/>
                  </a:lnTo>
                  <a:lnTo>
                    <a:pt x="553650" y="15363"/>
                  </a:lnTo>
                  <a:lnTo>
                    <a:pt x="587399" y="56448"/>
                  </a:lnTo>
                  <a:lnTo>
                    <a:pt x="594359" y="91441"/>
                  </a:lnTo>
                  <a:lnTo>
                    <a:pt x="594359" y="457197"/>
                  </a:lnTo>
                  <a:lnTo>
                    <a:pt x="587174" y="492791"/>
                  </a:lnTo>
                  <a:lnTo>
                    <a:pt x="567577" y="521857"/>
                  </a:lnTo>
                  <a:lnTo>
                    <a:pt x="538511" y="541454"/>
                  </a:lnTo>
                  <a:lnTo>
                    <a:pt x="502918" y="548639"/>
                  </a:lnTo>
                  <a:lnTo>
                    <a:pt x="91441" y="548639"/>
                  </a:lnTo>
                  <a:lnTo>
                    <a:pt x="55848" y="541454"/>
                  </a:lnTo>
                  <a:lnTo>
                    <a:pt x="26782" y="521857"/>
                  </a:lnTo>
                  <a:lnTo>
                    <a:pt x="7185" y="492791"/>
                  </a:lnTo>
                  <a:lnTo>
                    <a:pt x="0" y="457197"/>
                  </a:lnTo>
                  <a:lnTo>
                    <a:pt x="0" y="91441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922387" y="5395467"/>
            <a:ext cx="2165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[5]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04620" y="5080905"/>
            <a:ext cx="9300210" cy="454659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New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York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City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Department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Consumer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Worker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Protection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(2023).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Automated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Employment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Decision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Tools</a:t>
            </a:r>
            <a:r>
              <a:rPr sz="130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(AEDT)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–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Local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Law</a:t>
            </a:r>
            <a:r>
              <a:rPr sz="130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2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144.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Relevance: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Official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statutory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mandate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penalizing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unexplainable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biased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automated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employment</a:t>
            </a:r>
            <a:r>
              <a:rPr sz="1150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decision</a:t>
            </a:r>
            <a:r>
              <a:rPr sz="1150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50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algorithms.</a:t>
            </a:r>
            <a:endParaRPr sz="11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00"/>
              </a:lnSpc>
            </a:pPr>
            <a:r>
              <a:rPr spc="-10" dirty="0"/>
              <a:t>Rajalakshmi</a:t>
            </a:r>
            <a:r>
              <a:rPr spc="-15" dirty="0"/>
              <a:t> </a:t>
            </a:r>
            <a:r>
              <a:rPr spc="-10" dirty="0"/>
              <a:t>Engineering </a:t>
            </a:r>
            <a:r>
              <a:rPr dirty="0"/>
              <a:t>College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Department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Cyber</a:t>
            </a:r>
            <a:r>
              <a:rPr spc="-15" dirty="0"/>
              <a:t> </a:t>
            </a:r>
            <a:r>
              <a:rPr dirty="0"/>
              <a:t>Security</a:t>
            </a:r>
            <a:r>
              <a:rPr spc="195" dirty="0"/>
              <a:t> </a:t>
            </a:r>
            <a:r>
              <a:rPr dirty="0"/>
              <a:t>|</a:t>
            </a:r>
            <a:r>
              <a:rPr spc="195" dirty="0"/>
              <a:t> </a:t>
            </a:r>
            <a:r>
              <a:rPr dirty="0"/>
              <a:t>Review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(2026–2027)</a:t>
            </a:r>
            <a:endParaRPr spc="-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49997" y="572597"/>
            <a:ext cx="4689475" cy="473709"/>
            <a:chOff x="3749997" y="572597"/>
            <a:chExt cx="4689475" cy="473709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749997" y="572597"/>
              <a:ext cx="4688957" cy="47357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794759" y="594359"/>
              <a:ext cx="4599940" cy="384175"/>
            </a:xfrm>
            <a:custGeom>
              <a:avLst/>
              <a:gdLst/>
              <a:ahLst/>
              <a:cxnLst/>
              <a:rect l="l" t="t" r="r" b="b"/>
              <a:pathLst>
                <a:path w="4599940" h="384175">
                  <a:moveTo>
                    <a:pt x="4535422" y="384047"/>
                  </a:moveTo>
                  <a:lnTo>
                    <a:pt x="64009" y="384047"/>
                  </a:lnTo>
                  <a:lnTo>
                    <a:pt x="39093" y="379017"/>
                  </a:lnTo>
                  <a:lnTo>
                    <a:pt x="18747" y="365300"/>
                  </a:lnTo>
                  <a:lnTo>
                    <a:pt x="5030" y="344954"/>
                  </a:lnTo>
                  <a:lnTo>
                    <a:pt x="0" y="320038"/>
                  </a:lnTo>
                  <a:lnTo>
                    <a:pt x="0" y="64009"/>
                  </a:lnTo>
                  <a:lnTo>
                    <a:pt x="5030" y="39093"/>
                  </a:lnTo>
                  <a:lnTo>
                    <a:pt x="18747" y="18747"/>
                  </a:lnTo>
                  <a:lnTo>
                    <a:pt x="39093" y="5030"/>
                  </a:lnTo>
                  <a:lnTo>
                    <a:pt x="64009" y="0"/>
                  </a:lnTo>
                  <a:lnTo>
                    <a:pt x="4535422" y="0"/>
                  </a:lnTo>
                  <a:lnTo>
                    <a:pt x="4580683" y="18747"/>
                  </a:lnTo>
                  <a:lnTo>
                    <a:pt x="4599432" y="64009"/>
                  </a:lnTo>
                  <a:lnTo>
                    <a:pt x="4599432" y="320038"/>
                  </a:lnTo>
                  <a:lnTo>
                    <a:pt x="4594402" y="344954"/>
                  </a:lnTo>
                  <a:lnTo>
                    <a:pt x="4580684" y="365300"/>
                  </a:lnTo>
                  <a:lnTo>
                    <a:pt x="4560338" y="379017"/>
                  </a:lnTo>
                  <a:lnTo>
                    <a:pt x="4535422" y="384047"/>
                  </a:lnTo>
                  <a:close/>
                </a:path>
              </a:pathLst>
            </a:custGeom>
            <a:solidFill>
              <a:srgbClr val="0F25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794759" y="594359"/>
              <a:ext cx="4599940" cy="384175"/>
            </a:xfrm>
            <a:custGeom>
              <a:avLst/>
              <a:gdLst/>
              <a:ahLst/>
              <a:cxnLst/>
              <a:rect l="l" t="t" r="r" b="b"/>
              <a:pathLst>
                <a:path w="4599940" h="384175">
                  <a:moveTo>
                    <a:pt x="0" y="64009"/>
                  </a:moveTo>
                  <a:lnTo>
                    <a:pt x="5030" y="39093"/>
                  </a:lnTo>
                  <a:lnTo>
                    <a:pt x="18747" y="18747"/>
                  </a:lnTo>
                  <a:lnTo>
                    <a:pt x="39093" y="5030"/>
                  </a:lnTo>
                  <a:lnTo>
                    <a:pt x="64009" y="0"/>
                  </a:lnTo>
                  <a:lnTo>
                    <a:pt x="4535422" y="0"/>
                  </a:lnTo>
                  <a:lnTo>
                    <a:pt x="4580683" y="18747"/>
                  </a:lnTo>
                  <a:lnTo>
                    <a:pt x="4599432" y="64009"/>
                  </a:lnTo>
                  <a:lnTo>
                    <a:pt x="4599432" y="320038"/>
                  </a:lnTo>
                  <a:lnTo>
                    <a:pt x="4594402" y="344954"/>
                  </a:lnTo>
                  <a:lnTo>
                    <a:pt x="4580684" y="365300"/>
                  </a:lnTo>
                  <a:lnTo>
                    <a:pt x="4560338" y="379017"/>
                  </a:lnTo>
                  <a:lnTo>
                    <a:pt x="4535422" y="384047"/>
                  </a:lnTo>
                  <a:lnTo>
                    <a:pt x="64009" y="384047"/>
                  </a:lnTo>
                  <a:lnTo>
                    <a:pt x="39093" y="379017"/>
                  </a:lnTo>
                  <a:lnTo>
                    <a:pt x="18747" y="365300"/>
                  </a:lnTo>
                  <a:lnTo>
                    <a:pt x="5030" y="344954"/>
                  </a:lnTo>
                  <a:lnTo>
                    <a:pt x="0" y="320038"/>
                  </a:lnTo>
                  <a:lnTo>
                    <a:pt x="0" y="64009"/>
                  </a:lnTo>
                  <a:close/>
                </a:path>
              </a:pathLst>
            </a:custGeom>
            <a:ln w="9524">
              <a:solidFill>
                <a:srgbClr val="0F25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340263" y="676147"/>
            <a:ext cx="35039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CS23533</a:t>
            </a:r>
            <a:r>
              <a:rPr sz="1200" b="1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–</a:t>
            </a:r>
            <a:r>
              <a:rPr sz="1200" b="1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FOUNDATIONS </a:t>
            </a:r>
            <a:r>
              <a:rPr sz="12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b="1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ARTIFICIAL</a:t>
            </a:r>
            <a:r>
              <a:rPr sz="1200" b="1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INTELLIGENCE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61700" y="1113300"/>
            <a:ext cx="10466070" cy="5271770"/>
            <a:chOff x="861700" y="1113300"/>
            <a:chExt cx="10466070" cy="527177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700" y="1113300"/>
              <a:ext cx="10465552" cy="52717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14399" y="1143000"/>
              <a:ext cx="10360660" cy="5166360"/>
            </a:xfrm>
            <a:custGeom>
              <a:avLst/>
              <a:gdLst/>
              <a:ahLst/>
              <a:cxnLst/>
              <a:rect l="l" t="t" r="r" b="b"/>
              <a:pathLst>
                <a:path w="10360660" h="5166360">
                  <a:moveTo>
                    <a:pt x="9499074" y="5166359"/>
                  </a:moveTo>
                  <a:lnTo>
                    <a:pt x="861077" y="5166359"/>
                  </a:lnTo>
                  <a:lnTo>
                    <a:pt x="812214" y="5164996"/>
                  </a:lnTo>
                  <a:lnTo>
                    <a:pt x="764067" y="5160956"/>
                  </a:lnTo>
                  <a:lnTo>
                    <a:pt x="716707" y="5154310"/>
                  </a:lnTo>
                  <a:lnTo>
                    <a:pt x="670208" y="5145131"/>
                  </a:lnTo>
                  <a:lnTo>
                    <a:pt x="624642" y="5133494"/>
                  </a:lnTo>
                  <a:lnTo>
                    <a:pt x="580082" y="5119469"/>
                  </a:lnTo>
                  <a:lnTo>
                    <a:pt x="536600" y="5103130"/>
                  </a:lnTo>
                  <a:lnTo>
                    <a:pt x="494270" y="5084549"/>
                  </a:lnTo>
                  <a:lnTo>
                    <a:pt x="453163" y="5063799"/>
                  </a:lnTo>
                  <a:lnTo>
                    <a:pt x="413353" y="5040953"/>
                  </a:lnTo>
                  <a:lnTo>
                    <a:pt x="374913" y="5016084"/>
                  </a:lnTo>
                  <a:lnTo>
                    <a:pt x="337914" y="4989264"/>
                  </a:lnTo>
                  <a:lnTo>
                    <a:pt x="302430" y="4960566"/>
                  </a:lnTo>
                  <a:lnTo>
                    <a:pt x="268533" y="4930062"/>
                  </a:lnTo>
                  <a:lnTo>
                    <a:pt x="236297" y="4897825"/>
                  </a:lnTo>
                  <a:lnTo>
                    <a:pt x="205793" y="4863929"/>
                  </a:lnTo>
                  <a:lnTo>
                    <a:pt x="177095" y="4828445"/>
                  </a:lnTo>
                  <a:lnTo>
                    <a:pt x="150275" y="4791446"/>
                  </a:lnTo>
                  <a:lnTo>
                    <a:pt x="125405" y="4753006"/>
                  </a:lnTo>
                  <a:lnTo>
                    <a:pt x="102560" y="4713196"/>
                  </a:lnTo>
                  <a:lnTo>
                    <a:pt x="81810" y="4672089"/>
                  </a:lnTo>
                  <a:lnTo>
                    <a:pt x="63229" y="4629759"/>
                  </a:lnTo>
                  <a:lnTo>
                    <a:pt x="46890" y="4586277"/>
                  </a:lnTo>
                  <a:lnTo>
                    <a:pt x="32865" y="4541717"/>
                  </a:lnTo>
                  <a:lnTo>
                    <a:pt x="21228" y="4496151"/>
                  </a:lnTo>
                  <a:lnTo>
                    <a:pt x="12049" y="4449652"/>
                  </a:lnTo>
                  <a:lnTo>
                    <a:pt x="5403" y="4402292"/>
                  </a:lnTo>
                  <a:lnTo>
                    <a:pt x="1363" y="4354145"/>
                  </a:lnTo>
                  <a:lnTo>
                    <a:pt x="0" y="4305282"/>
                  </a:lnTo>
                  <a:lnTo>
                    <a:pt x="0" y="861077"/>
                  </a:lnTo>
                  <a:lnTo>
                    <a:pt x="1363" y="812214"/>
                  </a:lnTo>
                  <a:lnTo>
                    <a:pt x="5403" y="764067"/>
                  </a:lnTo>
                  <a:lnTo>
                    <a:pt x="12049" y="716707"/>
                  </a:lnTo>
                  <a:lnTo>
                    <a:pt x="21228" y="670208"/>
                  </a:lnTo>
                  <a:lnTo>
                    <a:pt x="32865" y="624642"/>
                  </a:lnTo>
                  <a:lnTo>
                    <a:pt x="46890" y="580082"/>
                  </a:lnTo>
                  <a:lnTo>
                    <a:pt x="63229" y="536600"/>
                  </a:lnTo>
                  <a:lnTo>
                    <a:pt x="81810" y="494270"/>
                  </a:lnTo>
                  <a:lnTo>
                    <a:pt x="102560" y="453163"/>
                  </a:lnTo>
                  <a:lnTo>
                    <a:pt x="125405" y="413353"/>
                  </a:lnTo>
                  <a:lnTo>
                    <a:pt x="150275" y="374913"/>
                  </a:lnTo>
                  <a:lnTo>
                    <a:pt x="177095" y="337914"/>
                  </a:lnTo>
                  <a:lnTo>
                    <a:pt x="205793" y="302430"/>
                  </a:lnTo>
                  <a:lnTo>
                    <a:pt x="236297" y="268533"/>
                  </a:lnTo>
                  <a:lnTo>
                    <a:pt x="268533" y="236297"/>
                  </a:lnTo>
                  <a:lnTo>
                    <a:pt x="302430" y="205793"/>
                  </a:lnTo>
                  <a:lnTo>
                    <a:pt x="337914" y="177095"/>
                  </a:lnTo>
                  <a:lnTo>
                    <a:pt x="374913" y="150275"/>
                  </a:lnTo>
                  <a:lnTo>
                    <a:pt x="413353" y="125405"/>
                  </a:lnTo>
                  <a:lnTo>
                    <a:pt x="453163" y="102560"/>
                  </a:lnTo>
                  <a:lnTo>
                    <a:pt x="494270" y="81810"/>
                  </a:lnTo>
                  <a:lnTo>
                    <a:pt x="536600" y="63229"/>
                  </a:lnTo>
                  <a:lnTo>
                    <a:pt x="580082" y="46890"/>
                  </a:lnTo>
                  <a:lnTo>
                    <a:pt x="624642" y="32865"/>
                  </a:lnTo>
                  <a:lnTo>
                    <a:pt x="670208" y="21228"/>
                  </a:lnTo>
                  <a:lnTo>
                    <a:pt x="716707" y="12049"/>
                  </a:lnTo>
                  <a:lnTo>
                    <a:pt x="764067" y="5403"/>
                  </a:lnTo>
                  <a:lnTo>
                    <a:pt x="812214" y="1363"/>
                  </a:lnTo>
                  <a:lnTo>
                    <a:pt x="861077" y="0"/>
                  </a:lnTo>
                  <a:lnTo>
                    <a:pt x="9499074" y="0"/>
                  </a:lnTo>
                  <a:lnTo>
                    <a:pt x="9547851" y="1381"/>
                  </a:lnTo>
                  <a:lnTo>
                    <a:pt x="9596235" y="5496"/>
                  </a:lnTo>
                  <a:lnTo>
                    <a:pt x="9644122" y="12300"/>
                  </a:lnTo>
                  <a:lnTo>
                    <a:pt x="9691407" y="21751"/>
                  </a:lnTo>
                  <a:lnTo>
                    <a:pt x="9737985" y="33805"/>
                  </a:lnTo>
                  <a:lnTo>
                    <a:pt x="9783749" y="48417"/>
                  </a:lnTo>
                  <a:lnTo>
                    <a:pt x="9828594" y="65545"/>
                  </a:lnTo>
                  <a:lnTo>
                    <a:pt x="9872416" y="85145"/>
                  </a:lnTo>
                  <a:lnTo>
                    <a:pt x="9915109" y="107172"/>
                  </a:lnTo>
                  <a:lnTo>
                    <a:pt x="9956567" y="131584"/>
                  </a:lnTo>
                  <a:lnTo>
                    <a:pt x="9996686" y="158337"/>
                  </a:lnTo>
                  <a:lnTo>
                    <a:pt x="10035359" y="187387"/>
                  </a:lnTo>
                  <a:lnTo>
                    <a:pt x="10072481" y="218690"/>
                  </a:lnTo>
                  <a:lnTo>
                    <a:pt x="10107948" y="252203"/>
                  </a:lnTo>
                  <a:lnTo>
                    <a:pt x="10141461" y="287670"/>
                  </a:lnTo>
                  <a:lnTo>
                    <a:pt x="10172764" y="324792"/>
                  </a:lnTo>
                  <a:lnTo>
                    <a:pt x="10201814" y="363466"/>
                  </a:lnTo>
                  <a:lnTo>
                    <a:pt x="10228567" y="403584"/>
                  </a:lnTo>
                  <a:lnTo>
                    <a:pt x="10252979" y="445042"/>
                  </a:lnTo>
                  <a:lnTo>
                    <a:pt x="10275006" y="487735"/>
                  </a:lnTo>
                  <a:lnTo>
                    <a:pt x="10294606" y="531557"/>
                  </a:lnTo>
                  <a:lnTo>
                    <a:pt x="10311734" y="576402"/>
                  </a:lnTo>
                  <a:lnTo>
                    <a:pt x="10326346" y="622167"/>
                  </a:lnTo>
                  <a:lnTo>
                    <a:pt x="10338400" y="668744"/>
                  </a:lnTo>
                  <a:lnTo>
                    <a:pt x="10347851" y="716029"/>
                  </a:lnTo>
                  <a:lnTo>
                    <a:pt x="10354656" y="763916"/>
                  </a:lnTo>
                  <a:lnTo>
                    <a:pt x="10358771" y="812301"/>
                  </a:lnTo>
                  <a:lnTo>
                    <a:pt x="10360152" y="861077"/>
                  </a:lnTo>
                  <a:lnTo>
                    <a:pt x="10360152" y="4305282"/>
                  </a:lnTo>
                  <a:lnTo>
                    <a:pt x="10358789" y="4354145"/>
                  </a:lnTo>
                  <a:lnTo>
                    <a:pt x="10354748" y="4402292"/>
                  </a:lnTo>
                  <a:lnTo>
                    <a:pt x="10348102" y="4449652"/>
                  </a:lnTo>
                  <a:lnTo>
                    <a:pt x="10338924" y="4496151"/>
                  </a:lnTo>
                  <a:lnTo>
                    <a:pt x="10327286" y="4541717"/>
                  </a:lnTo>
                  <a:lnTo>
                    <a:pt x="10313261" y="4586277"/>
                  </a:lnTo>
                  <a:lnTo>
                    <a:pt x="10296922" y="4629759"/>
                  </a:lnTo>
                  <a:lnTo>
                    <a:pt x="10278341" y="4672089"/>
                  </a:lnTo>
                  <a:lnTo>
                    <a:pt x="10257592" y="4713196"/>
                  </a:lnTo>
                  <a:lnTo>
                    <a:pt x="10234746" y="4753006"/>
                  </a:lnTo>
                  <a:lnTo>
                    <a:pt x="10209876" y="4791446"/>
                  </a:lnTo>
                  <a:lnTo>
                    <a:pt x="10183056" y="4828445"/>
                  </a:lnTo>
                  <a:lnTo>
                    <a:pt x="10154358" y="4863929"/>
                  </a:lnTo>
                  <a:lnTo>
                    <a:pt x="10123854" y="4897825"/>
                  </a:lnTo>
                  <a:lnTo>
                    <a:pt x="10091618" y="4930062"/>
                  </a:lnTo>
                  <a:lnTo>
                    <a:pt x="10057721" y="4960566"/>
                  </a:lnTo>
                  <a:lnTo>
                    <a:pt x="10022237" y="4989264"/>
                  </a:lnTo>
                  <a:lnTo>
                    <a:pt x="9985239" y="5016084"/>
                  </a:lnTo>
                  <a:lnTo>
                    <a:pt x="9946798" y="5040953"/>
                  </a:lnTo>
                  <a:lnTo>
                    <a:pt x="9906988" y="5063799"/>
                  </a:lnTo>
                  <a:lnTo>
                    <a:pt x="9865882" y="5084549"/>
                  </a:lnTo>
                  <a:lnTo>
                    <a:pt x="9823551" y="5103130"/>
                  </a:lnTo>
                  <a:lnTo>
                    <a:pt x="9780069" y="5119469"/>
                  </a:lnTo>
                  <a:lnTo>
                    <a:pt x="9735509" y="5133494"/>
                  </a:lnTo>
                  <a:lnTo>
                    <a:pt x="9689943" y="5145131"/>
                  </a:lnTo>
                  <a:lnTo>
                    <a:pt x="9643444" y="5154310"/>
                  </a:lnTo>
                  <a:lnTo>
                    <a:pt x="9596084" y="5160956"/>
                  </a:lnTo>
                  <a:lnTo>
                    <a:pt x="9547937" y="5164996"/>
                  </a:lnTo>
                  <a:lnTo>
                    <a:pt x="9499074" y="516635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4399" y="1143000"/>
              <a:ext cx="10360660" cy="5166360"/>
            </a:xfrm>
            <a:custGeom>
              <a:avLst/>
              <a:gdLst/>
              <a:ahLst/>
              <a:cxnLst/>
              <a:rect l="l" t="t" r="r" b="b"/>
              <a:pathLst>
                <a:path w="10360660" h="5166360">
                  <a:moveTo>
                    <a:pt x="0" y="861077"/>
                  </a:moveTo>
                  <a:lnTo>
                    <a:pt x="1363" y="812214"/>
                  </a:lnTo>
                  <a:lnTo>
                    <a:pt x="5403" y="764067"/>
                  </a:lnTo>
                  <a:lnTo>
                    <a:pt x="12049" y="716707"/>
                  </a:lnTo>
                  <a:lnTo>
                    <a:pt x="21228" y="670208"/>
                  </a:lnTo>
                  <a:lnTo>
                    <a:pt x="32865" y="624642"/>
                  </a:lnTo>
                  <a:lnTo>
                    <a:pt x="46890" y="580082"/>
                  </a:lnTo>
                  <a:lnTo>
                    <a:pt x="63229" y="536600"/>
                  </a:lnTo>
                  <a:lnTo>
                    <a:pt x="81810" y="494270"/>
                  </a:lnTo>
                  <a:lnTo>
                    <a:pt x="102560" y="453163"/>
                  </a:lnTo>
                  <a:lnTo>
                    <a:pt x="125405" y="413353"/>
                  </a:lnTo>
                  <a:lnTo>
                    <a:pt x="150275" y="374913"/>
                  </a:lnTo>
                  <a:lnTo>
                    <a:pt x="177095" y="337914"/>
                  </a:lnTo>
                  <a:lnTo>
                    <a:pt x="205793" y="302430"/>
                  </a:lnTo>
                  <a:lnTo>
                    <a:pt x="236297" y="268533"/>
                  </a:lnTo>
                  <a:lnTo>
                    <a:pt x="268533" y="236297"/>
                  </a:lnTo>
                  <a:lnTo>
                    <a:pt x="302430" y="205793"/>
                  </a:lnTo>
                  <a:lnTo>
                    <a:pt x="337914" y="177095"/>
                  </a:lnTo>
                  <a:lnTo>
                    <a:pt x="374913" y="150275"/>
                  </a:lnTo>
                  <a:lnTo>
                    <a:pt x="413353" y="125405"/>
                  </a:lnTo>
                  <a:lnTo>
                    <a:pt x="453163" y="102560"/>
                  </a:lnTo>
                  <a:lnTo>
                    <a:pt x="494270" y="81810"/>
                  </a:lnTo>
                  <a:lnTo>
                    <a:pt x="536600" y="63229"/>
                  </a:lnTo>
                  <a:lnTo>
                    <a:pt x="580082" y="46890"/>
                  </a:lnTo>
                  <a:lnTo>
                    <a:pt x="624642" y="32865"/>
                  </a:lnTo>
                  <a:lnTo>
                    <a:pt x="670208" y="21228"/>
                  </a:lnTo>
                  <a:lnTo>
                    <a:pt x="716707" y="12049"/>
                  </a:lnTo>
                  <a:lnTo>
                    <a:pt x="764067" y="5403"/>
                  </a:lnTo>
                  <a:lnTo>
                    <a:pt x="812214" y="1363"/>
                  </a:lnTo>
                  <a:lnTo>
                    <a:pt x="861077" y="0"/>
                  </a:lnTo>
                  <a:lnTo>
                    <a:pt x="9499074" y="0"/>
                  </a:lnTo>
                  <a:lnTo>
                    <a:pt x="9547851" y="1381"/>
                  </a:lnTo>
                  <a:lnTo>
                    <a:pt x="9596235" y="5496"/>
                  </a:lnTo>
                  <a:lnTo>
                    <a:pt x="9644122" y="12300"/>
                  </a:lnTo>
                  <a:lnTo>
                    <a:pt x="9691407" y="21751"/>
                  </a:lnTo>
                  <a:lnTo>
                    <a:pt x="9737985" y="33805"/>
                  </a:lnTo>
                  <a:lnTo>
                    <a:pt x="9783749" y="48417"/>
                  </a:lnTo>
                  <a:lnTo>
                    <a:pt x="9828594" y="65545"/>
                  </a:lnTo>
                  <a:lnTo>
                    <a:pt x="9872416" y="85145"/>
                  </a:lnTo>
                  <a:lnTo>
                    <a:pt x="9915109" y="107172"/>
                  </a:lnTo>
                  <a:lnTo>
                    <a:pt x="9956567" y="131584"/>
                  </a:lnTo>
                  <a:lnTo>
                    <a:pt x="9996686" y="158337"/>
                  </a:lnTo>
                  <a:lnTo>
                    <a:pt x="10035359" y="187387"/>
                  </a:lnTo>
                  <a:lnTo>
                    <a:pt x="10072481" y="218690"/>
                  </a:lnTo>
                  <a:lnTo>
                    <a:pt x="10107948" y="252203"/>
                  </a:lnTo>
                  <a:lnTo>
                    <a:pt x="10141461" y="287670"/>
                  </a:lnTo>
                  <a:lnTo>
                    <a:pt x="10172764" y="324792"/>
                  </a:lnTo>
                  <a:lnTo>
                    <a:pt x="10201814" y="363466"/>
                  </a:lnTo>
                  <a:lnTo>
                    <a:pt x="10228567" y="403584"/>
                  </a:lnTo>
                  <a:lnTo>
                    <a:pt x="10252979" y="445042"/>
                  </a:lnTo>
                  <a:lnTo>
                    <a:pt x="10275006" y="487735"/>
                  </a:lnTo>
                  <a:lnTo>
                    <a:pt x="10294606" y="531557"/>
                  </a:lnTo>
                  <a:lnTo>
                    <a:pt x="10311734" y="576402"/>
                  </a:lnTo>
                  <a:lnTo>
                    <a:pt x="10326346" y="622167"/>
                  </a:lnTo>
                  <a:lnTo>
                    <a:pt x="10338400" y="668744"/>
                  </a:lnTo>
                  <a:lnTo>
                    <a:pt x="10347851" y="716029"/>
                  </a:lnTo>
                  <a:lnTo>
                    <a:pt x="10354656" y="763916"/>
                  </a:lnTo>
                  <a:lnTo>
                    <a:pt x="10358771" y="812301"/>
                  </a:lnTo>
                  <a:lnTo>
                    <a:pt x="10360152" y="861077"/>
                  </a:lnTo>
                  <a:lnTo>
                    <a:pt x="10360152" y="4305282"/>
                  </a:lnTo>
                  <a:lnTo>
                    <a:pt x="10358789" y="4354145"/>
                  </a:lnTo>
                  <a:lnTo>
                    <a:pt x="10354748" y="4402292"/>
                  </a:lnTo>
                  <a:lnTo>
                    <a:pt x="10348102" y="4449652"/>
                  </a:lnTo>
                  <a:lnTo>
                    <a:pt x="10338924" y="4496151"/>
                  </a:lnTo>
                  <a:lnTo>
                    <a:pt x="10327286" y="4541717"/>
                  </a:lnTo>
                  <a:lnTo>
                    <a:pt x="10313261" y="4586277"/>
                  </a:lnTo>
                  <a:lnTo>
                    <a:pt x="10296922" y="4629759"/>
                  </a:lnTo>
                  <a:lnTo>
                    <a:pt x="10278341" y="4672089"/>
                  </a:lnTo>
                  <a:lnTo>
                    <a:pt x="10257592" y="4713196"/>
                  </a:lnTo>
                  <a:lnTo>
                    <a:pt x="10234746" y="4753006"/>
                  </a:lnTo>
                  <a:lnTo>
                    <a:pt x="10209876" y="4791446"/>
                  </a:lnTo>
                  <a:lnTo>
                    <a:pt x="10183056" y="4828445"/>
                  </a:lnTo>
                  <a:lnTo>
                    <a:pt x="10154358" y="4863929"/>
                  </a:lnTo>
                  <a:lnTo>
                    <a:pt x="10123854" y="4897825"/>
                  </a:lnTo>
                  <a:lnTo>
                    <a:pt x="10091618" y="4930062"/>
                  </a:lnTo>
                  <a:lnTo>
                    <a:pt x="10057721" y="4960566"/>
                  </a:lnTo>
                  <a:lnTo>
                    <a:pt x="10022237" y="4989264"/>
                  </a:lnTo>
                  <a:lnTo>
                    <a:pt x="9985239" y="5016084"/>
                  </a:lnTo>
                  <a:lnTo>
                    <a:pt x="9946798" y="5040953"/>
                  </a:lnTo>
                  <a:lnTo>
                    <a:pt x="9906988" y="5063799"/>
                  </a:lnTo>
                  <a:lnTo>
                    <a:pt x="9865882" y="5084549"/>
                  </a:lnTo>
                  <a:lnTo>
                    <a:pt x="9823551" y="5103130"/>
                  </a:lnTo>
                  <a:lnTo>
                    <a:pt x="9780069" y="5119469"/>
                  </a:lnTo>
                  <a:lnTo>
                    <a:pt x="9735509" y="5133494"/>
                  </a:lnTo>
                  <a:lnTo>
                    <a:pt x="9689943" y="5145131"/>
                  </a:lnTo>
                  <a:lnTo>
                    <a:pt x="9643444" y="5154310"/>
                  </a:lnTo>
                  <a:lnTo>
                    <a:pt x="9596084" y="5160956"/>
                  </a:lnTo>
                  <a:lnTo>
                    <a:pt x="9547937" y="5164996"/>
                  </a:lnTo>
                  <a:lnTo>
                    <a:pt x="9499074" y="5166359"/>
                  </a:lnTo>
                  <a:lnTo>
                    <a:pt x="861077" y="5166359"/>
                  </a:lnTo>
                  <a:lnTo>
                    <a:pt x="812214" y="5164996"/>
                  </a:lnTo>
                  <a:lnTo>
                    <a:pt x="764067" y="5160956"/>
                  </a:lnTo>
                  <a:lnTo>
                    <a:pt x="716707" y="5154310"/>
                  </a:lnTo>
                  <a:lnTo>
                    <a:pt x="670208" y="5145131"/>
                  </a:lnTo>
                  <a:lnTo>
                    <a:pt x="624642" y="5133494"/>
                  </a:lnTo>
                  <a:lnTo>
                    <a:pt x="580082" y="5119469"/>
                  </a:lnTo>
                  <a:lnTo>
                    <a:pt x="536600" y="5103130"/>
                  </a:lnTo>
                  <a:lnTo>
                    <a:pt x="494270" y="5084549"/>
                  </a:lnTo>
                  <a:lnTo>
                    <a:pt x="453163" y="5063799"/>
                  </a:lnTo>
                  <a:lnTo>
                    <a:pt x="413353" y="5040953"/>
                  </a:lnTo>
                  <a:lnTo>
                    <a:pt x="374913" y="5016084"/>
                  </a:lnTo>
                  <a:lnTo>
                    <a:pt x="337914" y="4989264"/>
                  </a:lnTo>
                  <a:lnTo>
                    <a:pt x="302430" y="4960566"/>
                  </a:lnTo>
                  <a:lnTo>
                    <a:pt x="268533" y="4930062"/>
                  </a:lnTo>
                  <a:lnTo>
                    <a:pt x="236297" y="4897825"/>
                  </a:lnTo>
                  <a:lnTo>
                    <a:pt x="205793" y="4863929"/>
                  </a:lnTo>
                  <a:lnTo>
                    <a:pt x="177095" y="4828445"/>
                  </a:lnTo>
                  <a:lnTo>
                    <a:pt x="150275" y="4791446"/>
                  </a:lnTo>
                  <a:lnTo>
                    <a:pt x="125405" y="4753006"/>
                  </a:lnTo>
                  <a:lnTo>
                    <a:pt x="102560" y="4713196"/>
                  </a:lnTo>
                  <a:lnTo>
                    <a:pt x="81810" y="4672089"/>
                  </a:lnTo>
                  <a:lnTo>
                    <a:pt x="63229" y="4629759"/>
                  </a:lnTo>
                  <a:lnTo>
                    <a:pt x="46890" y="4586277"/>
                  </a:lnTo>
                  <a:lnTo>
                    <a:pt x="32865" y="4541717"/>
                  </a:lnTo>
                  <a:lnTo>
                    <a:pt x="21228" y="4496151"/>
                  </a:lnTo>
                  <a:lnTo>
                    <a:pt x="12049" y="4449652"/>
                  </a:lnTo>
                  <a:lnTo>
                    <a:pt x="5403" y="4402292"/>
                  </a:lnTo>
                  <a:lnTo>
                    <a:pt x="1363" y="4354145"/>
                  </a:lnTo>
                  <a:lnTo>
                    <a:pt x="0" y="4305282"/>
                  </a:lnTo>
                  <a:lnTo>
                    <a:pt x="0" y="861077"/>
                  </a:lnTo>
                  <a:close/>
                </a:path>
              </a:pathLst>
            </a:custGeom>
            <a:ln w="25399">
              <a:solidFill>
                <a:srgbClr val="1E39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808799" y="1676505"/>
            <a:ext cx="25685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F2547"/>
                </a:solidFill>
              </a:rPr>
              <a:t>THANK</a:t>
            </a:r>
            <a:r>
              <a:rPr sz="4000" spc="-25" dirty="0">
                <a:solidFill>
                  <a:srgbClr val="0F2547"/>
                </a:solidFill>
              </a:rPr>
              <a:t> YOU</a:t>
            </a:r>
            <a:endParaRPr sz="4000"/>
          </a:p>
        </p:txBody>
      </p:sp>
      <p:sp>
        <p:nvSpPr>
          <p:cNvPr id="12" name="object 12"/>
          <p:cNvSpPr txBox="1"/>
          <p:nvPr/>
        </p:nvSpPr>
        <p:spPr>
          <a:xfrm>
            <a:off x="2118853" y="2348589"/>
            <a:ext cx="7942580" cy="95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Open</a:t>
            </a:r>
            <a:r>
              <a:rPr sz="1700" b="1" spc="-3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700" b="1" spc="-3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Technical</a:t>
            </a:r>
            <a:r>
              <a:rPr sz="17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Questions,</a:t>
            </a:r>
            <a:r>
              <a:rPr sz="1700" b="1" spc="-3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Viva</a:t>
            </a:r>
            <a:r>
              <a:rPr sz="17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Defense</a:t>
            </a:r>
            <a:r>
              <a:rPr sz="1700" b="1" spc="-3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700" b="1" spc="-3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Constructive</a:t>
            </a:r>
            <a:r>
              <a:rPr sz="1700" b="1" spc="-35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00" b="1" spc="-10" dirty="0">
                <a:solidFill>
                  <a:srgbClr val="0284C7"/>
                </a:solidFill>
                <a:latin typeface="Calibri" panose="020F0502020204030204"/>
                <a:cs typeface="Calibri" panose="020F0502020204030204"/>
              </a:rPr>
              <a:t>Suggestions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16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HireAI:</a:t>
            </a:r>
            <a:r>
              <a:rPr sz="1600" b="1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600" b="1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Rule-</a:t>
            </a:r>
            <a:r>
              <a:rPr sz="16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Based</a:t>
            </a:r>
            <a:r>
              <a:rPr sz="1600" b="1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Intelligent</a:t>
            </a:r>
            <a:r>
              <a:rPr sz="1600" b="1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Recruitment</a:t>
            </a:r>
            <a:r>
              <a:rPr sz="1600" b="1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Expert</a:t>
            </a:r>
            <a:r>
              <a:rPr sz="1600" b="1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System</a:t>
            </a:r>
            <a:r>
              <a:rPr sz="1600" b="1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600" b="1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Explainable</a:t>
            </a:r>
            <a:r>
              <a:rPr sz="1600" b="1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Decision</a:t>
            </a:r>
            <a:r>
              <a:rPr sz="1600" b="1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Support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09855" algn="ctr">
              <a:lnSpc>
                <a:spcPct val="100000"/>
              </a:lnSpc>
              <a:spcBef>
                <a:spcPts val="610"/>
              </a:spcBef>
            </a:pPr>
            <a:r>
              <a:rPr sz="1300" b="1" spc="-10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CS23533</a:t>
            </a:r>
            <a:r>
              <a:rPr sz="1300" b="1" spc="-25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–</a:t>
            </a:r>
            <a:r>
              <a:rPr sz="1300" b="1" spc="-20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Foundations</a:t>
            </a:r>
            <a:r>
              <a:rPr sz="1300" b="1" spc="-20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300" b="1" spc="-20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spc="-10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Artificial</a:t>
            </a:r>
            <a:r>
              <a:rPr sz="1300" b="1" spc="-20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Intelligence</a:t>
            </a:r>
            <a:r>
              <a:rPr sz="1300" b="1" spc="265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300" b="1" spc="265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Project</a:t>
            </a:r>
            <a:r>
              <a:rPr sz="1300" b="1" spc="-20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Review</a:t>
            </a:r>
            <a:r>
              <a:rPr sz="1300" b="1" spc="-20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–</a:t>
            </a:r>
            <a:r>
              <a:rPr sz="1300" b="1" spc="-20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00" b="1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1</a:t>
            </a:r>
            <a:r>
              <a:rPr sz="1300" b="1" spc="-20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 (2026–</a:t>
            </a:r>
            <a:r>
              <a:rPr sz="1300" b="1" spc="-10" dirty="0">
                <a:solidFill>
                  <a:srgbClr val="475568"/>
                </a:solidFill>
                <a:latin typeface="Calibri" panose="020F0502020204030204"/>
                <a:cs typeface="Calibri" panose="020F0502020204030204"/>
              </a:rPr>
              <a:t>2027)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01157" y="3544397"/>
            <a:ext cx="2741295" cy="473709"/>
            <a:chOff x="1601157" y="3544397"/>
            <a:chExt cx="2741295" cy="473709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1157" y="3544397"/>
              <a:ext cx="2741285" cy="47357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645920" y="3566159"/>
              <a:ext cx="2651760" cy="384175"/>
            </a:xfrm>
            <a:custGeom>
              <a:avLst/>
              <a:gdLst/>
              <a:ahLst/>
              <a:cxnLst/>
              <a:rect l="l" t="t" r="r" b="b"/>
              <a:pathLst>
                <a:path w="2651760" h="384175">
                  <a:moveTo>
                    <a:pt x="2587750" y="384047"/>
                  </a:moveTo>
                  <a:lnTo>
                    <a:pt x="64009" y="384047"/>
                  </a:lnTo>
                  <a:lnTo>
                    <a:pt x="39093" y="379017"/>
                  </a:lnTo>
                  <a:lnTo>
                    <a:pt x="18747" y="365299"/>
                  </a:lnTo>
                  <a:lnTo>
                    <a:pt x="5030" y="344953"/>
                  </a:lnTo>
                  <a:lnTo>
                    <a:pt x="0" y="320038"/>
                  </a:lnTo>
                  <a:lnTo>
                    <a:pt x="0" y="64009"/>
                  </a:lnTo>
                  <a:lnTo>
                    <a:pt x="5030" y="39093"/>
                  </a:lnTo>
                  <a:lnTo>
                    <a:pt x="18747" y="18747"/>
                  </a:lnTo>
                  <a:lnTo>
                    <a:pt x="39093" y="5030"/>
                  </a:lnTo>
                  <a:lnTo>
                    <a:pt x="64009" y="0"/>
                  </a:lnTo>
                  <a:lnTo>
                    <a:pt x="2587750" y="0"/>
                  </a:lnTo>
                  <a:lnTo>
                    <a:pt x="2633011" y="18747"/>
                  </a:lnTo>
                  <a:lnTo>
                    <a:pt x="2651759" y="64009"/>
                  </a:lnTo>
                  <a:lnTo>
                    <a:pt x="2651759" y="320038"/>
                  </a:lnTo>
                  <a:lnTo>
                    <a:pt x="2646729" y="344953"/>
                  </a:lnTo>
                  <a:lnTo>
                    <a:pt x="2633012" y="365299"/>
                  </a:lnTo>
                  <a:lnTo>
                    <a:pt x="2612665" y="379017"/>
                  </a:lnTo>
                  <a:lnTo>
                    <a:pt x="2587750" y="384047"/>
                  </a:lnTo>
                  <a:close/>
                </a:path>
              </a:pathLst>
            </a:custGeom>
            <a:solidFill>
              <a:srgbClr val="16A3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645920" y="3566159"/>
              <a:ext cx="2651760" cy="384175"/>
            </a:xfrm>
            <a:custGeom>
              <a:avLst/>
              <a:gdLst/>
              <a:ahLst/>
              <a:cxnLst/>
              <a:rect l="l" t="t" r="r" b="b"/>
              <a:pathLst>
                <a:path w="2651760" h="384175">
                  <a:moveTo>
                    <a:pt x="0" y="64009"/>
                  </a:moveTo>
                  <a:lnTo>
                    <a:pt x="5030" y="39093"/>
                  </a:lnTo>
                  <a:lnTo>
                    <a:pt x="18747" y="18747"/>
                  </a:lnTo>
                  <a:lnTo>
                    <a:pt x="39093" y="5030"/>
                  </a:lnTo>
                  <a:lnTo>
                    <a:pt x="64009" y="0"/>
                  </a:lnTo>
                  <a:lnTo>
                    <a:pt x="2587750" y="0"/>
                  </a:lnTo>
                  <a:lnTo>
                    <a:pt x="2633011" y="18747"/>
                  </a:lnTo>
                  <a:lnTo>
                    <a:pt x="2651759" y="64009"/>
                  </a:lnTo>
                  <a:lnTo>
                    <a:pt x="2651759" y="320038"/>
                  </a:lnTo>
                  <a:lnTo>
                    <a:pt x="2646729" y="344953"/>
                  </a:lnTo>
                  <a:lnTo>
                    <a:pt x="2633012" y="365299"/>
                  </a:lnTo>
                  <a:lnTo>
                    <a:pt x="2612665" y="379017"/>
                  </a:lnTo>
                  <a:lnTo>
                    <a:pt x="2587750" y="384047"/>
                  </a:lnTo>
                  <a:lnTo>
                    <a:pt x="64009" y="384047"/>
                  </a:lnTo>
                  <a:lnTo>
                    <a:pt x="39093" y="379017"/>
                  </a:lnTo>
                  <a:lnTo>
                    <a:pt x="18747" y="365299"/>
                  </a:lnTo>
                  <a:lnTo>
                    <a:pt x="5030" y="344953"/>
                  </a:lnTo>
                  <a:lnTo>
                    <a:pt x="0" y="320038"/>
                  </a:lnTo>
                  <a:lnTo>
                    <a:pt x="0" y="64009"/>
                  </a:lnTo>
                  <a:close/>
                </a:path>
              </a:pathLst>
            </a:custGeom>
            <a:ln w="9524">
              <a:solidFill>
                <a:srgbClr val="16A34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122090" y="3647947"/>
            <a:ext cx="16979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SimSun-ExtB" panose="02010609060101010101" charset="-122"/>
                <a:cs typeface="SimSun-ExtB" panose="02010609060101010101" charset="-122"/>
              </a:rPr>
              <a:t>✔</a:t>
            </a:r>
            <a:r>
              <a:rPr sz="1200" spc="-295" dirty="0">
                <a:solidFill>
                  <a:srgbClr val="FFFFFF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100%</a:t>
            </a:r>
            <a:r>
              <a:rPr sz="12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EXPLAINABLE</a:t>
            </a:r>
            <a:r>
              <a:rPr sz="1200" b="1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XAI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10117" y="3544397"/>
            <a:ext cx="2741295" cy="473709"/>
            <a:chOff x="4710117" y="3544397"/>
            <a:chExt cx="2741295" cy="473709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0117" y="3544397"/>
              <a:ext cx="2741285" cy="47357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754879" y="3566159"/>
              <a:ext cx="2651760" cy="384175"/>
            </a:xfrm>
            <a:custGeom>
              <a:avLst/>
              <a:gdLst/>
              <a:ahLst/>
              <a:cxnLst/>
              <a:rect l="l" t="t" r="r" b="b"/>
              <a:pathLst>
                <a:path w="2651759" h="384175">
                  <a:moveTo>
                    <a:pt x="2587750" y="384047"/>
                  </a:moveTo>
                  <a:lnTo>
                    <a:pt x="64009" y="384047"/>
                  </a:lnTo>
                  <a:lnTo>
                    <a:pt x="39094" y="379017"/>
                  </a:lnTo>
                  <a:lnTo>
                    <a:pt x="18747" y="365299"/>
                  </a:lnTo>
                  <a:lnTo>
                    <a:pt x="5030" y="344953"/>
                  </a:lnTo>
                  <a:lnTo>
                    <a:pt x="0" y="320038"/>
                  </a:lnTo>
                  <a:lnTo>
                    <a:pt x="0" y="64009"/>
                  </a:lnTo>
                  <a:lnTo>
                    <a:pt x="5030" y="39093"/>
                  </a:lnTo>
                  <a:lnTo>
                    <a:pt x="18747" y="18747"/>
                  </a:lnTo>
                  <a:lnTo>
                    <a:pt x="39094" y="5030"/>
                  </a:lnTo>
                  <a:lnTo>
                    <a:pt x="64009" y="0"/>
                  </a:lnTo>
                  <a:lnTo>
                    <a:pt x="2587750" y="0"/>
                  </a:lnTo>
                  <a:lnTo>
                    <a:pt x="2633012" y="18747"/>
                  </a:lnTo>
                  <a:lnTo>
                    <a:pt x="2651759" y="64009"/>
                  </a:lnTo>
                  <a:lnTo>
                    <a:pt x="2651759" y="320038"/>
                  </a:lnTo>
                  <a:lnTo>
                    <a:pt x="2646729" y="344953"/>
                  </a:lnTo>
                  <a:lnTo>
                    <a:pt x="2633012" y="365299"/>
                  </a:lnTo>
                  <a:lnTo>
                    <a:pt x="2612665" y="379017"/>
                  </a:lnTo>
                  <a:lnTo>
                    <a:pt x="2587750" y="384047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754879" y="3566159"/>
              <a:ext cx="2651760" cy="384175"/>
            </a:xfrm>
            <a:custGeom>
              <a:avLst/>
              <a:gdLst/>
              <a:ahLst/>
              <a:cxnLst/>
              <a:rect l="l" t="t" r="r" b="b"/>
              <a:pathLst>
                <a:path w="2651759" h="384175">
                  <a:moveTo>
                    <a:pt x="0" y="64009"/>
                  </a:moveTo>
                  <a:lnTo>
                    <a:pt x="5030" y="39093"/>
                  </a:lnTo>
                  <a:lnTo>
                    <a:pt x="18747" y="18747"/>
                  </a:lnTo>
                  <a:lnTo>
                    <a:pt x="39094" y="5030"/>
                  </a:lnTo>
                  <a:lnTo>
                    <a:pt x="64009" y="0"/>
                  </a:lnTo>
                  <a:lnTo>
                    <a:pt x="2587750" y="0"/>
                  </a:lnTo>
                  <a:lnTo>
                    <a:pt x="2633012" y="18747"/>
                  </a:lnTo>
                  <a:lnTo>
                    <a:pt x="2651759" y="64009"/>
                  </a:lnTo>
                  <a:lnTo>
                    <a:pt x="2651759" y="320038"/>
                  </a:lnTo>
                  <a:lnTo>
                    <a:pt x="2646729" y="344953"/>
                  </a:lnTo>
                  <a:lnTo>
                    <a:pt x="2633012" y="365299"/>
                  </a:lnTo>
                  <a:lnTo>
                    <a:pt x="2612665" y="379017"/>
                  </a:lnTo>
                  <a:lnTo>
                    <a:pt x="2587750" y="384047"/>
                  </a:lnTo>
                  <a:lnTo>
                    <a:pt x="64009" y="384047"/>
                  </a:lnTo>
                  <a:lnTo>
                    <a:pt x="39094" y="379017"/>
                  </a:lnTo>
                  <a:lnTo>
                    <a:pt x="18747" y="365299"/>
                  </a:lnTo>
                  <a:lnTo>
                    <a:pt x="5030" y="344953"/>
                  </a:lnTo>
                  <a:lnTo>
                    <a:pt x="0" y="320038"/>
                  </a:lnTo>
                  <a:lnTo>
                    <a:pt x="0" y="64009"/>
                  </a:lnTo>
                  <a:close/>
                </a:path>
              </a:pathLst>
            </a:custGeom>
            <a:ln w="9524">
              <a:solidFill>
                <a:srgbClr val="0284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1488" y="3671661"/>
              <a:ext cx="189755" cy="178593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332986" y="3647947"/>
            <a:ext cx="1717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SUB-</a:t>
            </a:r>
            <a:r>
              <a:rPr sz="12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50MS</a:t>
            </a:r>
            <a:r>
              <a:rPr sz="12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CPU</a:t>
            </a:r>
            <a:r>
              <a:rPr sz="12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INFERENCE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819077" y="3544397"/>
            <a:ext cx="2741295" cy="473709"/>
            <a:chOff x="7819077" y="3544397"/>
            <a:chExt cx="2741295" cy="473709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9077" y="3544397"/>
              <a:ext cx="2741285" cy="47357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863839" y="3566159"/>
              <a:ext cx="2651760" cy="384175"/>
            </a:xfrm>
            <a:custGeom>
              <a:avLst/>
              <a:gdLst/>
              <a:ahLst/>
              <a:cxnLst/>
              <a:rect l="l" t="t" r="r" b="b"/>
              <a:pathLst>
                <a:path w="2651759" h="384175">
                  <a:moveTo>
                    <a:pt x="2587750" y="384047"/>
                  </a:moveTo>
                  <a:lnTo>
                    <a:pt x="64009" y="384047"/>
                  </a:lnTo>
                  <a:lnTo>
                    <a:pt x="39093" y="379017"/>
                  </a:lnTo>
                  <a:lnTo>
                    <a:pt x="18747" y="365299"/>
                  </a:lnTo>
                  <a:lnTo>
                    <a:pt x="5030" y="344953"/>
                  </a:lnTo>
                  <a:lnTo>
                    <a:pt x="0" y="320038"/>
                  </a:lnTo>
                  <a:lnTo>
                    <a:pt x="0" y="64009"/>
                  </a:lnTo>
                  <a:lnTo>
                    <a:pt x="5030" y="39093"/>
                  </a:lnTo>
                  <a:lnTo>
                    <a:pt x="18747" y="18747"/>
                  </a:lnTo>
                  <a:lnTo>
                    <a:pt x="39093" y="5030"/>
                  </a:lnTo>
                  <a:lnTo>
                    <a:pt x="64009" y="0"/>
                  </a:lnTo>
                  <a:lnTo>
                    <a:pt x="2587750" y="0"/>
                  </a:lnTo>
                  <a:lnTo>
                    <a:pt x="2633012" y="18747"/>
                  </a:lnTo>
                  <a:lnTo>
                    <a:pt x="2651759" y="64009"/>
                  </a:lnTo>
                  <a:lnTo>
                    <a:pt x="2651759" y="320038"/>
                  </a:lnTo>
                  <a:lnTo>
                    <a:pt x="2646729" y="344953"/>
                  </a:lnTo>
                  <a:lnTo>
                    <a:pt x="2633012" y="365299"/>
                  </a:lnTo>
                  <a:lnTo>
                    <a:pt x="2612666" y="379017"/>
                  </a:lnTo>
                  <a:lnTo>
                    <a:pt x="2587750" y="384047"/>
                  </a:lnTo>
                  <a:close/>
                </a:path>
              </a:pathLst>
            </a:custGeom>
            <a:solidFill>
              <a:srgbClr val="0D94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863839" y="3566159"/>
              <a:ext cx="2651760" cy="384175"/>
            </a:xfrm>
            <a:custGeom>
              <a:avLst/>
              <a:gdLst/>
              <a:ahLst/>
              <a:cxnLst/>
              <a:rect l="l" t="t" r="r" b="b"/>
              <a:pathLst>
                <a:path w="2651759" h="384175">
                  <a:moveTo>
                    <a:pt x="0" y="64009"/>
                  </a:moveTo>
                  <a:lnTo>
                    <a:pt x="5030" y="39093"/>
                  </a:lnTo>
                  <a:lnTo>
                    <a:pt x="18747" y="18747"/>
                  </a:lnTo>
                  <a:lnTo>
                    <a:pt x="39093" y="5030"/>
                  </a:lnTo>
                  <a:lnTo>
                    <a:pt x="64009" y="0"/>
                  </a:lnTo>
                  <a:lnTo>
                    <a:pt x="2587750" y="0"/>
                  </a:lnTo>
                  <a:lnTo>
                    <a:pt x="2633012" y="18747"/>
                  </a:lnTo>
                  <a:lnTo>
                    <a:pt x="2651759" y="64009"/>
                  </a:lnTo>
                  <a:lnTo>
                    <a:pt x="2651759" y="320038"/>
                  </a:lnTo>
                  <a:lnTo>
                    <a:pt x="2646729" y="344953"/>
                  </a:lnTo>
                  <a:lnTo>
                    <a:pt x="2633012" y="365299"/>
                  </a:lnTo>
                  <a:lnTo>
                    <a:pt x="2612666" y="379017"/>
                  </a:lnTo>
                  <a:lnTo>
                    <a:pt x="2587750" y="384047"/>
                  </a:lnTo>
                  <a:lnTo>
                    <a:pt x="64009" y="384047"/>
                  </a:lnTo>
                  <a:lnTo>
                    <a:pt x="39093" y="379017"/>
                  </a:lnTo>
                  <a:lnTo>
                    <a:pt x="18747" y="365299"/>
                  </a:lnTo>
                  <a:lnTo>
                    <a:pt x="5030" y="344953"/>
                  </a:lnTo>
                  <a:lnTo>
                    <a:pt x="0" y="320038"/>
                  </a:lnTo>
                  <a:lnTo>
                    <a:pt x="0" y="64009"/>
                  </a:lnTo>
                  <a:close/>
                </a:path>
              </a:pathLst>
            </a:custGeom>
            <a:ln w="9524">
              <a:solidFill>
                <a:srgbClr val="0D948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9675" y="3671661"/>
              <a:ext cx="189755" cy="178593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451174" y="3647947"/>
            <a:ext cx="1700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ZERO</a:t>
            </a:r>
            <a:r>
              <a:rPr sz="12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DEMOGRAPHIC</a:t>
            </a:r>
            <a:r>
              <a:rPr sz="12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BIAS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79611" y="4277106"/>
            <a:ext cx="6824345" cy="101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00"/>
              </a:spcBef>
            </a:pPr>
            <a:r>
              <a:rPr sz="15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Presented</a:t>
            </a:r>
            <a:r>
              <a:rPr sz="1550" b="1" spc="-4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50" b="1" spc="-25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By:</a:t>
            </a:r>
            <a:endParaRPr sz="155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tabLst>
                <a:tab pos="3247390" algn="l"/>
                <a:tab pos="3518535" algn="l"/>
              </a:tabLst>
            </a:pPr>
            <a:r>
              <a:rPr sz="15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241901114</a:t>
            </a:r>
            <a:r>
              <a:rPr sz="15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–</a:t>
            </a:r>
            <a:r>
              <a:rPr sz="15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SURVESVARAKUMAR</a:t>
            </a:r>
            <a:r>
              <a:rPr sz="15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J</a:t>
            </a:r>
            <a:r>
              <a:rPr sz="15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50" b="1" spc="-5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5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550" b="1" spc="-5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|</a:t>
            </a:r>
            <a:r>
              <a:rPr sz="15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5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241901067</a:t>
            </a:r>
            <a:r>
              <a:rPr sz="15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–</a:t>
            </a:r>
            <a:r>
              <a:rPr sz="15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50" b="1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NAVANEETHA</a:t>
            </a:r>
            <a:r>
              <a:rPr sz="15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50" b="1" spc="-1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KRISHNAN</a:t>
            </a:r>
            <a:r>
              <a:rPr sz="1550" b="1" spc="-3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50" b="1" spc="-50" dirty="0">
                <a:solidFill>
                  <a:srgbClr val="0F2547"/>
                </a:solidFill>
                <a:latin typeface="Calibri" panose="020F0502020204030204"/>
                <a:cs typeface="Calibri" panose="020F0502020204030204"/>
              </a:rPr>
              <a:t>E</a:t>
            </a:r>
            <a:endParaRPr sz="1550">
              <a:latin typeface="Calibri" panose="020F0502020204030204"/>
              <a:cs typeface="Calibri" panose="020F0502020204030204"/>
            </a:endParaRPr>
          </a:p>
          <a:p>
            <a:pPr marL="1048385" marR="1039495" algn="ctr">
              <a:lnSpc>
                <a:spcPct val="100000"/>
              </a:lnSpc>
              <a:spcBef>
                <a:spcPts val="805"/>
              </a:spcBef>
            </a:pP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Department</a:t>
            </a:r>
            <a:r>
              <a:rPr sz="1350" b="1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350" b="1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Computer</a:t>
            </a:r>
            <a:r>
              <a:rPr sz="1350" b="1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Science</a:t>
            </a:r>
            <a:r>
              <a:rPr sz="1350" b="1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350" b="1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Engineering</a:t>
            </a:r>
            <a:r>
              <a:rPr sz="1350" b="1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(Cyber</a:t>
            </a:r>
            <a:r>
              <a:rPr sz="1350" b="1" spc="-3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Security) Rajalakshmi</a:t>
            </a:r>
            <a:r>
              <a:rPr sz="1350" b="1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Engineering</a:t>
            </a:r>
            <a:r>
              <a:rPr sz="1350" b="1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College</a:t>
            </a:r>
            <a:r>
              <a:rPr sz="1350" b="1" spc="-35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350" b="1" spc="-10" dirty="0">
                <a:solidFill>
                  <a:srgbClr val="0F172A"/>
                </a:solidFill>
                <a:latin typeface="Calibri" panose="020F0502020204030204"/>
                <a:cs typeface="Calibri" panose="020F0502020204030204"/>
              </a:rPr>
              <a:t>(Autonomous)</a:t>
            </a:r>
            <a:endParaRPr sz="135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23931</Words>
  <Application>WPS Presentation</Application>
  <PresentationFormat>On-screen Show (4:3)</PresentationFormat>
  <Paragraphs>654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Arial</vt:lpstr>
      <vt:lpstr>SimSun-ExtB</vt:lpstr>
      <vt:lpstr>Segoe UI Symbol</vt:lpstr>
      <vt:lpstr>Times New Roman</vt:lpstr>
      <vt:lpstr>Microsoft YaHei</vt:lpstr>
      <vt:lpstr>Arial Unicode MS</vt:lpstr>
      <vt:lpstr>Office Theme</vt:lpstr>
      <vt:lpstr>RAJALAKSHMI ENGINEERING COLLEGE (AUTONOMOUS)</vt:lpstr>
      <vt:lpstr>Introduction</vt:lpstr>
      <vt:lpstr>Problem Statement</vt:lpstr>
      <vt:lpstr>Motivation</vt:lpstr>
      <vt:lpstr>Objectives</vt:lpstr>
      <vt:lpstr>Literature Survey</vt:lpstr>
      <vt:lpstr>Existing System</vt:lpstr>
      <vt:lpstr>Proposed System</vt:lpstr>
      <vt:lpstr>System Architecture / Block Diagram</vt:lpstr>
      <vt:lpstr>Methodology</vt:lpstr>
      <vt:lpstr>Technologies Used</vt:lpstr>
      <vt:lpstr>Module Description</vt:lpstr>
      <vt:lpstr>Preliminary / Expected Results</vt:lpstr>
      <vt:lpstr>Project Schedule</vt:lpstr>
      <vt:lpstr>Current Progress</vt:lpstr>
      <vt:lpstr>Future Work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RAJALAKSHMI ENGINEERING COLLEGE (AUTONOMOUS)</dc:title>
  <dc:creator/>
  <cp:lastModifiedBy>Navanithakrishnan</cp:lastModifiedBy>
  <cp:revision>1</cp:revision>
  <dcterms:created xsi:type="dcterms:W3CDTF">2026-11-01T14:33:49Z</dcterms:created>
  <dcterms:modified xsi:type="dcterms:W3CDTF">2026-11-01T14:33:50Z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2026-11-01T05:30:00Z</vt:filetime>
  </property>
  <property fmtid="{D5CDD505-2E9C-101B-9397-08002B2CF9AE}" pid="4" name="Creator">
    <vt:lpwstr>Google</vt:lpwstr>
  </property>
  <property fmtid="{D5CDD505-2E9C-101B-9397-08002B2CF9AE}" pid="5" name="LastSaved">
    <vt:filetime>2026-11-01T05:30:00Z</vt:filetime>
  </property>
  <property fmtid="{D5CDD505-2E9C-101B-9397-08002B2CF9AE}" pid="6" name="ICV">
    <vt:lpwstr>93C6D428C3024023A0275BFCCF77D925_12</vt:lpwstr>
  </property>
  <property fmtid="{D5CDD505-2E9C-101B-9397-08002B2CF9AE}" pid="7" name="KSOProductBuildVer">
    <vt:lpwstr>2057-12.2.0.23206</vt:lpwstr>
  </property>
</Properties>
</file>